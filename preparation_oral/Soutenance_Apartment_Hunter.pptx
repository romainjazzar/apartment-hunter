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omain - Projet, données et architecture" id="{8e18170e-917d-25b5-ffd9-742766735a4f}">
          <p14:sldIdLst>
            <p14:sldId id="256"/>
            <p14:sldId id="257"/>
            <p14:sldId id="258"/>
            <p14:sldId id="259"/>
            <p14:sldId id="260"/>
            <p14:sldId id="261"/>
            <p14:sldId id="262"/>
          </p14:sldIdLst>
        </p14:section>
        <p14:section name="Yannis - Variables, modèles et mesures" id="{3d934222-999c-d6f0-0aa4-778fc734a0bc}">
          <p14:sldIdLst>
            <p14:sldId id="263"/>
            <p14:sldId id="264"/>
            <p14:sldId id="265"/>
            <p14:sldId id="266"/>
            <p14:sldId id="267"/>
          </p14:sldIdLst>
        </p14:section>
        <p14:section name="Lisa - Modèle final, Flask et Docker" id="{9b11deb7-47d1-cb9e-a67e-003407bf4772}">
          <p14:sldIdLst>
            <p14:sldId id="268"/>
            <p14:sldId id="269"/>
            <p14:sldId id="270"/>
            <p14:sldId id="271"/>
            <p14:sldId id="272"/>
          </p14:sldIdLst>
        </p14:section>
        <p14:section name="Annexes - Slides de secours" id="{ce39182d-c2b0-bba4-3f35-c48d0c893f50}">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2F5F8"/>
                </a:solidFill>
                <a:latin typeface="+mn-lt"/>
              </a:defRPr>
            </a:pPr>
            <a:r>
              <a:rPr sz="1400" b="0" i="0" u="none" strike="noStrike">
                <a:solidFill>
                  <a:srgbClr val="F2F5F8"/>
                </a:solidFill>
                <a:latin typeface="+mn-lt"/>
              </a:rPr>
              <a:t>Erreur moyenne (MAE) en validation croisée, en $</a:t>
            </a:r>
          </a:p>
        </c:rich>
      </c:tx>
      <c:layout/>
      <c:overlay val="0"/>
    </c:title>
    <c:autoTitleDeleted val="0"/>
    <c:plotArea>
      <c:layout/>
      <c:barChart>
        <c:barDir val="col"/>
        <c:grouping val="clustered"/>
        <c:varyColors val="0"/>
        <c:ser>
          <c:idx val="0"/>
          <c:order val="0"/>
          <c:tx>
            <c:strRef>
              <c:f>Sheet1!$B$1</c:f>
              <c:strCache>
                <c:ptCount val="1"/>
                <c:pt idx="0">
                  <c:v>MAE ($)</c:v>
                </c:pt>
              </c:strCache>
            </c:strRef>
          </c:tx>
          <c:spPr>
            <a:solidFill>
              <a:srgbClr val="9AA8BA"/>
            </a:solidFill>
            <a:effectLst/>
          </c:spPr>
          <c:invertIfNegative val="0"/>
          <c:dLbls>
            <c:numFmt formatCode="### ##0" sourceLinked="0"/>
            <c:txPr>
              <a:bodyPr/>
              <a:lstStyle/>
              <a:p>
                <a:pPr>
                  <a:defRPr b="1" i="0" strike="noStrike" sz="1600" u="none">
                    <a:solidFill>
                      <a:srgbClr val="F2F5F8"/>
                    </a:solidFill>
                    <a:latin typeface="+mn-lt"/>
                  </a:defRPr>
                </a:pPr>
              </a:p>
            </c:txPr>
            <c:showLegendKey val="0"/>
            <c:showVal val="1"/>
            <c:showCatName val="0"/>
            <c:showSerName val="0"/>
            <c:showPercent val="0"/>
            <c:showBubbleSize val="0"/>
            <c:showLeaderLines val="0"/>
          </c:dLbls>
          <c:dPt>
            <c:idx val="0"/>
            <c:invertIfNegative val="0"/>
            <c:bubble3D val="0"/>
            <c:spPr>
              <a:solidFill>
                <a:srgbClr val="9AA8BA"/>
              </a:solidFill>
              <a:effectLst/>
            </c:spPr>
          </c:dPt>
          <c:dPt>
            <c:idx val="1"/>
            <c:invertIfNegative val="0"/>
            <c:bubble3D val="0"/>
            <c:spPr>
              <a:solidFill>
                <a:srgbClr val="3D8BFD"/>
              </a:solidFill>
              <a:effectLst/>
            </c:spPr>
          </c:dPt>
          <c:dPt>
            <c:idx val="2"/>
            <c:invertIfNegative val="0"/>
            <c:bubble3D val="0"/>
            <c:spPr>
              <a:solidFill>
                <a:srgbClr val="2FBF71"/>
              </a:solidFill>
              <a:effectLst/>
            </c:spPr>
          </c:dPt>
          <c:cat>
            <c:multiLvlStrRef>
              <c:f>Sheet1!$A$2:$A$4</c:f>
              <c:multiLvlStrCache>
                <c:ptCount val="3"/>
                <c:lvl>
                  <c:pt idx="0">
                    <c:v>Régression linéaire</c:v>
                  </c:pt>
                  <c:pt idx="1">
                    <c:v>Arbre de décision</c:v>
                  </c:pt>
                  <c:pt idx="2">
                    <c:v>Random Forest</c:v>
                  </c:pt>
                </c:lvl>
              </c:multiLvlStrCache>
            </c:multiLvlStrRef>
          </c:cat>
          <c:val>
            <c:numRef>
              <c:f>Sheet1!$B$2:$B$4</c:f>
              <c:numCache>
                <c:formatCode>General</c:formatCode>
                <c:ptCount val="3"/>
                <c:pt idx="0">
                  <c:v>138007</c:v>
                </c:pt>
                <c:pt idx="1">
                  <c:v>102744</c:v>
                </c:pt>
                <c:pt idx="2">
                  <c:v>74266</c:v>
                </c:pt>
              </c:numCache>
            </c:numRef>
          </c:val>
        </c:ser>
        <c:dLbls>
          <c:numFmt formatCode="### ##0" sourceLinked="0"/>
          <c:txPr>
            <a:bodyPr/>
            <a:lstStyle/>
            <a:p>
              <a:pPr>
                <a:defRPr b="1" i="0" strike="noStrike" sz="1600" u="none">
                  <a:solidFill>
                    <a:srgbClr val="F2F5F8"/>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F2F5F8"/>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2F5F8"/>
                </a:solidFill>
                <a:latin typeface="+mn-lt"/>
              </a:defRPr>
            </a:pPr>
            <a:r>
              <a:rPr sz="1400" b="0" i="0" u="none" strike="noStrike">
                <a:solidFill>
                  <a:srgbClr val="F2F5F8"/>
                </a:solidFill>
                <a:latin typeface="+mn-lt"/>
              </a:rPr>
              <a:t>MAE en validation croisée, en $</a:t>
            </a:r>
          </a:p>
        </c:rich>
      </c:tx>
      <c:layout/>
      <c:overlay val="0"/>
    </c:title>
    <c:autoTitleDeleted val="0"/>
    <c:plotArea>
      <c:layout/>
      <c:barChart>
        <c:barDir val="col"/>
        <c:grouping val="clustered"/>
        <c:varyColors val="0"/>
        <c:ser>
          <c:idx val="0"/>
          <c:order val="0"/>
          <c:tx>
            <c:strRef>
              <c:f>Sheet1!$B$1</c:f>
              <c:strCache>
                <c:ptCount val="1"/>
                <c:pt idx="0">
                  <c:v>MAE ($)</c:v>
                </c:pt>
              </c:strCache>
            </c:strRef>
          </c:tx>
          <c:spPr>
            <a:solidFill>
              <a:srgbClr val="9AA8BA"/>
            </a:solidFill>
            <a:effectLst/>
          </c:spPr>
          <c:invertIfNegative val="0"/>
          <c:dLbls>
            <c:numFmt formatCode="### ##0" sourceLinked="0"/>
            <c:txPr>
              <a:bodyPr/>
              <a:lstStyle/>
              <a:p>
                <a:pPr>
                  <a:defRPr b="1" i="0" strike="noStrike" sz="1400" u="none">
                    <a:solidFill>
                      <a:srgbClr val="F2F5F8"/>
                    </a:solidFill>
                    <a:latin typeface="+mn-lt"/>
                  </a:defRPr>
                </a:pPr>
              </a:p>
            </c:txPr>
            <c:showLegendKey val="0"/>
            <c:showVal val="1"/>
            <c:showCatName val="0"/>
            <c:showSerName val="0"/>
            <c:showPercent val="0"/>
            <c:showBubbleSize val="0"/>
            <c:showLeaderLines val="0"/>
          </c:dLbls>
          <c:dPt>
            <c:idx val="0"/>
            <c:invertIfNegative val="0"/>
            <c:bubble3D val="0"/>
            <c:spPr>
              <a:solidFill>
                <a:srgbClr val="9AA8BA"/>
              </a:solidFill>
              <a:effectLst/>
            </c:spPr>
          </c:dPt>
          <c:dPt>
            <c:idx val="1"/>
            <c:invertIfNegative val="0"/>
            <c:bubble3D val="0"/>
            <c:spPr>
              <a:solidFill>
                <a:srgbClr val="3D8BFD"/>
              </a:solidFill>
              <a:effectLst/>
            </c:spPr>
          </c:dPt>
          <c:dPt>
            <c:idx val="2"/>
            <c:invertIfNegative val="0"/>
            <c:bubble3D val="0"/>
            <c:spPr>
              <a:solidFill>
                <a:srgbClr val="6B7F99"/>
              </a:solidFill>
              <a:effectLst/>
            </c:spPr>
          </c:dPt>
          <c:dPt>
            <c:idx val="3"/>
            <c:invertIfNegative val="0"/>
            <c:bubble3D val="0"/>
            <c:spPr>
              <a:solidFill>
                <a:srgbClr val="2FBF71"/>
              </a:solidFill>
              <a:effectLst/>
            </c:spPr>
          </c:dPt>
          <c:cat>
            <c:multiLvlStrRef>
              <c:f>Sheet1!$A$2:$A$5</c:f>
              <c:multiLvlStrCache>
                <c:ptCount val="4"/>
                <c:lvl>
                  <c:pt idx="0">
                    <c:v>Linéaire</c:v>
                  </c:pt>
                  <c:pt idx="1">
                    <c:v>Arbre</c:v>
                  </c:pt>
                  <c:pt idx="2">
                    <c:v>Forêt (défaut)</c:v>
                  </c:pt>
                  <c:pt idx="3">
                    <c:v>Forêt (Grid Search)</c:v>
                  </c:pt>
                </c:lvl>
              </c:multiLvlStrCache>
            </c:multiLvlStrRef>
          </c:cat>
          <c:val>
            <c:numRef>
              <c:f>Sheet1!$B$2:$B$5</c:f>
              <c:numCache>
                <c:formatCode>General</c:formatCode>
                <c:ptCount val="4"/>
                <c:pt idx="0">
                  <c:v>138007</c:v>
                </c:pt>
                <c:pt idx="1">
                  <c:v>102744</c:v>
                </c:pt>
                <c:pt idx="2">
                  <c:v>74266</c:v>
                </c:pt>
                <c:pt idx="3">
                  <c:v>73764</c:v>
                </c:pt>
              </c:numCache>
            </c:numRef>
          </c:val>
        </c:ser>
        <c:dLbls>
          <c:numFmt formatCode="### ##0" sourceLinked="0"/>
          <c:txPr>
            <a:bodyPr/>
            <a:lstStyle/>
            <a:p>
              <a:pPr>
                <a:defRPr b="1" i="0" strike="noStrike" sz="1400" u="none">
                  <a:solidFill>
                    <a:srgbClr val="F2F5F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F2F5F8"/>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2F5F8"/>
                </a:solidFill>
                <a:latin typeface="+mn-lt"/>
              </a:defRPr>
            </a:pPr>
            <a:r>
              <a:rPr sz="1300" b="0" i="0" u="none" strike="noStrike">
                <a:solidFill>
                  <a:srgbClr val="F2F5F8"/>
                </a:solidFill>
                <a:latin typeface="+mn-lt"/>
              </a:rPr>
              <a:t>Ce qui compte le plus pour le modèle</a:t>
            </a:r>
          </a:p>
        </c:rich>
      </c:tx>
      <c:layout/>
      <c:overlay val="0"/>
    </c:title>
    <c:autoTitleDeleted val="0"/>
    <c:plotArea>
      <c:layout/>
      <c:barChart>
        <c:barDir val="bar"/>
        <c:grouping val="clustered"/>
        <c:varyColors val="0"/>
        <c:ser>
          <c:idx val="0"/>
          <c:order val="0"/>
          <c:tx>
            <c:strRef>
              <c:f>Sheet1!$B$1</c:f>
              <c:strCache>
                <c:ptCount val="1"/>
                <c:pt idx="0">
                  <c:v>Importance (millièmes)</c:v>
                </c:pt>
              </c:strCache>
            </c:strRef>
          </c:tx>
          <c:spPr>
            <a:solidFill>
              <a:srgbClr val="22B8CF"/>
            </a:solidFill>
            <a:effectLst/>
          </c:spPr>
          <c:invertIfNegative val="0"/>
          <c:dLbls>
            <c:numFmt formatCode="0\,000" sourceLinked="0"/>
            <c:txPr>
              <a:bodyPr/>
              <a:lstStyle/>
              <a:p>
                <a:pPr>
                  <a:defRPr b="0" i="0" strike="noStrike" sz="1100" u="none">
                    <a:solidFill>
                      <a:srgbClr val="F2F5F8"/>
                    </a:solidFill>
                    <a:latin typeface="+mn-lt"/>
                  </a:defRPr>
                </a:pPr>
              </a:p>
            </c:txPr>
            <c:showLegendKey val="0"/>
            <c:showVal val="1"/>
            <c:showCatName val="0"/>
            <c:showSerName val="0"/>
            <c:showPercent val="0"/>
            <c:showBubbleSize val="0"/>
            <c:showLeaderLines val="0"/>
          </c:dLbls>
          <c:cat>
            <c:multiLvlStrRef>
              <c:f>Sheet1!$A$2:$A$9</c:f>
              <c:multiLvlStrCache>
                <c:ptCount val="8"/>
                <c:lvl>
                  <c:pt idx="0">
                    <c:v>Année de rénovation</c:v>
                  </c:pt>
                  <c:pt idx="1">
                    <c:v>Chambres</c:v>
                  </c:pt>
                  <c:pt idx="2">
                    <c:v>Terrain</c:v>
                  </c:pt>
                  <c:pt idx="3">
                    <c:v>Vue sur l'eau</c:v>
                  </c:pt>
                  <c:pt idx="4">
                    <c:v>Longitude</c:v>
                  </c:pt>
                  <c:pt idx="5">
                    <c:v>Latitude</c:v>
                  </c:pt>
                  <c:pt idx="6">
                    <c:v>Qualité (grade)</c:v>
                  </c:pt>
                  <c:pt idx="7">
                    <c:v>Surface habitable</c:v>
                  </c:pt>
                </c:lvl>
              </c:multiLvlStrCache>
            </c:multiLvlStrRef>
          </c:cat>
          <c:val>
            <c:numRef>
              <c:f>Sheet1!$B$2:$B$9</c:f>
              <c:numCache>
                <c:formatCode>General</c:formatCode>
                <c:ptCount val="8"/>
                <c:pt idx="0">
                  <c:v>3</c:v>
                </c:pt>
                <c:pt idx="1">
                  <c:v>6</c:v>
                </c:pt>
                <c:pt idx="2">
                  <c:v>38</c:v>
                </c:pt>
                <c:pt idx="3">
                  <c:v>41</c:v>
                </c:pt>
                <c:pt idx="4">
                  <c:v>93</c:v>
                </c:pt>
                <c:pt idx="5">
                  <c:v>188</c:v>
                </c:pt>
                <c:pt idx="6">
                  <c:v>311</c:v>
                </c:pt>
                <c:pt idx="7">
                  <c:v>319</c:v>
                </c:pt>
              </c:numCache>
            </c:numRef>
          </c:val>
        </c:ser>
        <c:dLbls>
          <c:numFmt formatCode="0\,000" sourceLinked="0"/>
          <c:txPr>
            <a:bodyPr/>
            <a:lstStyle/>
            <a:p>
              <a:pPr>
                <a:defRPr b="0" i="0" strike="noStrike" sz="1100" u="none">
                  <a:solidFill>
                    <a:srgbClr val="F2F5F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F2F5F8"/>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ROMAIN
TEMPS CIBLE : 0 min 30
CE QU'ON DIT
Bonjour à tous. On va vous présenter Apartment Hunter, notre projet pour le sujet « Chasseurs d'appart' ».
L'idée tient en une phrase : estimer le prix d'une maison à partir de ses caractéristiques. À droite, c'est notre application finale : on remplit un formulaire, et elle affiche un prix estimé.
On est trois. Moi, Romain, je vous présente le projet, l'architecture et les données. Yannis présentera la sélection des variables, les modèles et la façon dont on les mesure. Lisa finira avec le modèle final, l'application Flask et Docker.
CE QU'IL FAUT COMPRENDRE
- Le projet suit un chemin simple : des données → un modèle → une application.
- Annoncer tout de suite qui présente quoi : ça montre que le travail est organisé.
SI LE PROF DEMANDE
« C'est quoi Apartment Hunter, en une phrase ? »
→ Un outil qui estime le prix d'une maison à partir de 8 caractéristiques, grâce à une Random Forest utilisée dans une application Flask.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ROMAIN
TEMPS CIBLE : 0 min 50
CE QU'ON DIT
Dans le scénario du sujet, on est des data scientists qui se reconvertissent en agents immobiliers. Et le travail d'un agent, c'est notamment d'estimer le prix des biens qu'il vend.
Notre question, c'est donc : est-ce qu'on peut estimer le prix d'une maison à partir de ses caractéristiques ?
Pour y répondre : on fait apprendre un modèle sur plus de 21 000 ventes réelles, puis on le rend utilisable dans une petite page web. Techniquement, c'est un problème de régression : on ne prédit pas une catégorie, on prédit un nombre, le prix.
CE QU'IL FAUT COMPRENDRE
- Régression = prédire une valeur numérique (le prix).
- Toute la présentation sert à répondre à cette question ; la conclusion doit y répondre clairement.
SI LE PROF DEMANDE
« Pourquoi c'est de la régression et pas de la classification ? »
→ Parce qu'on prédit un nombre continu, le prix, et pas une catégorie comme « cher / pas cher ».
« À qui servirait l'outil ? »
→ À un agent immobilier qui veut une première estimation rapide avant de visiter ou de fixer un prix.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ROMAIN
TEMPS CIBLE : 1 min 50
CE QU'ON DIT
Cette slide résume tout notre projet. On la lit de gauche à droite.
1. On commence avec les données : le fichier kc_house_data.csv, avec 21 613 ventes de maisons de la région de Seattle.
2. Le notebook Python, apartment_hunter.ipynb, sert à préparer les données et à entraîner le modèle. On descend la colonne de gauche : on nettoie d'abord les données, on fait l'analyse exploratoire, on sélectionne les variables, de 15 à 8, puis on sépare les maisons en train et test. Ensuite on remonte la colonne de droite : on compare trois algorithmes, régression linéaire, arbre de décision et Random Forest, avec une validation croisée ; on règle la Random Forest avec un Grid Search, et on obtient notre Random Forest finale, en vert.
3. On sauvegarde ce modèle déjà entraîné avec joblib, dans un fichier : model.pkl. À partir de là, on n'a plus besoin de réentraîner le modèle pour utiliser l'application. Tout ce qui est à gauche, on ne le fait qu'une fois.
4. À droite, l'application web. Flask, dans app.py, charge model.pkl au démarrage. L'utilisateur remplit le formulaire dans son navigateur, Flask récupère les huit valeurs, crée un DataFrame pandas, l'envoie au modèle avec predict, et affiche le prix estimé.
Enfin, le cadre en pointillés, c'est Docker. Il contient Flask, Python, le modèle et toutes les librairies. Docker ne remplace pas Flask : Flask tourne à l'intérieur de Docker. Docker sert juste à rendre l'environnement reproductible, pour que l'application marche pareil sur n'importe quel ordinateur.
CE QU'IL FAUT COMPRENDRE
- Deux moments : créer le modèle (notebook, une seule fois) et utiliser le modèle (application, à chaque estimation).
- model.pkl fait le lien entre les deux : c'est la sortie du notebook et l'entrée de l'application.
- Flask est l'application web ; Docker est la boîte qui contient Flask et son environnement.
- Le test n'intervient qu'à la fin du notebook, pour vérifier la Random Forest finale.
SI LE PROF DEMANDE
« Est-ce que Docker entraîne le modèle ? »
→ Non. Le modèle est déjà entraîné dans le notebook. Docker ne fait que lancer l'application qui utilise model.pkl.
« Flask et Docker font la même chose ? »
→ Non. Flask est l'application web. Docker contient l'application et son environnement (Python, librairies, fichiers).
« Pourquoi model.pkl ? »
→ Pour réutiliser le modèle entraîné sans refaire tout le notebook à chaque lancement de l'application.
ASTUCE : on peut revenir à cette slide pour répondre à presque toutes les questions sur l'organisation du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ROMAIN
TEMPS CIBLE : 0 min 50
CE QU'ON DIT
Avant de commencer, on a découpé le projet en tâches et estimé leur durée : environ six jours et demi au total. Les parties les plus longues sont les modèles et l'application.
On s'est réparti le travail : moi sur le nettoyage et l'analyse exploratoire, Yannis sur la sélection des variables et les modèles, Lisa sur le Grid Search, le modèle final, Flask et Docker. On a fait ensemble la mise en place, la documentation et la présentation.
Pour suivre l'avancement, on a utilisé un Trello en Kanban : trois colonnes, à faire, en cours et terminé, et on déplace les cartes au fur et à mesure. Côté matériel, pas besoin de grosse machine : nos ordinateurs portables et Google Colab suffisent.
CE QU'IL FAUT COMPRENDRE
- Une feuille de route = des tâches, des durées, des personnes et du matériel.
- Kanban = visualiser l'avancement en déplaçant des cartes de « à faire » vers « terminé ».
- Pas de GPU : les modèles s'entraînent en quelques minutes.
SI LE PROF DEMANDE
« Comment vous êtes-vous répartis le travail ? »
→ Une personne par grande partie : données (Romain), modèles (Yannis), modèle final et application (Lisa), et le reste ensemble.
« Vos estimations de durée étaient réalistes ? »
→ Globalement oui ; ce qui prend le plus de temps, c'est de bien vérifier les résultats et de les expliquer, pas d'écrire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ROMAIN
TEMPS CIBLE : 0 min 50
CE QU'ON DIT
On avait le choix entre deux jeux de données : Madrid et King County. On a pris King County, la région de Seattle, parce qu'il a moins de colonnes, pas de texte libre à traiter, et chaque variable est bien expliquée dans la description.
Ça fait 21 613 ventes de maisons, sur environ 13 mois, de mai 2014 à mai 2015, avec 21 colonnes.
Le tableau, c'est la vraie première ligne du fichier : une maison de 3 chambres, 1 salle de bain, 1 180 pieds carrés, une qualité de construction de 7, sa latitude et sa longitude, et son prix de vente : 221 900 dollars. Le prix, c'est notre cible : ce qu'on veut apprendre à prédire.
CE QU'IL FAUT COMPRENDRE
- Une ligne = une vente de maison.
- La cible (target), c'est price ; les autres colonnes sont les variables (features).
- Les surfaces sont en pieds carrés : 1 m² ≈ 10,76 pieds².
SI LE PROF DEMANDE
« Pourquoi ce dataset ? »
→ Plus simple à nettoyer et à expliquer : moins de colonnes, pas de texte, variables documentées.
« C'est quoi le grade ? »
→ Une note de qualité de construction de 1 à 13 donnée par le comté ; 7 correspond à une qualité moyenne.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ROMAIN
TEMPS CIBLE : 1 min 00
CE QU'ON DIT
Bonne nouvelle : les données étaient déjà propres. On a vérifié : aucune valeur manquante et aucune ligne en double.
On a enlevé cinq colonnes. L'id, parce que c'est juste un identifiant. La date, parce que les ventes ne couvrent que 13 mois et qu'on a choisi de ne pas étudier l'effet du temps pour garder le projet simple. Le code postal, parce que la latitude et la longitude donnent déjà la position. Et sqft_above et sqft_basement, parce que leur somme donne exactement la surface habitable : c'était de l'information en double.
Côté lignes, on n'a supprimé que 17 erreurs évidentes : une maison de 33 chambres pour 150 mètres carrés, et 16 maisons sans chambre ou sans salle de bain.
Par contre, on a gardé les maisons très chères. La méthode IQR en trouve 1 145 au-dessus de la limite, mais ce sont de vraies maisons de luxe, pas des erreurs. Notre règle : on supprime l'impossible, on garde l'extrême.
CE QU'IL FAUT COMPRENDRE
- Valeur impossible (erreur de saisie) ≠ valeur extrême (maison de luxe).
- Chaque colonne supprimée a une raison simple.
- On a perdu moins de 0,1 % des lignes : 21 613 → 21 596.
SI LE PROF DEMANDE
« Pourquoi ne pas supprimer les maisons très chères ? »
→ Elles sont réelles : les 5 plus chères font 8 000 à 12 000 pieds² avec un grade de 11 à 13. Les enlever empêcherait le modèle d'estimer les grandes maisons.
« C'est quoi la méthode IQR ? »
→ On prend l'écart entre le 1er et le 3e quartile du prix ; au-delà de 3e quartile + 1,5 × cet écart, c'est une valeur extrême. Ici, environ 1,13 million de dollars.
« Pourquoi pas de normalisation ? »
→ Les arbres découpent avec des seuils, donc l'échelle ne change rien ; pour la régression linéaire, ça change les coefficients mais pas les prédictions.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ROMAIN
TEMPS CIBLE : 1 min 10
CE QU'ON DIT
Le sujet demandait une analyse exploratoire avec Power BI. On ne l'avait pas, donc on a fait les graphiques en Python avec matplotlib, et on les a regroupés dans une page HTML, dashboard.html, qui sert de tableau de bord.
Trois choses ressortent. D'abord, plus la maison est grande, plus elle est chère : c'est le lien le plus fort, avec une corrélation de 0,70. Ensuite, le prix augmente globalement avec la qualité de construction : environ 380 000 dollars au grade 7, presque 3 millions au grade 13. Enfin, la carte montre qu'il y a des quartiers beaucoup plus chers que d'autres.
Ce qui est intéressant, c'est que la longitude a une corrélation presque nulle avec le prix, 0,02, alors que l'emplacement compte clairement. Le lien n'est simplement pas en ligne droite. Yannis va vous montrer comment on en a tenu compte pour choisir les variables.
CE QU'IL FAUT COMPRENDRE
- Les 3 grands facteurs du prix : surface, qualité de construction, emplacement.
- Une corrélation faible ne veut pas dire « pas de lien », seulement « pas de lien en ligne droite ».
- dashboard.html remplace le dashboard Power BI demandé.
SI LE PROF DEMANDE
« Pourquoi le prix médian et pas la moyenne ? »
→ La médiane est moins influencée par les quelques maisons très chères.
« Le prix monte à chaque niveau de grade ? »
→ Globalement oui, mais pas parfaitement : le grade 3 est au-dessus du grade 4, sauf qu'il n'y a qu'1 et 27 maisons dans ces groupes.
TRANSITION : « Je laisse la parole à Yannis pour la suite.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YANNIS
TEMPS CIBLE : 1 min 20
CE QU'ON DIT
Merci Romain. Avant de parler des modèles, voilà le vrai chemin que suivent les données.
On lit le fichier CSV avec pandas et on le nettoie. Ensuite on sépare deux choses : X, ce sont les variables qu'on donne au modèle pour prédire, c'est-à-dire les 8 caractéristiques de la maison ; et y, c'est la cible, le prix.
À cette étape, on sépare aussi les maisons en deux parties. La majorité, 80 %, soit 17 276 maisons, sert à entraîner le modèle. On garde 20 %, soit 4 320 maisons, de côté pour vérifier à la fin si le modèle fonctionne sur des maisons qu'il n'a jamais vues.
La Random Forest, c'est notre algorithme final : elle apprend sur le train. On la sauvegarde dans model.pkl, le modèle entraîné. Et Flask, c'est l'interface entre l'utilisateur et le modèle : il récupère le formulaire et affiche le prix estimé.
CE QU'IL FAUT COMPRENDRE
- X = les variables utilisées pour prédire ; y = la cible (price).
- Le train sert à apprendre ; le test sert à l'évaluation finale, une seule fois.
- model.pkl = le modèle déjà entraîné ; Flask = le lien entre l'utilisateur et le modèle.
SI LE PROF DEMANDE
« Pourquoi 80 / 20 ? »
→ C'est un découpage classique ; avec plus de 21 000 maisons, il reste assez de données des deux côtés.
« Pourquoi random_state=42 ? »
→ Pour avoir toujours le même découpage et les mêmes résultats à chaque exécution ; 42 est juste une valeur fixe.
« Pourquoi ne pas tester sur le train ? »
→ Le modèle a déjà vu ces maisons : le score serait trop optimiste, comme réviser avec les réponses de l'examen.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YANNIS
TEMPS CIBLE : 1 min 20
CE QU'ON DIT
Après le nettoyage, il restait 15 variables. On ne voulait pas toutes les garder sans raison, donc on a utilisé deux méthodes, uniquement sur les données d'entraînement.
D'abord la corrélation avec le prix. C'est simple, mais ça ne voit que les liens en ligne droite. Par exemple, la longitude a une corrélation de 0,02, alors qu'on vient de voir sur la carte que l'emplacement compte.
Ensuite la sélection forward. On commence avec aucune variable, puis à chaque étape on ajoute celle qui améliore le plus le modèle, jusqu'à en avoir 8. Pour tester les variables, on a utilisé un arbre de décision, parce qu'il est rapide et qu'il voit les liens qui ne sont pas en ligne droite. Résultat : elle a gardé la latitude et la longitude, et elle a laissé de côté des variables comme le nombre de salles de bain, qui répète l'information de la surface.
Et on a vérifié qu'on ne perdait rien : avec une Random Forest en validation croisée, on a un R² de 0,856 avec les 15 variables, et 0,855 avec les 8. C'est presque pareil, avec un formulaire beaucoup plus court.
CE QU'IL FAUT COMPRENDRE
- La corrélation regarde chaque variable seule ; la sélection forward regarde ce qu'une variable apporte en plus des autres.
- On a vérifié qu'on ne perdait pas de précision (0,856 → 0,855).
- La sélection est faite sur le train uniquement, pour ne pas « tricher » avec le test.
SI LE PROF DEMANDE
« Pourquoi garder la longitude alors que sa corrélation est presque nulle ? »
→ L'emplacement compte mais pas en ligne droite ; la sélection forward l'a gardée et c'est le 4e facteur du modèle final.
« Pourquoi bathrooms n'est pas gardée ? »
→ Elle est très liée à la surface (corrélation 0,76) : une fois la surface connue, elle n'apporte presque rien de plus.
« Pourquoi pas Boruta ? »
→ C'était un exemple du sujet ; deux méthodes plus simples suffisaient et donnaient la même précision.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YANNIS
TEMPS CIBLE : 1 min 30
CE QU'ON DIT
On a testé trois modèles de régression, chacun avec une idée différente.
La régression linéaire, c'est une formule : prix égale a fois la surface, plus b fois le grade, et ainsi de suite. L'algorithme cherche les coefficients qui font le moins d'erreurs. C'est simple, mais ça ne sait faire que des lignes droites.
L'arbre de décision, c'est une suite de questions oui ou non : est-ce que la surface est plus grande que 2 500 pieds carrés ? est-ce que le grade est plus grand que 7 ? À la fin, la maison tombe dans un groupe, et on lui donne le prix moyen de ce groupe. C'est facile à comprendre, mais sans limite, l'arbre finit par apprendre les maisons par cœur.
La Random Forest, c'est beaucoup d'arbres, 100 par défaut. Chaque arbre est entraîné sur un tirage au hasard des maisons, donc ils sont tous un peu différents. Chaque arbre donne un prix, et on fait la moyenne. Les erreurs des arbres se compensent.
CE QU'IL FAUT COMPRENDRE
- Régression linéaire = une formule ; arbre = des questions ; Random Forest = la moyenne de beaucoup d'arbres.
- En régression, les arbres de la forêt ne votent pas : on fait la moyenne de leurs prix.
- Les seuils de l'arbre sur la slide sont un exemple pour expliquer, pas les vrais seuils du modèle.
SI LE PROF DEMANDE
« Pourquoi ces trois modèles ? »
→ Ce sont trois idées différentes et faciles à expliquer, du plus simple au plus puissant.
« Les arbres de la forêt votent ? »
→ Non : en régression, chacun donne un prix et on fait la moyenne. Le vote, c'est pour la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YANNIS
TEMPS CIBLE : 1 min 00
CE QU'ON DIT
Pour comparer les modèles, on n'a pas touché au jeu de test. On a utilisé une validation croisée sur le train. On coupe le train en trois parts. Au premier tour, on apprend sur deux parts et on mesure l'erreur sur la troisième ; puis on change de part, trois fois, et on fait la moyenne. Comme ça, chaque maison du train sert une fois à mesurer, et le test reste caché jusqu'à la fin.
On regarde trois mesures. Le MAE, c'est l'erreur moyenne en dollars : « en moyenne, on se trompe de tant ». Le RMSE, c'est aussi en dollars, mais les grosses erreurs comptent plus, donc il est toujours plus grand que le MAE. Et le R², c'est la part de la variation des prix que le modèle arrive à expliquer : 1, c'est parfait, et 0, c'est pas mieux que de donner le prix moyen à tout le monde.
CE QU'IL FAUT COMPRENDRE
- La validation croisée sert à CHOISIR ; le test sert à VÉRIFIER, une seule fois, à la fin.
- MAE et RMSE : plus c'est petit, mieux c'est. R² : plus c'est proche de 1, mieux c'est.
- Si le RMSE est bien plus grand que le MAE, il y a quelques grosses erreurs.
SI LE PROF DEMANDE
« Pourquoi ne pas utiliser le test pour comparer les modèles ? »
→ Parce qu'on veut garder le test complètement indépendant pour évaluer honnêtement le modèle final.
« Pourquoi 3 parts et pas 5 ? »
→ Pour que le Grid Search reste rapide sur Colab ; avec plus de 17 000 maisons, chaque part reste assez grande.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YANNIS
TEMPS CIBLE : 1 min 30
CE QU'ON DIT
Voilà le résultat en validation croisée. Sur le graphique, c'est l'erreur moyenne : la régression linéaire se trompe en moyenne de 138 000 dollars, l'arbre de décision d'environ 103 000, et la Random Forest d'environ 74 000. La Random Forest est aussi la meilleure en RMSE et en R², avec 0,855.
À droite, on regarde le surapprentissage. On compare le score sur les maisons que le modèle a apprises, et le score en validation croisée, sur des maisons qu'il n'a pas vues. La régression linéaire a presque le même score des deux côtés : pas de surapprentissage, mais elle est trop simple. L'arbre seul fait 0,999 sur les maisons apprises, presque parfait, mais seulement 0,740 sur les autres : il a appris par cœur. La Random Forest a aussi un écart, mais elle reste bien meilleure sur les maisons nouvelles.
Donc on garde la Random Forest. Lisa va vous montrer comment on l'a réglée et ce qu'elle donne au test final.
CE QU'IL FAUT COMPRENDRE
- Surapprentissage = très bon sur ce qu'on a appris, beaucoup moins bon sur du nouveau.
- On le détecte en comparant le score « appris » et le score en validation croisée.
- La Random Forest limite le surapprentissage en faisant la moyenne de beaucoup d'arbres.
SI LE PROF DEMANDE
« Pourquoi la Random Forest ? »
→ Elle donnait les meilleurs résultats en validation croisée et représente mieux les relations complexes qu'une régression linéaire, tout en limitant les faiblesses d'un arbre seul.
« Pourquoi la régression linéaire est-elle si moins bonne ? »
→ Elle ne fait que des lignes droites, alors que l'effet de l'emplacement n'est pas linéaire.
« Comment la forêt limite le surapprentissage ? »
→ Chaque arbre voit un tirage différent des maisons ; en faisant la moyenne, leurs erreurs se compensent.
TRANSITION : « Je passe la parole à Lisa.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LISA
TEMPS CIBLE : 1 min 20
CE QU'ON DIT
Merci Yannis. Une fois la Random Forest choisie, on a essayé de la régler avec un Grid Search. Ce n'est pas un nouveau modèle : Grid Search teste plusieurs combinaisons de paramètres et conserve celle qui donne les meilleurs résultats.
On a testé trois paramètres. n_estimators, c'est le nombre d'arbres dans la forêt. max_depth, c'est le nombre maximum de questions à la suite dans chaque arbre. Et min_samples_split, c'est le nombre minimum de maisons qu'il faut dans un groupe pour pouvoir encore le couper en deux. Ça fait deux fois trois fois deux, donc 12 combinaisons, et chacune est évaluée en validation croisée en 3 tours : 36 entraînements. Toujours sur le train, sans toucher au test.
La meilleure combinaison, c'est 200 arbres, une profondeur maximale de 15, et min_samples_split à 2. Sur le graphique, la barre verte : le gain est très petit, environ 500 dollars d'erreur moyenne en moins. Les réglages par défaut étaient déjà bons. Le but, c'était surtout d'appliquer la méthode.
CE QU'IL FAUT COMPRENDRE
- Grid Search = une méthode de réglage, pas un algorithme de prédiction.
- Les paramètres réglés s'appellent des hyperparamètres : on les choisit avant l'entraînement.
- Un petit gain est un résultat normal : il montre que le modèle par défaut était déjà bien réglé.
SI LE PROF DEMANDE
« Pourquoi ne pas utiliser le test pendant le Grid Search ? »
→ Parce qu'on veut garder le test complètement indépendant pour évaluer honnêtement le modèle final.
« Pourquoi une si petite grille ? »
→ 12 combinaisons suffisent pour appliquer la méthode ; une grille plus grande prendrait beaucoup plus de temps pour un gain probablement très faible.
« C'est quoi max_depth ? »
→ La profondeur maximale de chaque arbre, c'est-à-dire le nombre maximum de questions à la suite ; la limiter évite que l'arbre apprenne par cœur.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LISA
TEMPS CIBLE : 1 min 10
CE QU'ON DIT
C'est seulement maintenant, à la toute fin, qu'on utilise les 4 320 maisons du test, une seule fois, sur le modèle déjà choisi.
Résultat : un R² de 0,877. Attention à la façon de le dire : ça veut dire que le modèle explique environ 87,7 % de la variation des prix dans le jeu de test. Ça ne veut pas dire que 87,7 % des prix sont justes. L'erreur moyenne est de 71 718 dollars, soit environ 16 % du prix médian, et le RMSE est de 126 924 dollars, plus grand, parce qu'il y a quelques grosses erreurs.
Le score du test est proche de celui de la validation croisée, et même un peu meilleur, parce que le modèle final apprend sur tout le train. Donc pas de mauvaise surprise.
Sur le graphique : ce qui compte le plus pour le modèle, c'est la surface et la qualité de construction, puis l'emplacement avec la latitude et la longitude. Ça confirme ce que Romain avait vu dans l'analyse exploratoire.
CE QU'IL FAUT COMPRENDRE
- Le test sert à VÉRIFIER, une seule fois : il n'a servi à aucun choix.
- R² = part de la variation expliquée, pas un pourcentage de bonnes réponses.
- Surface + qualité ≈ 2/3 de l'importance ; puis l'emplacement.
SI LE PROF DEMANDE
« Pourquoi le test est meilleur que la validation croisée ? »
→ En validation croisée, chaque modèle n'apprend que sur 2/3 du train ; le modèle final apprend sur tout le train. L'important, c'est que les deux scores sont proches.
« 72 000 $ d'erreur, ce n'est pas beaucoup ? »
→ C'est environ 16 % du prix médian : correct pour une première estimation, mais ce n'est pas un prix exact.
« Pourquoi bedrooms sert si peu ? »
→ L'information sur les chambres est déjà en grande partie dans la surface habitable.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LISA
TEMPS CIBLE : 1 min 20
CE QU'ON DIT
Pour rendre le modèle utilisable, on a fait une petite application web avec Flask.
Au démarrage, app.py charge model.pkl une seule fois avec joblib. Ensuite, l'utilisateur remplit les huit champs du formulaire et clique sur Estimer. Le formulaire HTML, dans templates/index.html, envoie les valeurs à Flask. app.py les récupère avec request.form, les convertit en nombres, et les met dans un DataFrame pandas d'une ligne, avec les colonnes dans le même ordre que pendant l'entraînement. Puis on appelle predict sur la Random Forest, et le prix s'affiche dans l'encadré vert.
Sur la capture, c'est une vraie maison du jeu de test : le modèle estime 375 210 dollars, pour une maison vendue 415 000.
CE QU'IL FAUT COMPRENDRE
- En une phrase : Flask récupère les 8 valeurs, les met dans un DataFrame, les donne à la Random Forest déjà chargée et renvoie le prix.
- Le modèle n'est pas rechargé à chaque clic, seulement au démarrage.
- Ce n'est pas une API : c'est une page web avec un formulaire.
SI LE PROF DEMANDE
« Pourquoi un DataFrame et pas une simple liste ? »
→ Le modèle a été entraîné avec un tableau pandas : on lui redonne les mêmes colonnes, avec les mêmes noms et dans le même ordre.
« Le modèle est chargé à chaque clic ? »
→ Non, une seule fois au démarrage de app.py ; à chaque clic, on appelle seulement predict.
« Et si l'utilisateur tape n'importe quoi ? »
→ Les champs du formulaire sont de type nombre avec des minimums et maximums, par exemple la latitude limitée à la zone du comté de King.
DÉMO OPTIONNELLE : lancer l'application avant la soutenance et garder un onglet sur http://localhost:5000. Valeurs : 3 chambres, 1 510 pieds², terrain 6 083, pas de vue sur l'eau, grade 6, jamais rénovée (0), latitude 47.6966, longitude -122.324 → 375 210 $. Si la démo ne marche pas, la capture suffit.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LISA
TEMPS CIBLE : 1 min 10
CE QU'ON DIT
Un point qu'on confond souvent : Flask et Docker, ce n'est pas la même chose. Docker ne remplace pas Flask. Flask, c'est l'application web. Docker, c'est la boîte qui contient l'application et tout son environnement.
À gauche, notre Dockerfile, c'est la recette. On part d'une image Python 3.12 légère, on se place dans le dossier /app, on copie requirements.txt et on installe les librairies : flask, pandas, scikit-learn et joblib. Puis on copie l'application : app.py, model.pkl, les templates et le CSS. On indique le port 5000, et la commande de démarrage : python app.py.
À droite, ce que ça donne : un conteneur qui contient Python, les librairies, et à l'intérieur notre application Flask. Sans Docker, il faudrait installer Python et les bonnes versions des librairies à la main sur chaque machine. Avec Docker, il suffit de deux commandes : docker build pour construire l'image, et docker run pour lancer l'application sur le port 5000.
CE QU'IL FAUT COMPRENDRE
- Flask fait fonctionner l'application ; Docker transporte et exécute tout son environnement.
- Le Dockerfile : partir de Python, installer les librairies, copier les fichiers, lancer app.py.
- -p 5000:5000 relie le port 5000 de l'ordinateur à celui du conteneur.
SI LE PROF DEMANDE
« Pourquoi Docker ? »
→ Pour fournir la même application avec le même environnement et les mêmes dépendances sur n'importe quelle machine.
« Est-ce que Docker entraîne le modèle ? »
→ Non : le conteneur ne contient que l'application et model.pkl, déjà entraîné dans le notebook.
« Pourquoi fixer les versions dans requirements.txt ? »
→ Un modèle sauvegardé avec une version de scikit-learn peut mal se recharger avec une autre ; on fixe la version 1.8.0 qui a créé model.pkl.
COMMANDES : docker build -t apartment-hunter .   puis   docker run --rm -p 5000:5000 apartment-hunter   (voir annexe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LISA
TEMPS CIBLE : 1 min 20
CE QU'ON DIT
Pour conclure et répondre à notre question de départ : oui, on peut estimer le prix d'une maison à partir de ses caractéristiques, avec une précision correcte.
Le modèle explique environ 87,7 % de la variation des prix sur des maisons qu'il n'a jamais vues, avec une erreur moyenne d'environ 72 000 dollars : c'est une estimation, pas un prix exact. Et ce qui compte le plus, c'est la surface, la qualité de construction et l'emplacement.
Il y a des limites : les données datent de 2014-2015 et ne concernent que la région de Seattle, il reste quelques grosses erreurs, et l'utilisateur doit connaître la latitude et la longitude. Pour aller plus loin, on pourrait utiliser des données plus récentes, permettre de saisir une adresse, ou tester d'autres modèles.
Merci de nous avoir écoutés, on est prêts pour vos questions.
CE QU'IL FAUT COMPRENDRE
- La conclusion répond à la question de la slide 2.
- Être honnête sur les limites montre qu'on comprend ce que fait le modèle.
- Pendant les questions, chacun prend en priorité celles de sa partie ; les annexes A à D servent de support.
SI LE PROF DEMANDE
« Le modèle marcherait pour une maison à Paris ? »
→ Non : il a appris uniquement sur des ventes de 2014-2015 dans la région de Seattle. Il faudrait le réentraîner sur des données françaises.
« Qu'est-ce que vous amélioreriez en premier ? »
→ Des données plus récentes avec l'effet de la date, puis une saisie d'adresse au lieu des coordonnées.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TOUS (celui dont c'est la partie)
TEMPS CIBLE : hors présentation · slide de secours
CE QU'ON DIT
Slide de secours, si le professeur veut savoir où se trouve chaque élément.
Le notebook apartment_hunter.ipynb contient tout le travail de data science : chargement, nettoyage, analyse exploratoire, sélection des variables, comparaison des modèles, Grid Search, test final et sauvegarde. Il lit data/kc_house_data.csv et produit model.pkl et les images.
L'application, c'est app.py avec Flask, la page templates/index.html et le style static/style.css. requirements.txt liste les librairies avec leurs versions, et le Dockerfile décrit comment construire le conteneur.
CE QU'IL FAUT COMPRENDRE
- Le notebook crée le modèle ; app.py l'utilise.
- model.pkl est le seul lien entre les deux parties.
SI LE PROF DEMANDE
« Où est le code qui entraîne le modèle ? »
→ Dans le notebook, sections 9 à 11 ; app.py n'entraîne rien, il charge model.pkl.
« Où sont les graphiques ? »
→ Dans le dossier images/, générés par le notebook et regroupés dans dashboard.html.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TOUS (celui dont c'est la partie)
TEMPS CIBLE : hors présentation · slide de secours
CE QU'ON DIT
Slide de secours pour expliquer chaque variable gardée.
sqft_living, c'est la surface habitable en pieds carrés ; grade, la qualité de construction de 1 à 13 ; lat et long, la position ; waterfront, la vue sur l'eau ; sqft_lot, la surface du terrain ; bedrooms, le nombre de chambres ; et yr_renovated, l'année de rénovation, avec 0 si la maison n'a jamais été rénovée.
La barre, c'est l'importance de chaque variable dans la Random Forest finale : la somme fait 1. La surface et la qualité représentent presque deux tiers de l'importance, puis vient l'emplacement.
CE QU'IL FAUT COMPRENDRE
- Ce sont exactement les 8 champs du formulaire de l'application.
- Importance = à quel point la variable aide le modèle à réduire son erreur.
SI LE PROF DEMANDE
« Pourquoi garder bedrooms et yr_renovated s'ils servent si peu ? »
→ Ils ont été choisis par la sélection forward, et le nombre de chambres est une information naturelle à demander ; ils ne gênent pas.
« Pourquoi pas view ? »
→ Son information est en partie déjà dans waterfront et dans la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TOUS (celui dont c'est la partie)
TEMPS CIBLE : hors présentation · slide de secours
CE QU'ON DIT
Slide de secours pour les questions. Chacun répond en priorité aux questions de sa partie.
Questions bonus possibles, avec réponse courte :
« Pourquoi pas de normalisation ? » → Les arbres n'en ont pas besoin, et ça ne change pas les prédictions de la régression linéaire.
« Pourquoi la longitude alors que sa corrélation est 0,02 ? » → L'emplacement compte mais pas en ligne droite ; c'est le 4e facteur du modèle.
« Pourquoi pas Power BI ? » → On n'y avait pas accès : analyse faite avec matplotlib et dashboard.html.
« C'est une API ? » → Non, une page web avec un formulaire.
« Pourquoi compress=3 ? » → Pour que model.pkl fasse 26,3 Mo et reste sous la limite de 100 Mo de GitHub.
CE QU'IL FAUT COMPRENDRE
- Réponses courtes : 1 à 2 phrases, puis on s'arrête.
- Le fichier QUESTIONS_REPONSES_SOUTENANCE.md contient beaucoup d'autres réponses de secours.
SI LE PROF DEMANDE
« Et si on ne connaît pas la réponse ? »
→ Le dire honnêtement, puis expliquer comment on vérifierait (par exemple dans le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TOUS (celui dont c'est la partie)
TEMPS CIBLE : hors présentation · slide de secours
CE QU'ON DIT
Slide de secours si le professeur demande comment lancer le projet.
En local : pip install -r requirements.txt installe Flask, pandas, scikit-learn et joblib, puis python app.py lance l'application sur le port 5000. On peut le faire dans un environnement virtuel (python -m venv .venv, puis .venv\Scripts\activate sur Windows).
Avec Docker : docker build construit l'image à partir du Dockerfile et l'appelle apartment-hunter ; docker run lance un conteneur, -p 5000:5000 relie le port de l'ordinateur à celui du conteneur, et --rm supprime le conteneur quand on l'arrête.
Le notebook a été conçu pour Google Colab : on crée un dossier data, on y dépose le CSV, et on exécute tout. Il recrée model.pkl et les graphiques.
CE QU'IL FAUT COMPRENDRE
- Docker Desktop doit être ouvert pour utiliser les commandes docker.
- Dans tous les cas, l'application s'ouvre sur http://localhost:5000.
SI LE PROF DEMANDE
« Pourquoi -p 5000:5000 ? »
→ Pour relier le port 5000 de l'ordinateur au port 5000 du conteneur, sinon on ne peut pas ouvrir l'application.
« Pourquoi host="0.0.0.0" dans app.py ? »
→ Pour que l'application accepte les connexions venant de l'extérieur du conteneur.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R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U-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658368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154680"/>
            <a:ext cx="6583680" cy="50292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nvSpPr>
        <p:spPr>
          <a:xfrm>
            <a:off x="548640" y="6446520"/>
            <a:ext cx="5486400" cy="256032"/>
          </a:xfrm>
          <a:prstGeom prst="rect">
            <a:avLst/>
          </a:prstGeom>
          <a:noFill/>
          <a:ln/>
        </p:spPr>
        <p:txBody>
          <a:bodyPr wrap="square" lIns="0" tIns="0" rIns="0" bIns="0" rtlCol="0" anchor="ctr"/>
          <a:lstStyle/>
          <a:p>
            <a:pPr indent="0" marL="0">
              <a:buNone/>
            </a:pPr>
            <a:r>
              <a:rPr lang="en-US" sz="1000" dirty="0">
                <a:solidFill>
                  <a:schemeClr val="bg2"/>
                </a:solidFill>
              </a:rPr>
              <a:t>Apartment Hunter  ·  Romain · Yannis · Lisa</a:t>
            </a:r>
            <a:endParaRPr lang="en-US" sz="10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4-1.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3.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3.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étiquette"/>
          <p:cNvSpPr/>
          <p:nvPr/>
        </p:nvSpPr>
        <p:spPr>
          <a:xfrm>
            <a:off x="548640" y="1371600"/>
            <a:ext cx="5852160" cy="384048"/>
          </a:xfrm>
          <a:prstGeom prst="roundRect">
            <a:avLst>
              <a:gd name="adj" fmla="val 47619"/>
            </a:avLst>
          </a:prstGeom>
          <a:solidFill>
            <a:schemeClr val="tx2"/>
          </a:solidFill>
          <a:ln w="12700">
            <a:solidFill>
              <a:schemeClr val="accent1"/>
            </a:solidFill>
            <a:prstDash val="solid"/>
          </a:ln>
        </p:spPr>
        <p:txBody>
          <a:bodyPr wrap="square" lIns="50800" tIns="50800" rIns="50800" bIns="50800" rtlCol="0" anchor="ctr"/>
          <a:lstStyle/>
          <a:p>
            <a:pPr algn="ctr" indent="0" marL="0">
              <a:buNone/>
            </a:pPr>
            <a:r>
              <a:rPr lang="en-US" sz="1200" b="1" dirty="0">
                <a:solidFill>
                  <a:schemeClr val="accent1"/>
                </a:solidFill>
              </a:rPr>
              <a:t>PROJET ÉTUDIANT  ·  APPRENTISSAGE AUTOMATIQUE  ·  PYTHON</a:t>
            </a:r>
            <a:endParaRPr lang="en-US" sz="1200" dirty="0"/>
          </a:p>
        </p:txBody>
      </p:sp>
      <p:sp>
        <p:nvSpPr>
          <p:cNvPr id="3" name="Text 0"/>
          <p:cNvSpPr/>
          <p:nvPr>
            <p:ph idx="100" type="title" hasCustomPrompt="1"/>
          </p:nvPr>
        </p:nvSpPr>
        <p:spPr>
          <a:xfrm>
            <a:off x="548640" y="2103120"/>
            <a:ext cx="6583680" cy="1005840"/>
          </a:xfrm>
          <a:prstGeom prst="rect">
            <a:avLst/>
          </a:prstGeom>
          <a:noFill/>
          <a:ln/>
        </p:spPr>
        <p:txBody>
          <a:bodyPr wrap="square" lIns="0" tIns="0" rIns="0" bIns="0" rtlCol="0" anchor="ctr"/>
          <a:lstStyle/>
          <a:p>
            <a:pPr algn="l" indent="0" marL="0">
              <a:buNone/>
            </a:pPr>
            <a:r>
              <a:rPr lang="en-US" sz="5400" b="1" dirty="0">
                <a:solidFill>
                  <a:schemeClr val="bg1"/>
                </a:solidFill>
              </a:rPr>
              <a:t>Apartment Hunter</a:t>
            </a:r>
            <a:endParaRPr lang="en-US" sz="5400" dirty="0"/>
          </a:p>
        </p:txBody>
      </p:sp>
      <p:sp>
        <p:nvSpPr>
          <p:cNvPr id="4" name="Text 0"/>
          <p:cNvSpPr/>
          <p:nvPr>
            <p:ph idx="101" type="body" hasCustomPrompt="1"/>
          </p:nvPr>
        </p:nvSpPr>
        <p:spPr>
          <a:xfrm>
            <a:off x="548640" y="3154680"/>
            <a:ext cx="6583680" cy="502920"/>
          </a:xfrm>
          <a:prstGeom prst="rect">
            <a:avLst/>
          </a:prstGeom>
          <a:noFill/>
          <a:ln/>
        </p:spPr>
        <p:txBody>
          <a:bodyPr wrap="square" lIns="0" tIns="0" rIns="0" bIns="0" rtlCol="0" anchor="t"/>
          <a:lstStyle/>
          <a:p>
            <a:pPr algn="l" indent="0" marL="0">
              <a:buNone/>
            </a:pPr>
            <a:r>
              <a:rPr lang="en-US" sz="2200" dirty="0">
                <a:solidFill>
                  <a:schemeClr val="bg2"/>
                </a:solidFill>
              </a:rPr>
              <a:t>Estimer le prix d'une maison à partir de ses caractéristiques</a:t>
            </a:r>
            <a:endParaRPr lang="en-US" sz="2200" dirty="0"/>
          </a:p>
        </p:txBody>
      </p:sp>
      <p:sp>
        <p:nvSpPr>
          <p:cNvPr id="5" name="Text 3"/>
          <p:cNvSpPr txBox="1"/>
          <p:nvPr/>
        </p:nvSpPr>
        <p:spPr>
          <a:xfrm>
            <a:off x="548640" y="4206240"/>
            <a:ext cx="6583680" cy="457200"/>
          </a:xfrm>
          <a:prstGeom prst="rect">
            <a:avLst/>
          </a:prstGeom>
          <a:noFill/>
          <a:ln/>
        </p:spPr>
        <p:txBody>
          <a:bodyPr wrap="square" lIns="0" tIns="0" rIns="0" bIns="0" rtlCol="0" anchor="t"/>
          <a:lstStyle/>
          <a:p>
            <a:pPr indent="0" marL="0">
              <a:buNone/>
            </a:pPr>
            <a:r>
              <a:rPr lang="en-US" sz="2200" i="1" dirty="0">
                <a:solidFill>
                  <a:schemeClr val="bg1"/>
                </a:solidFill>
              </a:rPr>
              <a:t>« Des données </a:t>
            </a:r>
            <a:pPr indent="0" marL="0">
              <a:buNone/>
            </a:pPr>
            <a:r>
              <a:rPr lang="en-US" sz="2200" i="1" dirty="0">
                <a:solidFill>
                  <a:schemeClr val="accent1"/>
                </a:solidFill>
              </a:rPr>
              <a:t>→ un modèle </a:t>
            </a:r>
            <a:pPr indent="0" marL="0">
              <a:buNone/>
            </a:pPr>
            <a:r>
              <a:rPr lang="en-US" sz="2200" i="1" dirty="0">
                <a:solidFill>
                  <a:schemeClr val="accent3"/>
                </a:solidFill>
              </a:rPr>
              <a:t>→ une application »</a:t>
            </a:r>
            <a:endParaRPr lang="en-US" sz="2200" dirty="0"/>
          </a:p>
        </p:txBody>
      </p:sp>
      <p:sp>
        <p:nvSpPr>
          <p:cNvPr id="6" name="Text 4"/>
          <p:cNvSpPr txBox="1"/>
          <p:nvPr/>
        </p:nvSpPr>
        <p:spPr>
          <a:xfrm>
            <a:off x="548640" y="5212080"/>
            <a:ext cx="6400800" cy="365760"/>
          </a:xfrm>
          <a:prstGeom prst="rect">
            <a:avLst/>
          </a:prstGeom>
          <a:noFill/>
          <a:ln/>
        </p:spPr>
        <p:txBody>
          <a:bodyPr wrap="square" lIns="0" tIns="0" rIns="0" bIns="0" rtlCol="0" anchor="t"/>
          <a:lstStyle/>
          <a:p>
            <a:pPr indent="0" marL="0">
              <a:buNone/>
            </a:pPr>
            <a:r>
              <a:rPr lang="en-US" sz="1800" b="1" dirty="0">
                <a:solidFill>
                  <a:schemeClr val="bg1"/>
                </a:solidFill>
              </a:rPr>
              <a:t>Romain  ·  Yannis  ·  Lisa</a:t>
            </a:r>
            <a:endParaRPr lang="en-US" sz="1800" dirty="0"/>
          </a:p>
        </p:txBody>
      </p:sp>
      <p:sp>
        <p:nvSpPr>
          <p:cNvPr id="7" name="Text 5"/>
          <p:cNvSpPr txBox="1"/>
          <p:nvPr/>
        </p:nvSpPr>
        <p:spPr>
          <a:xfrm>
            <a:off x="548640" y="5596128"/>
            <a:ext cx="6858000" cy="320040"/>
          </a:xfrm>
          <a:prstGeom prst="rect">
            <a:avLst/>
          </a:prstGeom>
          <a:noFill/>
          <a:ln/>
        </p:spPr>
        <p:txBody>
          <a:bodyPr wrap="square" lIns="0" tIns="0" rIns="0" bIns="0" rtlCol="0" anchor="t"/>
          <a:lstStyle/>
          <a:p>
            <a:pPr indent="0" marL="0">
              <a:buNone/>
            </a:pPr>
            <a:r>
              <a:rPr lang="en-US" sz="1300" dirty="0">
                <a:solidFill>
                  <a:schemeClr val="bg2"/>
                </a:solidFill>
              </a:rPr>
              <a:t>B3 IA  ·  La Plateforme  ·  Projet « Chasseurs d'appart' »</a:t>
            </a:r>
            <a:endParaRPr lang="en-US" sz="1300" dirty="0"/>
          </a:p>
        </p:txBody>
      </p:sp>
      <p:sp>
        <p:nvSpPr>
          <p:cNvPr id="8" name="cadre capture"/>
          <p:cNvSpPr/>
          <p:nvPr/>
        </p:nvSpPr>
        <p:spPr>
          <a:xfrm>
            <a:off x="7589520" y="1051560"/>
            <a:ext cx="4206240" cy="4435153"/>
          </a:xfrm>
          <a:prstGeom prst="roundRect">
            <a:avLst>
              <a:gd name="adj" fmla="val 1739"/>
            </a:avLst>
          </a:prstGeom>
          <a:solidFill>
            <a:schemeClr val="tx2"/>
          </a:solidFill>
          <a:ln w="12700">
            <a:solidFill>
              <a:schemeClr val="accent5"/>
            </a:solidFill>
            <a:prstDash val="solid"/>
          </a:ln>
        </p:spPr>
      </p:sp>
      <p:pic>
        <p:nvPicPr>
          <p:cNvPr id="9" name="capture application" descr="Capture de l'application : prix estimé de 375 210 $">    </p:cNvPr>
          <p:cNvPicPr>
            <a:picLocks noChangeAspect="1"/>
          </p:cNvPicPr>
          <p:nvPr/>
        </p:nvPicPr>
        <p:blipFill>
          <a:blip r:embed="rId1"/>
          <a:stretch>
            <a:fillRect/>
          </a:stretch>
        </p:blipFill>
        <p:spPr>
          <a:xfrm>
            <a:off x="7726680" y="1188720"/>
            <a:ext cx="3931920" cy="416083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01  ·  LE PROJET</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La question de départ</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1"/>
            </a:solidFill>
          </a:ln>
        </p:spPr>
        <p:txBody>
          <a:bodyPr wrap="square" lIns="0" tIns="0" rIns="0" bIns="0" rtlCol="0" anchor="ctr"/>
          <a:lstStyle/>
          <a:p>
            <a:pPr algn="ctr" indent="0" marL="0">
              <a:buNone/>
            </a:pPr>
            <a:r>
              <a:rPr lang="en-US" sz="1300" b="1" dirty="0">
                <a:solidFill>
                  <a:schemeClr val="accent1"/>
                </a:solidFill>
              </a:rPr>
              <a:t>Romain</a:t>
            </a:r>
            <a:endParaRPr lang="en-US" sz="1300" dirty="0"/>
          </a:p>
        </p:txBody>
      </p:sp>
      <p:sp>
        <p:nvSpPr>
          <p:cNvPr id="5" name="cadre question"/>
          <p:cNvSpPr/>
          <p:nvPr/>
        </p:nvSpPr>
        <p:spPr>
          <a:xfrm>
            <a:off x="548640" y="1508760"/>
            <a:ext cx="11091672" cy="1325880"/>
          </a:xfrm>
          <a:prstGeom prst="roundRect">
            <a:avLst>
              <a:gd name="adj" fmla="val 5517"/>
            </a:avLst>
          </a:prstGeom>
          <a:solidFill>
            <a:schemeClr val="tx2"/>
          </a:solidFill>
          <a:ln w="15875">
            <a:solidFill>
              <a:schemeClr val="accent1"/>
            </a:solidFill>
            <a:prstDash val="solid"/>
          </a:ln>
        </p:spPr>
      </p:sp>
      <p:sp>
        <p:nvSpPr>
          <p:cNvPr id="6" name="Text 4"/>
          <p:cNvSpPr txBox="1"/>
          <p:nvPr/>
        </p:nvSpPr>
        <p:spPr>
          <a:xfrm>
            <a:off x="914400" y="1554480"/>
            <a:ext cx="10332720" cy="1234440"/>
          </a:xfrm>
          <a:prstGeom prst="rect">
            <a:avLst/>
          </a:prstGeom>
          <a:noFill/>
          <a:ln/>
        </p:spPr>
        <p:txBody>
          <a:bodyPr wrap="square" lIns="0" tIns="0" rIns="0" bIns="0" rtlCol="0" anchor="ctr"/>
          <a:lstStyle/>
          <a:p>
            <a:pPr algn="ctr" indent="0" marL="0">
              <a:buNone/>
            </a:pPr>
            <a:r>
              <a:rPr lang="en-US" sz="2800" b="1" dirty="0">
                <a:solidFill>
                  <a:schemeClr val="bg1"/>
                </a:solidFill>
              </a:rPr>
              <a:t>Peut-on estimer le prix d'une maison à partir de ses caractéristiques ?</a:t>
            </a:r>
            <a:endParaRPr lang="en-US" sz="2800" dirty="0"/>
          </a:p>
        </p:txBody>
      </p:sp>
      <p:sp>
        <p:nvSpPr>
          <p:cNvPr id="7" name="carte LE BESOIN"/>
          <p:cNvSpPr/>
          <p:nvPr/>
        </p:nvSpPr>
        <p:spPr>
          <a:xfrm>
            <a:off x="548640" y="3200400"/>
            <a:ext cx="3429000" cy="2331720"/>
          </a:xfrm>
          <a:prstGeom prst="roundRect">
            <a:avLst>
              <a:gd name="adj" fmla="val 3137"/>
            </a:avLst>
          </a:prstGeom>
          <a:solidFill>
            <a:schemeClr val="tx2"/>
          </a:solidFill>
          <a:ln w="12700">
            <a:solidFill>
              <a:schemeClr val="accent5"/>
            </a:solidFill>
            <a:prstDash val="solid"/>
          </a:ln>
        </p:spPr>
      </p:sp>
      <p:sp>
        <p:nvSpPr>
          <p:cNvPr id="8" name="LE BESOIN cercle"/>
          <p:cNvSpPr/>
          <p:nvPr/>
        </p:nvSpPr>
        <p:spPr>
          <a:xfrm>
            <a:off x="822960" y="3429000"/>
            <a:ext cx="777240" cy="777240"/>
          </a:xfrm>
          <a:prstGeom prst="ellipse">
            <a:avLst/>
          </a:prstGeom>
          <a:solidFill>
            <a:schemeClr val="accent6"/>
          </a:solidFill>
          <a:ln w="12700">
            <a:solidFill>
              <a:schemeClr val="accent5"/>
            </a:solidFill>
            <a:prstDash val="solid"/>
          </a:ln>
        </p:spPr>
      </p:sp>
      <p:pic>
        <p:nvPicPr>
          <p:cNvPr id="9" name="LE BESOIN icône" descr="LE BESOIN">    </p:cNvPr>
          <p:cNvPicPr>
            <a:picLocks noChangeAspect="1"/>
          </p:cNvPicPr>
          <p:nvPr/>
        </p:nvPicPr>
        <p:blipFill>
          <a:blip r:embed="rId1"/>
          <a:stretch>
            <a:fillRect/>
          </a:stretch>
        </p:blipFill>
        <p:spPr>
          <a:xfrm>
            <a:off x="1025042" y="3631082"/>
            <a:ext cx="373075" cy="373075"/>
          </a:xfrm>
          <a:prstGeom prst="rect">
            <a:avLst/>
          </a:prstGeom>
        </p:spPr>
      </p:pic>
      <p:sp>
        <p:nvSpPr>
          <p:cNvPr id="10" name="Text 7"/>
          <p:cNvSpPr txBox="1"/>
          <p:nvPr/>
        </p:nvSpPr>
        <p:spPr>
          <a:xfrm>
            <a:off x="1783080" y="3611880"/>
            <a:ext cx="2011680" cy="411480"/>
          </a:xfrm>
          <a:prstGeom prst="rect">
            <a:avLst/>
          </a:prstGeom>
          <a:noFill/>
          <a:ln/>
        </p:spPr>
        <p:txBody>
          <a:bodyPr wrap="square" lIns="0" tIns="0" rIns="0" bIns="0" rtlCol="0" anchor="ctr"/>
          <a:lstStyle/>
          <a:p>
            <a:pPr indent="0" marL="0">
              <a:buNone/>
            </a:pPr>
            <a:r>
              <a:rPr lang="en-US" sz="1400" b="1" spc="200" kern="0" dirty="0">
                <a:solidFill>
                  <a:schemeClr val="accent1"/>
                </a:solidFill>
              </a:rPr>
              <a:t>LE BESOIN</a:t>
            </a:r>
            <a:endParaRPr lang="en-US" sz="1400" dirty="0"/>
          </a:p>
        </p:txBody>
      </p:sp>
      <p:sp>
        <p:nvSpPr>
          <p:cNvPr id="11" name="Text 8"/>
          <p:cNvSpPr txBox="1"/>
          <p:nvPr/>
        </p:nvSpPr>
        <p:spPr>
          <a:xfrm>
            <a:off x="822960" y="4434840"/>
            <a:ext cx="2926080" cy="914400"/>
          </a:xfrm>
          <a:prstGeom prst="rect">
            <a:avLst/>
          </a:prstGeom>
          <a:noFill/>
          <a:ln/>
        </p:spPr>
        <p:txBody>
          <a:bodyPr wrap="square" lIns="0" tIns="0" rIns="0" bIns="0" rtlCol="0" anchor="t"/>
          <a:lstStyle/>
          <a:p>
            <a:pPr indent="0" marL="0">
              <a:buNone/>
            </a:pPr>
            <a:r>
              <a:rPr lang="en-US" sz="1700" dirty="0">
                <a:solidFill>
                  <a:schemeClr val="bg1"/>
                </a:solidFill>
              </a:rPr>
              <a:t>Un agent immobilier doit estimer le prix des biens qu'il vend</a:t>
            </a:r>
            <a:endParaRPr lang="en-US" sz="1700" dirty="0"/>
          </a:p>
        </p:txBody>
      </p:sp>
      <p:sp>
        <p:nvSpPr>
          <p:cNvPr id="12" name="flèche"/>
          <p:cNvSpPr/>
          <p:nvPr/>
        </p:nvSpPr>
        <p:spPr>
          <a:xfrm>
            <a:off x="4005072" y="4370832"/>
            <a:ext cx="347472" cy="0"/>
          </a:xfrm>
          <a:prstGeom prst="line">
            <a:avLst/>
          </a:prstGeom>
          <a:noFill/>
          <a:ln w="22225">
            <a:solidFill>
              <a:schemeClr val="bg2"/>
            </a:solidFill>
            <a:prstDash val="solid"/>
            <a:tailEnd type="triangle"/>
          </a:ln>
        </p:spPr>
      </p:sp>
      <p:sp>
        <p:nvSpPr>
          <p:cNvPr id="13" name="carte LA SOLUTION"/>
          <p:cNvSpPr/>
          <p:nvPr/>
        </p:nvSpPr>
        <p:spPr>
          <a:xfrm>
            <a:off x="4379976" y="3200400"/>
            <a:ext cx="3429000" cy="2331720"/>
          </a:xfrm>
          <a:prstGeom prst="roundRect">
            <a:avLst>
              <a:gd name="adj" fmla="val 3137"/>
            </a:avLst>
          </a:prstGeom>
          <a:solidFill>
            <a:schemeClr val="tx2"/>
          </a:solidFill>
          <a:ln w="12700">
            <a:solidFill>
              <a:schemeClr val="accent5"/>
            </a:solidFill>
            <a:prstDash val="solid"/>
          </a:ln>
        </p:spPr>
      </p:sp>
      <p:sp>
        <p:nvSpPr>
          <p:cNvPr id="14" name="LA SOLUTION cercle"/>
          <p:cNvSpPr/>
          <p:nvPr/>
        </p:nvSpPr>
        <p:spPr>
          <a:xfrm>
            <a:off x="4654296" y="3429000"/>
            <a:ext cx="777240" cy="777240"/>
          </a:xfrm>
          <a:prstGeom prst="ellipse">
            <a:avLst/>
          </a:prstGeom>
          <a:solidFill>
            <a:schemeClr val="accent6"/>
          </a:solidFill>
          <a:ln w="12700">
            <a:solidFill>
              <a:schemeClr val="accent5"/>
            </a:solidFill>
            <a:prstDash val="solid"/>
          </a:ln>
        </p:spPr>
      </p:sp>
      <p:pic>
        <p:nvPicPr>
          <p:cNvPr id="15" name="LA SOLUTION icône" descr="LA SOLUTION">    </p:cNvPr>
          <p:cNvPicPr>
            <a:picLocks noChangeAspect="1"/>
          </p:cNvPicPr>
          <p:nvPr/>
        </p:nvPicPr>
        <p:blipFill>
          <a:blip r:embed="rId2"/>
          <a:stretch>
            <a:fillRect/>
          </a:stretch>
        </p:blipFill>
        <p:spPr>
          <a:xfrm>
            <a:off x="4856378" y="3631082"/>
            <a:ext cx="373075" cy="373075"/>
          </a:xfrm>
          <a:prstGeom prst="rect">
            <a:avLst/>
          </a:prstGeom>
        </p:spPr>
      </p:pic>
      <p:sp>
        <p:nvSpPr>
          <p:cNvPr id="16" name="Text 12"/>
          <p:cNvSpPr txBox="1"/>
          <p:nvPr/>
        </p:nvSpPr>
        <p:spPr>
          <a:xfrm>
            <a:off x="5614416" y="3611880"/>
            <a:ext cx="2011680" cy="411480"/>
          </a:xfrm>
          <a:prstGeom prst="rect">
            <a:avLst/>
          </a:prstGeom>
          <a:noFill/>
          <a:ln/>
        </p:spPr>
        <p:txBody>
          <a:bodyPr wrap="square" lIns="0" tIns="0" rIns="0" bIns="0" rtlCol="0" anchor="ctr"/>
          <a:lstStyle/>
          <a:p>
            <a:pPr indent="0" marL="0">
              <a:buNone/>
            </a:pPr>
            <a:r>
              <a:rPr lang="en-US" sz="1400" b="1" spc="200" kern="0" dirty="0">
                <a:solidFill>
                  <a:schemeClr val="accent2"/>
                </a:solidFill>
              </a:rPr>
              <a:t>LA SOLUTION</a:t>
            </a:r>
            <a:endParaRPr lang="en-US" sz="1400" dirty="0"/>
          </a:p>
        </p:txBody>
      </p:sp>
      <p:sp>
        <p:nvSpPr>
          <p:cNvPr id="17" name="Text 13"/>
          <p:cNvSpPr txBox="1"/>
          <p:nvPr/>
        </p:nvSpPr>
        <p:spPr>
          <a:xfrm>
            <a:off x="4654296" y="4434840"/>
            <a:ext cx="2926080" cy="914400"/>
          </a:xfrm>
          <a:prstGeom prst="rect">
            <a:avLst/>
          </a:prstGeom>
          <a:noFill/>
          <a:ln/>
        </p:spPr>
        <p:txBody>
          <a:bodyPr wrap="square" lIns="0" tIns="0" rIns="0" bIns="0" rtlCol="0" anchor="t"/>
          <a:lstStyle/>
          <a:p>
            <a:pPr indent="0" marL="0">
              <a:buNone/>
            </a:pPr>
            <a:r>
              <a:rPr lang="en-US" sz="1700" dirty="0">
                <a:solidFill>
                  <a:schemeClr val="bg1"/>
                </a:solidFill>
              </a:rPr>
              <a:t>Un modèle apprend sur 21 613 ventes réelles</a:t>
            </a:r>
            <a:endParaRPr lang="en-US" sz="1700" dirty="0"/>
          </a:p>
        </p:txBody>
      </p:sp>
      <p:sp>
        <p:nvSpPr>
          <p:cNvPr id="18" name="flèche"/>
          <p:cNvSpPr/>
          <p:nvPr/>
        </p:nvSpPr>
        <p:spPr>
          <a:xfrm>
            <a:off x="7836408" y="4370832"/>
            <a:ext cx="347472" cy="0"/>
          </a:xfrm>
          <a:prstGeom prst="line">
            <a:avLst/>
          </a:prstGeom>
          <a:noFill/>
          <a:ln w="22225">
            <a:solidFill>
              <a:schemeClr val="bg2"/>
            </a:solidFill>
            <a:prstDash val="solid"/>
            <a:tailEnd type="triangle"/>
          </a:ln>
        </p:spPr>
      </p:sp>
      <p:sp>
        <p:nvSpPr>
          <p:cNvPr id="19" name="carte LE RÉSULTAT"/>
          <p:cNvSpPr/>
          <p:nvPr/>
        </p:nvSpPr>
        <p:spPr>
          <a:xfrm>
            <a:off x="8211312" y="3200400"/>
            <a:ext cx="3429000" cy="2331720"/>
          </a:xfrm>
          <a:prstGeom prst="roundRect">
            <a:avLst>
              <a:gd name="adj" fmla="val 3137"/>
            </a:avLst>
          </a:prstGeom>
          <a:solidFill>
            <a:schemeClr val="tx2"/>
          </a:solidFill>
          <a:ln w="12700">
            <a:solidFill>
              <a:schemeClr val="accent5"/>
            </a:solidFill>
            <a:prstDash val="solid"/>
          </a:ln>
        </p:spPr>
      </p:sp>
      <p:sp>
        <p:nvSpPr>
          <p:cNvPr id="20" name="LE RÉSULTAT cercle"/>
          <p:cNvSpPr/>
          <p:nvPr/>
        </p:nvSpPr>
        <p:spPr>
          <a:xfrm>
            <a:off x="8485632" y="3429000"/>
            <a:ext cx="777240" cy="777240"/>
          </a:xfrm>
          <a:prstGeom prst="ellipse">
            <a:avLst/>
          </a:prstGeom>
          <a:solidFill>
            <a:schemeClr val="accent6"/>
          </a:solidFill>
          <a:ln w="12700">
            <a:solidFill>
              <a:schemeClr val="accent5"/>
            </a:solidFill>
            <a:prstDash val="solid"/>
          </a:ln>
        </p:spPr>
      </p:sp>
      <p:pic>
        <p:nvPicPr>
          <p:cNvPr id="21" name="LE RÉSULTAT icône" descr="LE RÉSULTAT">    </p:cNvPr>
          <p:cNvPicPr>
            <a:picLocks noChangeAspect="1"/>
          </p:cNvPicPr>
          <p:nvPr/>
        </p:nvPicPr>
        <p:blipFill>
          <a:blip r:embed="rId3"/>
          <a:stretch>
            <a:fillRect/>
          </a:stretch>
        </p:blipFill>
        <p:spPr>
          <a:xfrm>
            <a:off x="8687714" y="3631082"/>
            <a:ext cx="373075" cy="373075"/>
          </a:xfrm>
          <a:prstGeom prst="rect">
            <a:avLst/>
          </a:prstGeom>
        </p:spPr>
      </p:pic>
      <p:sp>
        <p:nvSpPr>
          <p:cNvPr id="22" name="Text 17"/>
          <p:cNvSpPr txBox="1"/>
          <p:nvPr/>
        </p:nvSpPr>
        <p:spPr>
          <a:xfrm>
            <a:off x="9445752" y="3611880"/>
            <a:ext cx="2011680" cy="411480"/>
          </a:xfrm>
          <a:prstGeom prst="rect">
            <a:avLst/>
          </a:prstGeom>
          <a:noFill/>
          <a:ln/>
        </p:spPr>
        <p:txBody>
          <a:bodyPr wrap="square" lIns="0" tIns="0" rIns="0" bIns="0" rtlCol="0" anchor="ctr"/>
          <a:lstStyle/>
          <a:p>
            <a:pPr indent="0" marL="0">
              <a:buNone/>
            </a:pPr>
            <a:r>
              <a:rPr lang="en-US" sz="1400" b="1" spc="200" kern="0" dirty="0">
                <a:solidFill>
                  <a:schemeClr val="accent3"/>
                </a:solidFill>
              </a:rPr>
              <a:t>LE RÉSULTAT</a:t>
            </a:r>
            <a:endParaRPr lang="en-US" sz="1400" dirty="0"/>
          </a:p>
        </p:txBody>
      </p:sp>
      <p:sp>
        <p:nvSpPr>
          <p:cNvPr id="23" name="Text 18"/>
          <p:cNvSpPr txBox="1"/>
          <p:nvPr/>
        </p:nvSpPr>
        <p:spPr>
          <a:xfrm>
            <a:off x="8485632" y="4434840"/>
            <a:ext cx="2926080" cy="914400"/>
          </a:xfrm>
          <a:prstGeom prst="rect">
            <a:avLst/>
          </a:prstGeom>
          <a:noFill/>
          <a:ln/>
        </p:spPr>
        <p:txBody>
          <a:bodyPr wrap="square" lIns="0" tIns="0" rIns="0" bIns="0" rtlCol="0" anchor="t"/>
          <a:lstStyle/>
          <a:p>
            <a:pPr indent="0" marL="0">
              <a:buNone/>
            </a:pPr>
            <a:r>
              <a:rPr lang="en-US" sz="1700" dirty="0">
                <a:solidFill>
                  <a:schemeClr val="bg1"/>
                </a:solidFill>
              </a:rPr>
              <a:t>Une page web donne une estimation en un clic</a:t>
            </a:r>
            <a:endParaRPr lang="en-US" sz="1700" dirty="0"/>
          </a:p>
        </p:txBody>
      </p:sp>
      <p:sp>
        <p:nvSpPr>
          <p:cNvPr id="24" name="rappel régression"/>
          <p:cNvSpPr/>
          <p:nvPr/>
        </p:nvSpPr>
        <p:spPr>
          <a:xfrm>
            <a:off x="548640" y="5760720"/>
            <a:ext cx="5120640" cy="438912"/>
          </a:xfrm>
          <a:prstGeom prst="roundRect">
            <a:avLst>
              <a:gd name="adj" fmla="val 14583"/>
            </a:avLst>
          </a:prstGeom>
          <a:solidFill>
            <a:schemeClr val="accent6"/>
          </a:solidFill>
          <a:ln w="12700">
            <a:solidFill>
              <a:schemeClr val="accent5"/>
            </a:solidFill>
            <a:prstDash val="solid"/>
          </a:ln>
        </p:spPr>
        <p:txBody>
          <a:bodyPr wrap="square" lIns="50800" tIns="50800" rIns="50800" bIns="50800" rtlCol="0" anchor="ctr"/>
          <a:lstStyle/>
          <a:p>
            <a:pPr algn="ctr" indent="0" marL="0">
              <a:buNone/>
            </a:pPr>
            <a:r>
              <a:rPr lang="en-US" sz="1400" i="1" dirty="0">
                <a:solidFill>
                  <a:schemeClr val="bg2"/>
                </a:solidFill>
              </a:rPr>
              <a:t>Régression = prédire un nombre (ici, un prix)</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02  ·  ARCHITECTURE</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Architecture globale du projet</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1"/>
            </a:solidFill>
          </a:ln>
        </p:spPr>
        <p:txBody>
          <a:bodyPr wrap="square" lIns="0" tIns="0" rIns="0" bIns="0" rtlCol="0" anchor="ctr"/>
          <a:lstStyle/>
          <a:p>
            <a:pPr algn="ctr" indent="0" marL="0">
              <a:buNone/>
            </a:pPr>
            <a:r>
              <a:rPr lang="en-US" sz="1300" b="1" dirty="0">
                <a:solidFill>
                  <a:schemeClr val="accent1"/>
                </a:solidFill>
              </a:rPr>
              <a:t>Romain</a:t>
            </a:r>
            <a:endParaRPr lang="en-US" sz="1300" dirty="0"/>
          </a:p>
        </p:txBody>
      </p:sp>
      <p:sp>
        <p:nvSpPr>
          <p:cNvPr id="5" name="Text 3"/>
          <p:cNvSpPr txBox="1"/>
          <p:nvPr/>
        </p:nvSpPr>
        <p:spPr>
          <a:xfrm>
            <a:off x="457200" y="1417320"/>
            <a:ext cx="173736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1 · DONNÉES</a:t>
            </a:r>
            <a:endParaRPr lang="en-US" sz="1100" dirty="0"/>
          </a:p>
        </p:txBody>
      </p:sp>
      <p:sp>
        <p:nvSpPr>
          <p:cNvPr id="6" name="Text 4"/>
          <p:cNvSpPr txBox="1"/>
          <p:nvPr/>
        </p:nvSpPr>
        <p:spPr>
          <a:xfrm>
            <a:off x="2514600" y="1417320"/>
            <a:ext cx="43434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2 · NOTEBOOK PYTHON  (une seule fois)</a:t>
            </a:r>
            <a:endParaRPr lang="en-US" sz="1100" dirty="0"/>
          </a:p>
        </p:txBody>
      </p:sp>
      <p:sp>
        <p:nvSpPr>
          <p:cNvPr id="7" name="Text 5"/>
          <p:cNvSpPr txBox="1"/>
          <p:nvPr/>
        </p:nvSpPr>
        <p:spPr>
          <a:xfrm>
            <a:off x="7040880" y="1417320"/>
            <a:ext cx="1371600" cy="274320"/>
          </a:xfrm>
          <a:prstGeom prst="rect">
            <a:avLst/>
          </a:prstGeom>
          <a:noFill/>
          <a:ln/>
        </p:spPr>
        <p:txBody>
          <a:bodyPr wrap="square" lIns="0" tIns="0" rIns="0" bIns="0" rtlCol="0" anchor="ctr"/>
          <a:lstStyle/>
          <a:p>
            <a:pPr indent="0" marL="0">
              <a:buNone/>
            </a:pPr>
            <a:r>
              <a:rPr lang="en-US" sz="1100" b="1" spc="100" kern="0" dirty="0">
                <a:solidFill>
                  <a:schemeClr val="accent3"/>
                </a:solidFill>
              </a:rPr>
              <a:t>3 · SAUVEGARDE</a:t>
            </a:r>
            <a:endParaRPr lang="en-US" sz="1100" dirty="0"/>
          </a:p>
        </p:txBody>
      </p:sp>
      <p:sp>
        <p:nvSpPr>
          <p:cNvPr id="8" name="Text 6"/>
          <p:cNvSpPr txBox="1"/>
          <p:nvPr/>
        </p:nvSpPr>
        <p:spPr>
          <a:xfrm>
            <a:off x="8549640" y="1417320"/>
            <a:ext cx="315468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4 · APPLICATION WEB  (à chaque estimation)</a:t>
            </a:r>
            <a:endParaRPr lang="en-US" sz="1100" dirty="0"/>
          </a:p>
        </p:txBody>
      </p:sp>
      <p:sp>
        <p:nvSpPr>
          <p:cNvPr id="9" name="carte données"/>
          <p:cNvSpPr/>
          <p:nvPr/>
        </p:nvSpPr>
        <p:spPr>
          <a:xfrm>
            <a:off x="457200" y="1828800"/>
            <a:ext cx="1783080" cy="1600200"/>
          </a:xfrm>
          <a:prstGeom prst="roundRect">
            <a:avLst>
              <a:gd name="adj" fmla="val 4571"/>
            </a:avLst>
          </a:prstGeom>
          <a:solidFill>
            <a:schemeClr val="tx2"/>
          </a:solidFill>
          <a:ln w="12700">
            <a:solidFill>
              <a:schemeClr val="accent5"/>
            </a:solidFill>
            <a:prstDash val="solid"/>
          </a:ln>
        </p:spPr>
      </p:sp>
      <p:sp>
        <p:nvSpPr>
          <p:cNvPr id="10" name="fichier CSV cercle"/>
          <p:cNvSpPr/>
          <p:nvPr/>
        </p:nvSpPr>
        <p:spPr>
          <a:xfrm>
            <a:off x="1005840" y="1938528"/>
            <a:ext cx="658368" cy="658368"/>
          </a:xfrm>
          <a:prstGeom prst="ellipse">
            <a:avLst/>
          </a:prstGeom>
          <a:solidFill>
            <a:schemeClr val="accent6"/>
          </a:solidFill>
          <a:ln w="12700">
            <a:solidFill>
              <a:schemeClr val="accent5"/>
            </a:solidFill>
            <a:prstDash val="solid"/>
          </a:ln>
        </p:spPr>
      </p:sp>
      <p:pic>
        <p:nvPicPr>
          <p:cNvPr id="11" name="fichier CSV icône" descr="fichier CSV">    </p:cNvPr>
          <p:cNvPicPr>
            <a:picLocks noChangeAspect="1"/>
          </p:cNvPicPr>
          <p:nvPr/>
        </p:nvPicPr>
        <p:blipFill>
          <a:blip r:embed="rId1"/>
          <a:stretch>
            <a:fillRect/>
          </a:stretch>
        </p:blipFill>
        <p:spPr>
          <a:xfrm>
            <a:off x="1177016" y="2109704"/>
            <a:ext cx="316017" cy="316017"/>
          </a:xfrm>
          <a:prstGeom prst="rect">
            <a:avLst/>
          </a:prstGeom>
        </p:spPr>
      </p:pic>
      <p:sp>
        <p:nvSpPr>
          <p:cNvPr id="12" name="Text 9"/>
          <p:cNvSpPr txBox="1"/>
          <p:nvPr/>
        </p:nvSpPr>
        <p:spPr>
          <a:xfrm>
            <a:off x="457200" y="2697480"/>
            <a:ext cx="1783080" cy="274320"/>
          </a:xfrm>
          <a:prstGeom prst="rect">
            <a:avLst/>
          </a:prstGeom>
          <a:noFill/>
          <a:ln/>
        </p:spPr>
        <p:txBody>
          <a:bodyPr wrap="square" lIns="0" tIns="0" rIns="0" bIns="0" rtlCol="0" anchor="t"/>
          <a:lstStyle/>
          <a:p>
            <a:pPr algn="ctr" indent="0" marL="0">
              <a:buNone/>
            </a:pPr>
            <a:r>
              <a:rPr lang="en-US" sz="1100" dirty="0">
                <a:solidFill>
                  <a:schemeClr val="accent1"/>
                </a:solidFill>
                <a:latin typeface="Courier New" pitchFamily="34" charset="0"/>
                <a:ea typeface="Courier New" pitchFamily="34" charset="-122"/>
                <a:cs typeface="Courier New" pitchFamily="34" charset="-120"/>
              </a:rPr>
              <a:t>kc_house_data.csv</a:t>
            </a:r>
            <a:endParaRPr lang="en-US" sz="1100" dirty="0"/>
          </a:p>
        </p:txBody>
      </p:sp>
      <p:sp>
        <p:nvSpPr>
          <p:cNvPr id="13" name="Text 10"/>
          <p:cNvSpPr txBox="1"/>
          <p:nvPr/>
        </p:nvSpPr>
        <p:spPr>
          <a:xfrm>
            <a:off x="457200" y="2999232"/>
            <a:ext cx="1783080" cy="274320"/>
          </a:xfrm>
          <a:prstGeom prst="rect">
            <a:avLst/>
          </a:prstGeom>
          <a:noFill/>
          <a:ln/>
        </p:spPr>
        <p:txBody>
          <a:bodyPr wrap="square" lIns="0" tIns="0" rIns="0" bIns="0" rtlCol="0" anchor="t"/>
          <a:lstStyle/>
          <a:p>
            <a:pPr algn="ctr" indent="0" marL="0">
              <a:buNone/>
            </a:pPr>
            <a:r>
              <a:rPr lang="en-US" sz="1200" dirty="0">
                <a:solidFill>
                  <a:schemeClr val="bg2"/>
                </a:solidFill>
              </a:rPr>
              <a:t>21 613 ventes</a:t>
            </a:r>
            <a:endParaRPr lang="en-US" sz="1200" dirty="0"/>
          </a:p>
        </p:txBody>
      </p:sp>
      <p:sp>
        <p:nvSpPr>
          <p:cNvPr id="14" name="flèche"/>
          <p:cNvSpPr/>
          <p:nvPr/>
        </p:nvSpPr>
        <p:spPr>
          <a:xfrm>
            <a:off x="2240280" y="2633472"/>
            <a:ext cx="274320" cy="0"/>
          </a:xfrm>
          <a:prstGeom prst="line">
            <a:avLst/>
          </a:prstGeom>
          <a:noFill/>
          <a:ln w="22225">
            <a:solidFill>
              <a:schemeClr val="accent1"/>
            </a:solidFill>
            <a:prstDash val="solid"/>
            <a:tailEnd type="triangle"/>
          </a:ln>
        </p:spPr>
      </p:sp>
      <p:sp>
        <p:nvSpPr>
          <p:cNvPr id="15" name="cadre notebook"/>
          <p:cNvSpPr/>
          <p:nvPr/>
        </p:nvSpPr>
        <p:spPr>
          <a:xfrm>
            <a:off x="2514600" y="1828800"/>
            <a:ext cx="4343400" cy="4434840"/>
          </a:xfrm>
          <a:prstGeom prst="roundRect">
            <a:avLst>
              <a:gd name="adj" fmla="val 1684"/>
            </a:avLst>
          </a:prstGeom>
          <a:solidFill>
            <a:schemeClr val="accent6"/>
          </a:solidFill>
          <a:ln w="15875">
            <a:solidFill>
              <a:schemeClr val="accent1"/>
            </a:solidFill>
            <a:prstDash val="solid"/>
          </a:ln>
        </p:spPr>
      </p:sp>
      <p:sp>
        <p:nvSpPr>
          <p:cNvPr id="16" name="Text 13"/>
          <p:cNvSpPr txBox="1"/>
          <p:nvPr/>
        </p:nvSpPr>
        <p:spPr>
          <a:xfrm>
            <a:off x="2697480" y="1901952"/>
            <a:ext cx="393192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apartment_hunter.ipynb</a:t>
            </a:r>
            <a:endParaRPr lang="en-US" sz="1100" dirty="0"/>
          </a:p>
        </p:txBody>
      </p:sp>
      <p:sp>
        <p:nvSpPr>
          <p:cNvPr id="17" name="étape notebook 1"/>
          <p:cNvSpPr/>
          <p:nvPr/>
        </p:nvSpPr>
        <p:spPr>
          <a:xfrm>
            <a:off x="2697480" y="2286000"/>
            <a:ext cx="1874520" cy="731520"/>
          </a:xfrm>
          <a:prstGeom prst="roundRect">
            <a:avLst>
              <a:gd name="adj" fmla="val 8750"/>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300" dirty="0">
                <a:solidFill>
                  <a:schemeClr val="bg1"/>
                </a:solidFill>
              </a:rPr>
              <a:t>Nettoyage</a:t>
            </a:r>
            <a:endParaRPr lang="en-US" sz="1300" dirty="0"/>
          </a:p>
        </p:txBody>
      </p:sp>
      <p:sp>
        <p:nvSpPr>
          <p:cNvPr id="18" name="flèche"/>
          <p:cNvSpPr/>
          <p:nvPr/>
        </p:nvSpPr>
        <p:spPr>
          <a:xfrm>
            <a:off x="3634740" y="3017520"/>
            <a:ext cx="0" cy="228600"/>
          </a:xfrm>
          <a:prstGeom prst="line">
            <a:avLst/>
          </a:prstGeom>
          <a:noFill/>
          <a:ln w="22225">
            <a:solidFill>
              <a:schemeClr val="accent1"/>
            </a:solidFill>
            <a:prstDash val="solid"/>
            <a:tailEnd type="triangle"/>
          </a:ln>
        </p:spPr>
      </p:sp>
      <p:sp>
        <p:nvSpPr>
          <p:cNvPr id="19" name="étape notebook 2"/>
          <p:cNvSpPr/>
          <p:nvPr/>
        </p:nvSpPr>
        <p:spPr>
          <a:xfrm>
            <a:off x="2697480" y="3246120"/>
            <a:ext cx="1874520" cy="731520"/>
          </a:xfrm>
          <a:prstGeom prst="roundRect">
            <a:avLst>
              <a:gd name="adj" fmla="val 8750"/>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300" dirty="0">
                <a:solidFill>
                  <a:schemeClr val="bg1"/>
                </a:solidFill>
              </a:rPr>
              <a:t>Analyse exploratoire</a:t>
            </a:r>
            <a:endParaRPr lang="en-US" sz="1300" dirty="0"/>
          </a:p>
        </p:txBody>
      </p:sp>
      <p:sp>
        <p:nvSpPr>
          <p:cNvPr id="20" name="flèche"/>
          <p:cNvSpPr/>
          <p:nvPr/>
        </p:nvSpPr>
        <p:spPr>
          <a:xfrm>
            <a:off x="3634740" y="3977640"/>
            <a:ext cx="0" cy="228600"/>
          </a:xfrm>
          <a:prstGeom prst="line">
            <a:avLst/>
          </a:prstGeom>
          <a:noFill/>
          <a:ln w="22225">
            <a:solidFill>
              <a:schemeClr val="accent1"/>
            </a:solidFill>
            <a:prstDash val="solid"/>
            <a:tailEnd type="triangle"/>
          </a:ln>
        </p:spPr>
      </p:sp>
      <p:sp>
        <p:nvSpPr>
          <p:cNvPr id="21" name="étape notebook 3"/>
          <p:cNvSpPr/>
          <p:nvPr/>
        </p:nvSpPr>
        <p:spPr>
          <a:xfrm>
            <a:off x="2697480" y="4206240"/>
            <a:ext cx="1874520" cy="731520"/>
          </a:xfrm>
          <a:prstGeom prst="roundRect">
            <a:avLst>
              <a:gd name="adj" fmla="val 8750"/>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300" dirty="0">
                <a:solidFill>
                  <a:schemeClr val="bg1"/>
                </a:solidFill>
              </a:rPr>
              <a:t>Sélection des variables</a:t>
            </a:r>
            <a:endParaRPr lang="en-US" sz="1300" dirty="0"/>
          </a:p>
          <a:p>
            <a:pPr algn="ctr" indent="0" marL="0">
              <a:buNone/>
            </a:pPr>
            <a:r>
              <a:rPr lang="en-US" sz="1300" dirty="0">
                <a:solidFill>
                  <a:schemeClr val="bg1"/>
                </a:solidFill>
              </a:rPr>
              <a:t>15 → 8</a:t>
            </a:r>
            <a:endParaRPr lang="en-US" sz="1300" dirty="0"/>
          </a:p>
        </p:txBody>
      </p:sp>
      <p:sp>
        <p:nvSpPr>
          <p:cNvPr id="22" name="flèche"/>
          <p:cNvSpPr/>
          <p:nvPr/>
        </p:nvSpPr>
        <p:spPr>
          <a:xfrm>
            <a:off x="3634740" y="4937760"/>
            <a:ext cx="0" cy="228600"/>
          </a:xfrm>
          <a:prstGeom prst="line">
            <a:avLst/>
          </a:prstGeom>
          <a:noFill/>
          <a:ln w="22225">
            <a:solidFill>
              <a:schemeClr val="accent1"/>
            </a:solidFill>
            <a:prstDash val="solid"/>
            <a:tailEnd type="triangle"/>
          </a:ln>
        </p:spPr>
      </p:sp>
      <p:sp>
        <p:nvSpPr>
          <p:cNvPr id="23" name="étape notebook 4"/>
          <p:cNvSpPr/>
          <p:nvPr/>
        </p:nvSpPr>
        <p:spPr>
          <a:xfrm>
            <a:off x="2697480" y="5166360"/>
            <a:ext cx="1874520" cy="731520"/>
          </a:xfrm>
          <a:prstGeom prst="roundRect">
            <a:avLst>
              <a:gd name="adj" fmla="val 8750"/>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300" dirty="0">
                <a:solidFill>
                  <a:schemeClr val="bg1"/>
                </a:solidFill>
              </a:rPr>
              <a:t>Train / Test</a:t>
            </a:r>
            <a:endParaRPr lang="en-US" sz="1300" dirty="0"/>
          </a:p>
          <a:p>
            <a:pPr algn="ctr" indent="0" marL="0">
              <a:buNone/>
            </a:pPr>
            <a:r>
              <a:rPr lang="en-US" sz="1300" dirty="0">
                <a:solidFill>
                  <a:schemeClr val="bg1"/>
                </a:solidFill>
              </a:rPr>
              <a:t>80 % / 20 %</a:t>
            </a:r>
            <a:endParaRPr lang="en-US" sz="1300" dirty="0"/>
          </a:p>
        </p:txBody>
      </p:sp>
      <p:sp>
        <p:nvSpPr>
          <p:cNvPr id="24" name="flèche"/>
          <p:cNvSpPr/>
          <p:nvPr/>
        </p:nvSpPr>
        <p:spPr>
          <a:xfrm>
            <a:off x="4572000" y="5532120"/>
            <a:ext cx="228600" cy="0"/>
          </a:xfrm>
          <a:prstGeom prst="line">
            <a:avLst/>
          </a:prstGeom>
          <a:noFill/>
          <a:ln w="22225">
            <a:solidFill>
              <a:schemeClr val="accent1"/>
            </a:solidFill>
            <a:prstDash val="solid"/>
            <a:tailEnd type="triangle"/>
          </a:ln>
        </p:spPr>
      </p:sp>
      <p:sp>
        <p:nvSpPr>
          <p:cNvPr id="25" name="3 modèles"/>
          <p:cNvSpPr/>
          <p:nvPr/>
        </p:nvSpPr>
        <p:spPr>
          <a:xfrm>
            <a:off x="4800600" y="5166360"/>
            <a:ext cx="1874520" cy="731520"/>
          </a:xfrm>
          <a:prstGeom prst="roundRect">
            <a:avLst>
              <a:gd name="adj" fmla="val 8750"/>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200" dirty="0">
                <a:solidFill>
                  <a:schemeClr val="bg1"/>
                </a:solidFill>
              </a:rPr>
              <a:t>Régression linéaire</a:t>
            </a:r>
            <a:endParaRPr lang="en-US" sz="1200" dirty="0"/>
          </a:p>
          <a:p>
            <a:pPr algn="ctr" indent="0" marL="0">
              <a:buNone/>
            </a:pPr>
            <a:r>
              <a:rPr lang="en-US" sz="1200" dirty="0">
                <a:solidFill>
                  <a:schemeClr val="bg1"/>
                </a:solidFill>
              </a:rPr>
              <a:t>Arbre de décision</a:t>
            </a:r>
            <a:endParaRPr lang="en-US" sz="1200" dirty="0"/>
          </a:p>
          <a:p>
            <a:pPr algn="ctr" indent="0" marL="0">
              <a:buNone/>
            </a:pPr>
            <a:r>
              <a:rPr lang="en-US" sz="1200" dirty="0">
                <a:solidFill>
                  <a:schemeClr val="bg1"/>
                </a:solidFill>
              </a:rPr>
              <a:t>Random Forest</a:t>
            </a:r>
            <a:endParaRPr lang="en-US" sz="1200" dirty="0"/>
          </a:p>
        </p:txBody>
      </p:sp>
      <p:sp>
        <p:nvSpPr>
          <p:cNvPr id="26" name="validation croisée"/>
          <p:cNvSpPr/>
          <p:nvPr/>
        </p:nvSpPr>
        <p:spPr>
          <a:xfrm>
            <a:off x="4800600" y="4206240"/>
            <a:ext cx="1874520" cy="731520"/>
          </a:xfrm>
          <a:prstGeom prst="roundRect">
            <a:avLst>
              <a:gd name="adj" fmla="val 8750"/>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300" dirty="0">
                <a:solidFill>
                  <a:schemeClr val="bg1"/>
                </a:solidFill>
              </a:rPr>
              <a:t>Validation croisée</a:t>
            </a:r>
            <a:endParaRPr lang="en-US" sz="1300" dirty="0"/>
          </a:p>
          <a:p>
            <a:pPr algn="ctr" indent="0" marL="0">
              <a:buNone/>
            </a:pPr>
            <a:r>
              <a:rPr lang="en-US" sz="1300" dirty="0">
                <a:solidFill>
                  <a:schemeClr val="bg1"/>
                </a:solidFill>
              </a:rPr>
              <a:t>3 parts</a:t>
            </a:r>
            <a:endParaRPr lang="en-US" sz="1300" dirty="0"/>
          </a:p>
        </p:txBody>
      </p:sp>
      <p:sp>
        <p:nvSpPr>
          <p:cNvPr id="27" name="grid search"/>
          <p:cNvSpPr/>
          <p:nvPr/>
        </p:nvSpPr>
        <p:spPr>
          <a:xfrm>
            <a:off x="4800600" y="3246120"/>
            <a:ext cx="1874520" cy="731520"/>
          </a:xfrm>
          <a:prstGeom prst="roundRect">
            <a:avLst>
              <a:gd name="adj" fmla="val 8750"/>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300" dirty="0">
                <a:solidFill>
                  <a:schemeClr val="bg1"/>
                </a:solidFill>
              </a:rPr>
              <a:t>Grid Search</a:t>
            </a:r>
            <a:endParaRPr lang="en-US" sz="1300" dirty="0"/>
          </a:p>
          <a:p>
            <a:pPr algn="ctr" indent="0" marL="0">
              <a:buNone/>
            </a:pPr>
            <a:r>
              <a:rPr lang="en-US" sz="1300" dirty="0">
                <a:solidFill>
                  <a:schemeClr val="bg1"/>
                </a:solidFill>
              </a:rPr>
              <a:t>12 combinaisons</a:t>
            </a:r>
            <a:endParaRPr lang="en-US" sz="1300" dirty="0"/>
          </a:p>
        </p:txBody>
      </p:sp>
      <p:sp>
        <p:nvSpPr>
          <p:cNvPr id="28" name="random forest finale"/>
          <p:cNvSpPr/>
          <p:nvPr/>
        </p:nvSpPr>
        <p:spPr>
          <a:xfrm>
            <a:off x="4800600" y="2286000"/>
            <a:ext cx="1874520" cy="731520"/>
          </a:xfrm>
          <a:prstGeom prst="roundRect">
            <a:avLst>
              <a:gd name="adj" fmla="val 8750"/>
            </a:avLst>
          </a:prstGeom>
          <a:solidFill>
            <a:schemeClr val="tx2"/>
          </a:solidFill>
          <a:ln w="19050">
            <a:solidFill>
              <a:schemeClr val="accent3"/>
            </a:solidFill>
            <a:prstDash val="solid"/>
          </a:ln>
        </p:spPr>
        <p:txBody>
          <a:bodyPr wrap="square" lIns="50800" tIns="50800" rIns="50800" bIns="50800" rtlCol="0" anchor="ctr"/>
          <a:lstStyle/>
          <a:p>
            <a:pPr algn="ctr" indent="0" marL="0">
              <a:buNone/>
            </a:pPr>
            <a:r>
              <a:rPr lang="en-US" sz="1400" b="1" dirty="0">
                <a:solidFill>
                  <a:schemeClr val="accent3"/>
                </a:solidFill>
              </a:rPr>
              <a:t>Random Forest</a:t>
            </a:r>
            <a:endParaRPr lang="en-US" sz="1400" dirty="0"/>
          </a:p>
          <a:p>
            <a:pPr algn="ctr" indent="0" marL="0">
              <a:buNone/>
            </a:pPr>
            <a:r>
              <a:rPr lang="en-US" sz="1400" b="1" dirty="0">
                <a:solidFill>
                  <a:schemeClr val="accent3"/>
                </a:solidFill>
              </a:rPr>
              <a:t>finale</a:t>
            </a:r>
            <a:endParaRPr lang="en-US" sz="1400" dirty="0"/>
          </a:p>
        </p:txBody>
      </p:sp>
      <p:sp>
        <p:nvSpPr>
          <p:cNvPr id="29" name="flèche"/>
          <p:cNvSpPr/>
          <p:nvPr/>
        </p:nvSpPr>
        <p:spPr>
          <a:xfrm flipV="1">
            <a:off x="5737860" y="4937760"/>
            <a:ext cx="0" cy="228600"/>
          </a:xfrm>
          <a:prstGeom prst="line">
            <a:avLst/>
          </a:prstGeom>
          <a:noFill/>
          <a:ln w="22225">
            <a:solidFill>
              <a:schemeClr val="accent1"/>
            </a:solidFill>
            <a:prstDash val="solid"/>
            <a:tailEnd type="triangle"/>
          </a:ln>
        </p:spPr>
      </p:sp>
      <p:sp>
        <p:nvSpPr>
          <p:cNvPr id="30" name="flèche"/>
          <p:cNvSpPr/>
          <p:nvPr/>
        </p:nvSpPr>
        <p:spPr>
          <a:xfrm flipV="1">
            <a:off x="5737860" y="3977640"/>
            <a:ext cx="0" cy="228600"/>
          </a:xfrm>
          <a:prstGeom prst="line">
            <a:avLst/>
          </a:prstGeom>
          <a:noFill/>
          <a:ln w="22225">
            <a:solidFill>
              <a:schemeClr val="accent1"/>
            </a:solidFill>
            <a:prstDash val="solid"/>
            <a:tailEnd type="triangle"/>
          </a:ln>
        </p:spPr>
      </p:sp>
      <p:sp>
        <p:nvSpPr>
          <p:cNvPr id="31" name="flèche"/>
          <p:cNvSpPr/>
          <p:nvPr/>
        </p:nvSpPr>
        <p:spPr>
          <a:xfrm flipV="1">
            <a:off x="5737860" y="3017520"/>
            <a:ext cx="0" cy="228600"/>
          </a:xfrm>
          <a:prstGeom prst="line">
            <a:avLst/>
          </a:prstGeom>
          <a:noFill/>
          <a:ln w="22225">
            <a:solidFill>
              <a:schemeClr val="accent1"/>
            </a:solidFill>
            <a:prstDash val="solid"/>
            <a:tailEnd type="triangle"/>
          </a:ln>
        </p:spPr>
      </p:sp>
      <p:sp>
        <p:nvSpPr>
          <p:cNvPr id="32" name="flèche"/>
          <p:cNvSpPr/>
          <p:nvPr/>
        </p:nvSpPr>
        <p:spPr>
          <a:xfrm>
            <a:off x="6675120" y="2651760"/>
            <a:ext cx="411480" cy="0"/>
          </a:xfrm>
          <a:prstGeom prst="line">
            <a:avLst/>
          </a:prstGeom>
          <a:noFill/>
          <a:ln w="22225">
            <a:solidFill>
              <a:schemeClr val="accent3"/>
            </a:solidFill>
            <a:prstDash val="solid"/>
            <a:tailEnd type="triangle"/>
          </a:ln>
        </p:spPr>
      </p:sp>
      <p:sp>
        <p:nvSpPr>
          <p:cNvPr id="33" name="joblib"/>
          <p:cNvSpPr/>
          <p:nvPr/>
        </p:nvSpPr>
        <p:spPr>
          <a:xfrm>
            <a:off x="7086600" y="2286000"/>
            <a:ext cx="1234440" cy="731520"/>
          </a:xfrm>
          <a:prstGeom prst="roundRect">
            <a:avLst>
              <a:gd name="adj" fmla="val 8750"/>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joblib</a:t>
            </a:r>
            <a:endParaRPr lang="en-US" sz="1300" dirty="0"/>
          </a:p>
          <a:p>
            <a:pPr algn="ctr" indent="0" marL="0">
              <a:buNone/>
            </a:pPr>
            <a:r>
              <a:rPr lang="en-US" sz="1300" dirty="0">
                <a:solidFill>
                  <a:schemeClr val="bg1"/>
                </a:solidFill>
                <a:latin typeface="Courier New" pitchFamily="34" charset="0"/>
                <a:ea typeface="Courier New" pitchFamily="34" charset="-122"/>
                <a:cs typeface="Courier New" pitchFamily="34" charset="-120"/>
              </a:rPr>
              <a:t>dump()</a:t>
            </a:r>
            <a:endParaRPr lang="en-US" sz="1300" dirty="0"/>
          </a:p>
        </p:txBody>
      </p:sp>
      <p:sp>
        <p:nvSpPr>
          <p:cNvPr id="34" name="flèche"/>
          <p:cNvSpPr/>
          <p:nvPr/>
        </p:nvSpPr>
        <p:spPr>
          <a:xfrm>
            <a:off x="7703820" y="3017520"/>
            <a:ext cx="0" cy="228600"/>
          </a:xfrm>
          <a:prstGeom prst="line">
            <a:avLst/>
          </a:prstGeom>
          <a:noFill/>
          <a:ln w="22225">
            <a:solidFill>
              <a:schemeClr val="accent3"/>
            </a:solidFill>
            <a:prstDash val="solid"/>
            <a:tailEnd type="triangle"/>
          </a:ln>
        </p:spPr>
      </p:sp>
      <p:sp>
        <p:nvSpPr>
          <p:cNvPr id="35" name="model.pkl"/>
          <p:cNvSpPr/>
          <p:nvPr/>
        </p:nvSpPr>
        <p:spPr>
          <a:xfrm>
            <a:off x="7086600" y="3246120"/>
            <a:ext cx="1234440" cy="731520"/>
          </a:xfrm>
          <a:prstGeom prst="roundRect">
            <a:avLst>
              <a:gd name="adj" fmla="val 8750"/>
            </a:avLst>
          </a:prstGeom>
          <a:solidFill>
            <a:schemeClr val="tx2"/>
          </a:solidFill>
          <a:ln w="19050">
            <a:solidFill>
              <a:schemeClr val="accent3"/>
            </a:solidFill>
            <a:prstDash val="solid"/>
          </a:ln>
        </p:spPr>
        <p:txBody>
          <a:bodyPr wrap="square" lIns="50800" tIns="50800" rIns="50800" bIns="50800" rtlCol="0" anchor="ctr"/>
          <a:lstStyle/>
          <a:p>
            <a:pPr algn="ctr" indent="0" marL="0">
              <a:buNone/>
            </a:pPr>
            <a:r>
              <a:rPr lang="en-US" sz="1300" b="1" dirty="0">
                <a:solidFill>
                  <a:schemeClr val="accent3"/>
                </a:solidFill>
                <a:latin typeface="Courier New" pitchFamily="34" charset="0"/>
                <a:ea typeface="Courier New" pitchFamily="34" charset="-122"/>
                <a:cs typeface="Courier New" pitchFamily="34" charset="-120"/>
              </a:rPr>
              <a:t>model.pkl</a:t>
            </a:r>
            <a:endParaRPr lang="en-US" sz="1300" dirty="0"/>
          </a:p>
          <a:p>
            <a:pPr algn="ctr" indent="0" marL="0">
              <a:buNone/>
            </a:pPr>
            <a:r>
              <a:rPr lang="en-US" sz="1300" dirty="0">
                <a:solidFill>
                  <a:schemeClr val="bg2"/>
                </a:solidFill>
              </a:rPr>
              <a:t>26,3 Mo</a:t>
            </a:r>
            <a:endParaRPr lang="en-US" sz="1300" dirty="0"/>
          </a:p>
        </p:txBody>
      </p:sp>
      <p:sp>
        <p:nvSpPr>
          <p:cNvPr id="36" name="flèche"/>
          <p:cNvSpPr/>
          <p:nvPr/>
        </p:nvSpPr>
        <p:spPr>
          <a:xfrm>
            <a:off x="8321040" y="3611880"/>
            <a:ext cx="365760" cy="0"/>
          </a:xfrm>
          <a:prstGeom prst="line">
            <a:avLst/>
          </a:prstGeom>
          <a:noFill/>
          <a:ln w="22225">
            <a:solidFill>
              <a:schemeClr val="accent3"/>
            </a:solidFill>
            <a:prstDash val="solid"/>
            <a:tailEnd type="triangle"/>
          </a:ln>
        </p:spPr>
      </p:sp>
      <p:sp>
        <p:nvSpPr>
          <p:cNvPr id="37" name="utilisateur"/>
          <p:cNvSpPr/>
          <p:nvPr/>
        </p:nvSpPr>
        <p:spPr>
          <a:xfrm>
            <a:off x="8686800" y="1783080"/>
            <a:ext cx="2834640" cy="457200"/>
          </a:xfrm>
          <a:prstGeom prst="roundRect">
            <a:avLst>
              <a:gd name="adj" fmla="val 14000"/>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300" dirty="0">
                <a:solidFill>
                  <a:schemeClr val="bg1"/>
                </a:solidFill>
              </a:rPr>
              <a:t>Utilisateur  ·  navigateur</a:t>
            </a:r>
            <a:endParaRPr lang="en-US" sz="1300" dirty="0"/>
          </a:p>
        </p:txBody>
      </p:sp>
      <p:sp>
        <p:nvSpPr>
          <p:cNvPr id="38" name="conteneur docker"/>
          <p:cNvSpPr/>
          <p:nvPr/>
        </p:nvSpPr>
        <p:spPr>
          <a:xfrm>
            <a:off x="8549640" y="2468880"/>
            <a:ext cx="3108960" cy="3794760"/>
          </a:xfrm>
          <a:prstGeom prst="roundRect">
            <a:avLst>
              <a:gd name="adj" fmla="val 2353"/>
            </a:avLst>
          </a:prstGeom>
          <a:solidFill>
            <a:schemeClr val="accent6"/>
          </a:solidFill>
          <a:ln w="15875">
            <a:solidFill>
              <a:schemeClr val="bg2"/>
            </a:solidFill>
            <a:prstDash val="dash"/>
          </a:ln>
        </p:spPr>
      </p:sp>
      <p:sp>
        <p:nvSpPr>
          <p:cNvPr id="39" name="Docker cercle"/>
          <p:cNvSpPr/>
          <p:nvPr/>
        </p:nvSpPr>
        <p:spPr>
          <a:xfrm>
            <a:off x="8686800" y="2542032"/>
            <a:ext cx="420624" cy="420624"/>
          </a:xfrm>
          <a:prstGeom prst="ellipse">
            <a:avLst/>
          </a:prstGeom>
          <a:solidFill>
            <a:schemeClr val="accent6"/>
          </a:solidFill>
          <a:ln w="12700">
            <a:solidFill>
              <a:schemeClr val="accent5"/>
            </a:solidFill>
            <a:prstDash val="solid"/>
          </a:ln>
        </p:spPr>
      </p:sp>
      <p:pic>
        <p:nvPicPr>
          <p:cNvPr id="40" name="Docker icône" descr="Docker">    </p:cNvPr>
          <p:cNvPicPr>
            <a:picLocks noChangeAspect="1"/>
          </p:cNvPicPr>
          <p:nvPr/>
        </p:nvPicPr>
        <p:blipFill>
          <a:blip r:embed="rId2"/>
          <a:stretch>
            <a:fillRect/>
          </a:stretch>
        </p:blipFill>
        <p:spPr>
          <a:xfrm>
            <a:off x="8796162" y="2651394"/>
            <a:ext cx="201900" cy="201900"/>
          </a:xfrm>
          <a:prstGeom prst="rect">
            <a:avLst/>
          </a:prstGeom>
        </p:spPr>
      </p:pic>
      <p:sp>
        <p:nvSpPr>
          <p:cNvPr id="41" name="Text 37"/>
          <p:cNvSpPr txBox="1"/>
          <p:nvPr/>
        </p:nvSpPr>
        <p:spPr>
          <a:xfrm>
            <a:off x="9171432" y="2587752"/>
            <a:ext cx="2011680" cy="329184"/>
          </a:xfrm>
          <a:prstGeom prst="rect">
            <a:avLst/>
          </a:prstGeom>
          <a:noFill/>
          <a:ln/>
        </p:spPr>
        <p:txBody>
          <a:bodyPr wrap="square" lIns="0" tIns="0" rIns="0" bIns="0" rtlCol="0" anchor="ctr"/>
          <a:lstStyle/>
          <a:p>
            <a:pPr indent="0" marL="0">
              <a:buNone/>
            </a:pPr>
            <a:r>
              <a:rPr lang="en-US" sz="1200" b="1" spc="100" kern="0" dirty="0">
                <a:solidFill>
                  <a:schemeClr val="bg1"/>
                </a:solidFill>
              </a:rPr>
              <a:t>CONTENEUR DOCKER</a:t>
            </a:r>
            <a:endParaRPr lang="en-US" sz="1200" dirty="0"/>
          </a:p>
        </p:txBody>
      </p:sp>
      <p:sp>
        <p:nvSpPr>
          <p:cNvPr id="42" name="application flask"/>
          <p:cNvSpPr/>
          <p:nvPr/>
        </p:nvSpPr>
        <p:spPr>
          <a:xfrm>
            <a:off x="8686800" y="3063240"/>
            <a:ext cx="2834640" cy="2514600"/>
          </a:xfrm>
          <a:prstGeom prst="roundRect">
            <a:avLst>
              <a:gd name="adj" fmla="val 2909"/>
            </a:avLst>
          </a:prstGeom>
          <a:solidFill>
            <a:schemeClr val="tx2"/>
          </a:solidFill>
          <a:ln w="19050">
            <a:solidFill>
              <a:schemeClr val="accent2"/>
            </a:solidFill>
            <a:prstDash val="solid"/>
          </a:ln>
        </p:spPr>
      </p:sp>
      <p:sp>
        <p:nvSpPr>
          <p:cNvPr id="43" name="Text 39"/>
          <p:cNvSpPr txBox="1"/>
          <p:nvPr/>
        </p:nvSpPr>
        <p:spPr>
          <a:xfrm>
            <a:off x="8823960" y="3127248"/>
            <a:ext cx="256032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FLASK  ·  app.py</a:t>
            </a:r>
            <a:endParaRPr lang="en-US" sz="1100" dirty="0"/>
          </a:p>
        </p:txBody>
      </p:sp>
      <p:sp>
        <p:nvSpPr>
          <p:cNvPr id="44" name="flèche"/>
          <p:cNvSpPr/>
          <p:nvPr/>
        </p:nvSpPr>
        <p:spPr>
          <a:xfrm>
            <a:off x="11247120" y="2240280"/>
            <a:ext cx="0" cy="822960"/>
          </a:xfrm>
          <a:prstGeom prst="line">
            <a:avLst/>
          </a:prstGeom>
          <a:noFill/>
          <a:ln w="22225">
            <a:solidFill>
              <a:schemeClr val="accent2"/>
            </a:solidFill>
            <a:prstDash val="solid"/>
            <a:tailEnd type="triangle"/>
          </a:ln>
        </p:spPr>
      </p:sp>
      <p:sp>
        <p:nvSpPr>
          <p:cNvPr id="45" name="numéro 1"/>
          <p:cNvSpPr/>
          <p:nvPr/>
        </p:nvSpPr>
        <p:spPr>
          <a:xfrm>
            <a:off x="8823960" y="3511296"/>
            <a:ext cx="274320" cy="274320"/>
          </a:xfrm>
          <a:prstGeom prst="ellipse">
            <a:avLst/>
          </a:prstGeom>
          <a:solidFill>
            <a:schemeClr val="accent2"/>
          </a:solidFill>
          <a:ln/>
        </p:spPr>
      </p:sp>
      <p:sp>
        <p:nvSpPr>
          <p:cNvPr id="46" name="Text 42"/>
          <p:cNvSpPr txBox="1"/>
          <p:nvPr/>
        </p:nvSpPr>
        <p:spPr>
          <a:xfrm>
            <a:off x="8823960" y="3511296"/>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47" name="Text 43"/>
          <p:cNvSpPr txBox="1"/>
          <p:nvPr/>
        </p:nvSpPr>
        <p:spPr>
          <a:xfrm>
            <a:off x="9189720" y="3474720"/>
            <a:ext cx="2286000" cy="347472"/>
          </a:xfrm>
          <a:prstGeom prst="rect">
            <a:avLst/>
          </a:prstGeom>
          <a:noFill/>
          <a:ln/>
        </p:spPr>
        <p:txBody>
          <a:bodyPr wrap="square" lIns="0" tIns="0" rIns="0" bIns="0" rtlCol="0" anchor="ctr"/>
          <a:lstStyle/>
          <a:p>
            <a:pPr indent="0" marL="0">
              <a:buNone/>
            </a:pPr>
            <a:r>
              <a:rPr lang="en-US" sz="1200" dirty="0">
                <a:solidFill>
                  <a:schemeClr val="bg1"/>
                </a:solidFill>
              </a:rPr>
              <a:t>Formulaire HTML (index.html)</a:t>
            </a:r>
            <a:endParaRPr lang="en-US" sz="1200" dirty="0"/>
          </a:p>
        </p:txBody>
      </p:sp>
      <p:sp>
        <p:nvSpPr>
          <p:cNvPr id="48" name="numéro 2"/>
          <p:cNvSpPr/>
          <p:nvPr/>
        </p:nvSpPr>
        <p:spPr>
          <a:xfrm>
            <a:off x="8823960" y="3922776"/>
            <a:ext cx="274320" cy="274320"/>
          </a:xfrm>
          <a:prstGeom prst="ellipse">
            <a:avLst/>
          </a:prstGeom>
          <a:solidFill>
            <a:schemeClr val="accent2"/>
          </a:solidFill>
          <a:ln/>
        </p:spPr>
      </p:sp>
      <p:sp>
        <p:nvSpPr>
          <p:cNvPr id="49" name="Text 45"/>
          <p:cNvSpPr txBox="1"/>
          <p:nvPr/>
        </p:nvSpPr>
        <p:spPr>
          <a:xfrm>
            <a:off x="8823960" y="3922776"/>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50" name="Text 46"/>
          <p:cNvSpPr txBox="1"/>
          <p:nvPr/>
        </p:nvSpPr>
        <p:spPr>
          <a:xfrm>
            <a:off x="9189720" y="3886200"/>
            <a:ext cx="2286000" cy="347472"/>
          </a:xfrm>
          <a:prstGeom prst="rect">
            <a:avLst/>
          </a:prstGeom>
          <a:noFill/>
          <a:ln/>
        </p:spPr>
        <p:txBody>
          <a:bodyPr wrap="square" lIns="0" tIns="0" rIns="0" bIns="0" rtlCol="0" anchor="ctr"/>
          <a:lstStyle/>
          <a:p>
            <a:pPr indent="0" marL="0">
              <a:buNone/>
            </a:pPr>
            <a:r>
              <a:rPr lang="en-US" sz="1200" dirty="0">
                <a:solidFill>
                  <a:schemeClr val="bg1"/>
                </a:solidFill>
              </a:rPr>
              <a:t>Récupère les 8 valeurs</a:t>
            </a:r>
            <a:endParaRPr lang="en-US" sz="1200" dirty="0"/>
          </a:p>
        </p:txBody>
      </p:sp>
      <p:sp>
        <p:nvSpPr>
          <p:cNvPr id="51" name="numéro 3"/>
          <p:cNvSpPr/>
          <p:nvPr/>
        </p:nvSpPr>
        <p:spPr>
          <a:xfrm>
            <a:off x="8823960" y="4334256"/>
            <a:ext cx="274320" cy="274320"/>
          </a:xfrm>
          <a:prstGeom prst="ellipse">
            <a:avLst/>
          </a:prstGeom>
          <a:solidFill>
            <a:schemeClr val="accent2"/>
          </a:solidFill>
          <a:ln/>
        </p:spPr>
      </p:sp>
      <p:sp>
        <p:nvSpPr>
          <p:cNvPr id="52" name="Text 48"/>
          <p:cNvSpPr txBox="1"/>
          <p:nvPr/>
        </p:nvSpPr>
        <p:spPr>
          <a:xfrm>
            <a:off x="8823960" y="4334256"/>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53" name="Text 49"/>
          <p:cNvSpPr txBox="1"/>
          <p:nvPr/>
        </p:nvSpPr>
        <p:spPr>
          <a:xfrm>
            <a:off x="9189720" y="4297680"/>
            <a:ext cx="2286000" cy="347472"/>
          </a:xfrm>
          <a:prstGeom prst="rect">
            <a:avLst/>
          </a:prstGeom>
          <a:noFill/>
          <a:ln/>
        </p:spPr>
        <p:txBody>
          <a:bodyPr wrap="square" lIns="0" tIns="0" rIns="0" bIns="0" rtlCol="0" anchor="ctr"/>
          <a:lstStyle/>
          <a:p>
            <a:pPr indent="0" marL="0">
              <a:buNone/>
            </a:pPr>
            <a:r>
              <a:rPr lang="en-US" sz="1200" dirty="0">
                <a:solidFill>
                  <a:schemeClr val="bg1"/>
                </a:solidFill>
              </a:rPr>
              <a:t>DataFrame pandas</a:t>
            </a:r>
            <a:endParaRPr lang="en-US" sz="1200" dirty="0"/>
          </a:p>
        </p:txBody>
      </p:sp>
      <p:sp>
        <p:nvSpPr>
          <p:cNvPr id="54" name="numéro 4"/>
          <p:cNvSpPr/>
          <p:nvPr/>
        </p:nvSpPr>
        <p:spPr>
          <a:xfrm>
            <a:off x="8823960" y="4745736"/>
            <a:ext cx="274320" cy="274320"/>
          </a:xfrm>
          <a:prstGeom prst="ellipse">
            <a:avLst/>
          </a:prstGeom>
          <a:solidFill>
            <a:schemeClr val="accent2"/>
          </a:solidFill>
          <a:ln/>
        </p:spPr>
      </p:sp>
      <p:sp>
        <p:nvSpPr>
          <p:cNvPr id="55" name="Text 51"/>
          <p:cNvSpPr txBox="1"/>
          <p:nvPr/>
        </p:nvSpPr>
        <p:spPr>
          <a:xfrm>
            <a:off x="8823960" y="4745736"/>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56" name="Text 52"/>
          <p:cNvSpPr txBox="1"/>
          <p:nvPr/>
        </p:nvSpPr>
        <p:spPr>
          <a:xfrm>
            <a:off x="9189720" y="4709160"/>
            <a:ext cx="2286000" cy="347472"/>
          </a:xfrm>
          <a:prstGeom prst="rect">
            <a:avLst/>
          </a:prstGeom>
          <a:noFill/>
          <a:ln/>
        </p:spPr>
        <p:txBody>
          <a:bodyPr wrap="square" lIns="0" tIns="0" rIns="0" bIns="0" rtlCol="0" anchor="ctr"/>
          <a:lstStyle/>
          <a:p>
            <a:pPr indent="0" marL="0">
              <a:buNone/>
            </a:pPr>
            <a:r>
              <a:rPr lang="en-US" sz="1200" dirty="0">
                <a:solidFill>
                  <a:schemeClr val="bg1"/>
                </a:solidFill>
              </a:rPr>
              <a:t>model.pkl → predict()</a:t>
            </a:r>
            <a:endParaRPr lang="en-US" sz="1200" dirty="0"/>
          </a:p>
        </p:txBody>
      </p:sp>
      <p:sp>
        <p:nvSpPr>
          <p:cNvPr id="57" name="numéro 5"/>
          <p:cNvSpPr/>
          <p:nvPr/>
        </p:nvSpPr>
        <p:spPr>
          <a:xfrm>
            <a:off x="8823960" y="5157216"/>
            <a:ext cx="274320" cy="274320"/>
          </a:xfrm>
          <a:prstGeom prst="ellipse">
            <a:avLst/>
          </a:prstGeom>
          <a:solidFill>
            <a:schemeClr val="accent3"/>
          </a:solidFill>
          <a:ln/>
        </p:spPr>
      </p:sp>
      <p:sp>
        <p:nvSpPr>
          <p:cNvPr id="58" name="Text 54"/>
          <p:cNvSpPr txBox="1"/>
          <p:nvPr/>
        </p:nvSpPr>
        <p:spPr>
          <a:xfrm>
            <a:off x="8823960" y="5157216"/>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5</a:t>
            </a:r>
            <a:endParaRPr lang="en-US" sz="1100" dirty="0"/>
          </a:p>
        </p:txBody>
      </p:sp>
      <p:sp>
        <p:nvSpPr>
          <p:cNvPr id="59" name="Text 55"/>
          <p:cNvSpPr txBox="1"/>
          <p:nvPr/>
        </p:nvSpPr>
        <p:spPr>
          <a:xfrm>
            <a:off x="9189720" y="5120640"/>
            <a:ext cx="2286000" cy="347472"/>
          </a:xfrm>
          <a:prstGeom prst="rect">
            <a:avLst/>
          </a:prstGeom>
          <a:noFill/>
          <a:ln/>
        </p:spPr>
        <p:txBody>
          <a:bodyPr wrap="square" lIns="0" tIns="0" rIns="0" bIns="0" rtlCol="0" anchor="ctr"/>
          <a:lstStyle/>
          <a:p>
            <a:pPr indent="0" marL="0">
              <a:buNone/>
            </a:pPr>
            <a:r>
              <a:rPr lang="en-US" sz="1200" b="1" dirty="0">
                <a:solidFill>
                  <a:schemeClr val="accent3"/>
                </a:solidFill>
              </a:rPr>
              <a:t>Prix estimé</a:t>
            </a:r>
            <a:endParaRPr lang="en-US" sz="1200" dirty="0"/>
          </a:p>
        </p:txBody>
      </p:sp>
      <p:sp>
        <p:nvSpPr>
          <p:cNvPr id="60" name="Text 56"/>
          <p:cNvSpPr txBox="1"/>
          <p:nvPr/>
        </p:nvSpPr>
        <p:spPr>
          <a:xfrm>
            <a:off x="8686800" y="5669280"/>
            <a:ext cx="2834640" cy="502920"/>
          </a:xfrm>
          <a:prstGeom prst="rect">
            <a:avLst/>
          </a:prstGeom>
          <a:noFill/>
          <a:ln/>
        </p:spPr>
        <p:txBody>
          <a:bodyPr wrap="square" lIns="0" tIns="0" rIns="0" bIns="0" rtlCol="0" anchor="ctr"/>
          <a:lstStyle/>
          <a:p>
            <a:pPr algn="ctr" indent="0" marL="0">
              <a:buNone/>
            </a:pPr>
            <a:r>
              <a:rPr lang="en-US" sz="1100" dirty="0">
                <a:solidFill>
                  <a:schemeClr val="bg2"/>
                </a:solidFill>
              </a:rPr>
              <a:t>Python 3.12 · pandas · scikit-learn</a:t>
            </a:r>
            <a:endParaRPr lang="en-US" sz="1100" dirty="0"/>
          </a:p>
          <a:p>
            <a:pPr algn="ctr" indent="0" marL="0">
              <a:buNone/>
            </a:pPr>
            <a:r>
              <a:rPr lang="en-US" sz="1100" dirty="0">
                <a:solidFill>
                  <a:schemeClr val="bg2"/>
                </a:solidFill>
              </a:rPr>
              <a:t>joblib · HTML / CSS</a:t>
            </a:r>
            <a:endParaRPr lang="en-US" sz="11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03  ·  ORGANISATION</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Feuille de route et Trello</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1"/>
            </a:solidFill>
          </a:ln>
        </p:spPr>
        <p:txBody>
          <a:bodyPr wrap="square" lIns="0" tIns="0" rIns="0" bIns="0" rtlCol="0" anchor="ctr"/>
          <a:lstStyle/>
          <a:p>
            <a:pPr algn="ctr" indent="0" marL="0">
              <a:buNone/>
            </a:pPr>
            <a:r>
              <a:rPr lang="en-US" sz="1300" b="1" dirty="0">
                <a:solidFill>
                  <a:schemeClr val="accent1"/>
                </a:solidFill>
              </a:rPr>
              <a:t>Romain</a:t>
            </a:r>
            <a:endParaRPr lang="en-US" sz="1300" dirty="0"/>
          </a:p>
        </p:txBody>
      </p:sp>
      <p:sp>
        <p:nvSpPr>
          <p:cNvPr id="5" name="Text 3"/>
          <p:cNvSpPr txBox="1"/>
          <p:nvPr/>
        </p:nvSpPr>
        <p:spPr>
          <a:xfrm>
            <a:off x="548640" y="1463040"/>
            <a:ext cx="694944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FEUILLE DE ROUTE  ·  6,5 JOURS</a:t>
            </a:r>
            <a:endParaRPr lang="en-US" sz="1200" dirty="0"/>
          </a:p>
        </p:txBody>
      </p:sp>
      <p:sp>
        <p:nvSpPr>
          <p:cNvPr id="6" name="Text 4"/>
          <p:cNvSpPr txBox="1"/>
          <p:nvPr/>
        </p:nvSpPr>
        <p:spPr>
          <a:xfrm>
            <a:off x="548640" y="1920240"/>
            <a:ext cx="3200400" cy="502920"/>
          </a:xfrm>
          <a:prstGeom prst="rect">
            <a:avLst/>
          </a:prstGeom>
          <a:noFill/>
          <a:ln/>
        </p:spPr>
        <p:txBody>
          <a:bodyPr wrap="square" lIns="0" tIns="0" rIns="0" bIns="0" rtlCol="0" anchor="ctr"/>
          <a:lstStyle/>
          <a:p>
            <a:pPr indent="0" marL="0">
              <a:buNone/>
            </a:pPr>
            <a:r>
              <a:rPr lang="en-US" sz="1400" dirty="0">
                <a:solidFill>
                  <a:schemeClr val="bg1"/>
                </a:solidFill>
              </a:rPr>
              <a:t>Mise en place, compréhension des données</a:t>
            </a:r>
            <a:endParaRPr lang="en-US" sz="1400" dirty="0"/>
          </a:p>
        </p:txBody>
      </p:sp>
      <p:sp>
        <p:nvSpPr>
          <p:cNvPr id="7" name="phase 1"/>
          <p:cNvSpPr/>
          <p:nvPr/>
        </p:nvSpPr>
        <p:spPr>
          <a:xfrm>
            <a:off x="3840480" y="1993392"/>
            <a:ext cx="457200" cy="365760"/>
          </a:xfrm>
          <a:prstGeom prst="roundRect">
            <a:avLst>
              <a:gd name="adj" fmla="val 12500"/>
            </a:avLst>
          </a:prstGeom>
          <a:solidFill>
            <a:schemeClr val="bg2"/>
          </a:solidFill>
          <a:ln/>
        </p:spPr>
      </p:sp>
      <p:sp>
        <p:nvSpPr>
          <p:cNvPr id="8" name="Text 6"/>
          <p:cNvSpPr txBox="1"/>
          <p:nvPr/>
        </p:nvSpPr>
        <p:spPr>
          <a:xfrm>
            <a:off x="4389120" y="1920240"/>
            <a:ext cx="1463040" cy="502920"/>
          </a:xfrm>
          <a:prstGeom prst="rect">
            <a:avLst/>
          </a:prstGeom>
          <a:noFill/>
          <a:ln/>
        </p:spPr>
        <p:txBody>
          <a:bodyPr wrap="square" lIns="0" tIns="0" rIns="0" bIns="0" rtlCol="0" anchor="ctr"/>
          <a:lstStyle/>
          <a:p>
            <a:pPr indent="0" marL="0">
              <a:buNone/>
            </a:pPr>
            <a:r>
              <a:rPr lang="en-US" sz="1200" dirty="0">
                <a:solidFill>
                  <a:schemeClr val="bg2"/>
                </a:solidFill>
              </a:rPr>
              <a:t>1 j · Équipe</a:t>
            </a:r>
            <a:endParaRPr lang="en-US" sz="1200" dirty="0"/>
          </a:p>
        </p:txBody>
      </p:sp>
      <p:sp>
        <p:nvSpPr>
          <p:cNvPr id="9" name="Text 7"/>
          <p:cNvSpPr txBox="1"/>
          <p:nvPr/>
        </p:nvSpPr>
        <p:spPr>
          <a:xfrm>
            <a:off x="548640" y="2606040"/>
            <a:ext cx="3200400" cy="502920"/>
          </a:xfrm>
          <a:prstGeom prst="rect">
            <a:avLst/>
          </a:prstGeom>
          <a:noFill/>
          <a:ln/>
        </p:spPr>
        <p:txBody>
          <a:bodyPr wrap="square" lIns="0" tIns="0" rIns="0" bIns="0" rtlCol="0" anchor="ctr"/>
          <a:lstStyle/>
          <a:p>
            <a:pPr indent="0" marL="0">
              <a:buNone/>
            </a:pPr>
            <a:r>
              <a:rPr lang="en-US" sz="1400" dirty="0">
                <a:solidFill>
                  <a:schemeClr val="bg1"/>
                </a:solidFill>
              </a:rPr>
              <a:t>Nettoyage et analyse exploratoire</a:t>
            </a:r>
            <a:endParaRPr lang="en-US" sz="1400" dirty="0"/>
          </a:p>
        </p:txBody>
      </p:sp>
      <p:sp>
        <p:nvSpPr>
          <p:cNvPr id="10" name="phase 2"/>
          <p:cNvSpPr/>
          <p:nvPr/>
        </p:nvSpPr>
        <p:spPr>
          <a:xfrm>
            <a:off x="4297680" y="2679192"/>
            <a:ext cx="457200" cy="365760"/>
          </a:xfrm>
          <a:prstGeom prst="roundRect">
            <a:avLst>
              <a:gd name="adj" fmla="val 12500"/>
            </a:avLst>
          </a:prstGeom>
          <a:solidFill>
            <a:schemeClr val="accent1"/>
          </a:solidFill>
          <a:ln/>
        </p:spPr>
      </p:sp>
      <p:sp>
        <p:nvSpPr>
          <p:cNvPr id="11" name="Text 9"/>
          <p:cNvSpPr txBox="1"/>
          <p:nvPr/>
        </p:nvSpPr>
        <p:spPr>
          <a:xfrm>
            <a:off x="4846320" y="2606040"/>
            <a:ext cx="1463040" cy="502920"/>
          </a:xfrm>
          <a:prstGeom prst="rect">
            <a:avLst/>
          </a:prstGeom>
          <a:noFill/>
          <a:ln/>
        </p:spPr>
        <p:txBody>
          <a:bodyPr wrap="square" lIns="0" tIns="0" rIns="0" bIns="0" rtlCol="0" anchor="ctr"/>
          <a:lstStyle/>
          <a:p>
            <a:pPr indent="0" marL="0">
              <a:buNone/>
            </a:pPr>
            <a:r>
              <a:rPr lang="en-US" sz="1200" dirty="0">
                <a:solidFill>
                  <a:schemeClr val="bg2"/>
                </a:solidFill>
              </a:rPr>
              <a:t>1 j · Romain</a:t>
            </a:r>
            <a:endParaRPr lang="en-US" sz="1200" dirty="0"/>
          </a:p>
        </p:txBody>
      </p:sp>
      <p:sp>
        <p:nvSpPr>
          <p:cNvPr id="12" name="Text 10"/>
          <p:cNvSpPr txBox="1"/>
          <p:nvPr/>
        </p:nvSpPr>
        <p:spPr>
          <a:xfrm>
            <a:off x="548640" y="3291840"/>
            <a:ext cx="3200400" cy="502920"/>
          </a:xfrm>
          <a:prstGeom prst="rect">
            <a:avLst/>
          </a:prstGeom>
          <a:noFill/>
          <a:ln/>
        </p:spPr>
        <p:txBody>
          <a:bodyPr wrap="square" lIns="0" tIns="0" rIns="0" bIns="0" rtlCol="0" anchor="ctr"/>
          <a:lstStyle/>
          <a:p>
            <a:pPr indent="0" marL="0">
              <a:buNone/>
            </a:pPr>
            <a:r>
              <a:rPr lang="en-US" sz="1400" dirty="0">
                <a:solidFill>
                  <a:schemeClr val="bg1"/>
                </a:solidFill>
              </a:rPr>
              <a:t>Sélection des variables et 3 modèles</a:t>
            </a:r>
            <a:endParaRPr lang="en-US" sz="1400" dirty="0"/>
          </a:p>
        </p:txBody>
      </p:sp>
      <p:sp>
        <p:nvSpPr>
          <p:cNvPr id="13" name="phase 3"/>
          <p:cNvSpPr/>
          <p:nvPr/>
        </p:nvSpPr>
        <p:spPr>
          <a:xfrm>
            <a:off x="4754880" y="3364992"/>
            <a:ext cx="685800" cy="365760"/>
          </a:xfrm>
          <a:prstGeom prst="roundRect">
            <a:avLst>
              <a:gd name="adj" fmla="val 12500"/>
            </a:avLst>
          </a:prstGeom>
          <a:solidFill>
            <a:schemeClr val="accent2"/>
          </a:solidFill>
          <a:ln/>
        </p:spPr>
      </p:sp>
      <p:sp>
        <p:nvSpPr>
          <p:cNvPr id="14" name="Text 12"/>
          <p:cNvSpPr txBox="1"/>
          <p:nvPr/>
        </p:nvSpPr>
        <p:spPr>
          <a:xfrm>
            <a:off x="5532120" y="3291840"/>
            <a:ext cx="1463040" cy="502920"/>
          </a:xfrm>
          <a:prstGeom prst="rect">
            <a:avLst/>
          </a:prstGeom>
          <a:noFill/>
          <a:ln/>
        </p:spPr>
        <p:txBody>
          <a:bodyPr wrap="square" lIns="0" tIns="0" rIns="0" bIns="0" rtlCol="0" anchor="ctr"/>
          <a:lstStyle/>
          <a:p>
            <a:pPr indent="0" marL="0">
              <a:buNone/>
            </a:pPr>
            <a:r>
              <a:rPr lang="en-US" sz="1200" dirty="0">
                <a:solidFill>
                  <a:schemeClr val="bg2"/>
                </a:solidFill>
              </a:rPr>
              <a:t>1,5 j · Yannis</a:t>
            </a:r>
            <a:endParaRPr lang="en-US" sz="1200" dirty="0"/>
          </a:p>
        </p:txBody>
      </p:sp>
      <p:sp>
        <p:nvSpPr>
          <p:cNvPr id="15" name="Text 13"/>
          <p:cNvSpPr txBox="1"/>
          <p:nvPr/>
        </p:nvSpPr>
        <p:spPr>
          <a:xfrm>
            <a:off x="548640" y="3977640"/>
            <a:ext cx="3200400" cy="502920"/>
          </a:xfrm>
          <a:prstGeom prst="rect">
            <a:avLst/>
          </a:prstGeom>
          <a:noFill/>
          <a:ln/>
        </p:spPr>
        <p:txBody>
          <a:bodyPr wrap="square" lIns="0" tIns="0" rIns="0" bIns="0" rtlCol="0" anchor="ctr"/>
          <a:lstStyle/>
          <a:p>
            <a:pPr indent="0" marL="0">
              <a:buNone/>
            </a:pPr>
            <a:r>
              <a:rPr lang="en-US" sz="1400" dirty="0">
                <a:solidFill>
                  <a:schemeClr val="bg1"/>
                </a:solidFill>
              </a:rPr>
              <a:t>Grid Search et modèle final</a:t>
            </a:r>
            <a:endParaRPr lang="en-US" sz="1400" dirty="0"/>
          </a:p>
        </p:txBody>
      </p:sp>
      <p:sp>
        <p:nvSpPr>
          <p:cNvPr id="16" name="phase 4"/>
          <p:cNvSpPr/>
          <p:nvPr/>
        </p:nvSpPr>
        <p:spPr>
          <a:xfrm>
            <a:off x="5440680" y="4050792"/>
            <a:ext cx="228600" cy="365760"/>
          </a:xfrm>
          <a:prstGeom prst="roundRect">
            <a:avLst>
              <a:gd name="adj" fmla="val 20000"/>
            </a:avLst>
          </a:prstGeom>
          <a:solidFill>
            <a:schemeClr val="accent3"/>
          </a:solidFill>
          <a:ln/>
        </p:spPr>
      </p:sp>
      <p:sp>
        <p:nvSpPr>
          <p:cNvPr id="17" name="Text 15"/>
          <p:cNvSpPr txBox="1"/>
          <p:nvPr/>
        </p:nvSpPr>
        <p:spPr>
          <a:xfrm>
            <a:off x="5760720" y="3977640"/>
            <a:ext cx="1463040" cy="502920"/>
          </a:xfrm>
          <a:prstGeom prst="rect">
            <a:avLst/>
          </a:prstGeom>
          <a:noFill/>
          <a:ln/>
        </p:spPr>
        <p:txBody>
          <a:bodyPr wrap="square" lIns="0" tIns="0" rIns="0" bIns="0" rtlCol="0" anchor="ctr"/>
          <a:lstStyle/>
          <a:p>
            <a:pPr indent="0" marL="0">
              <a:buNone/>
            </a:pPr>
            <a:r>
              <a:rPr lang="en-US" sz="1200" dirty="0">
                <a:solidFill>
                  <a:schemeClr val="bg2"/>
                </a:solidFill>
              </a:rPr>
              <a:t>0,5 j · Lisa</a:t>
            </a:r>
            <a:endParaRPr lang="en-US" sz="1200" dirty="0"/>
          </a:p>
        </p:txBody>
      </p:sp>
      <p:sp>
        <p:nvSpPr>
          <p:cNvPr id="18" name="Text 16"/>
          <p:cNvSpPr txBox="1"/>
          <p:nvPr/>
        </p:nvSpPr>
        <p:spPr>
          <a:xfrm>
            <a:off x="548640" y="4663440"/>
            <a:ext cx="3200400" cy="502920"/>
          </a:xfrm>
          <a:prstGeom prst="rect">
            <a:avLst/>
          </a:prstGeom>
          <a:noFill/>
          <a:ln/>
        </p:spPr>
        <p:txBody>
          <a:bodyPr wrap="square" lIns="0" tIns="0" rIns="0" bIns="0" rtlCol="0" anchor="ctr"/>
          <a:lstStyle/>
          <a:p>
            <a:pPr indent="0" marL="0">
              <a:buNone/>
            </a:pPr>
            <a:r>
              <a:rPr lang="en-US" sz="1400" dirty="0">
                <a:solidFill>
                  <a:schemeClr val="bg1"/>
                </a:solidFill>
              </a:rPr>
              <a:t>Application Flask et Docker</a:t>
            </a:r>
            <a:endParaRPr lang="en-US" sz="1400" dirty="0"/>
          </a:p>
        </p:txBody>
      </p:sp>
      <p:sp>
        <p:nvSpPr>
          <p:cNvPr id="19" name="phase 5"/>
          <p:cNvSpPr/>
          <p:nvPr/>
        </p:nvSpPr>
        <p:spPr>
          <a:xfrm>
            <a:off x="5669280" y="4736592"/>
            <a:ext cx="685800" cy="365760"/>
          </a:xfrm>
          <a:prstGeom prst="roundRect">
            <a:avLst>
              <a:gd name="adj" fmla="val 12500"/>
            </a:avLst>
          </a:prstGeom>
          <a:solidFill>
            <a:schemeClr val="accent3"/>
          </a:solidFill>
          <a:ln/>
        </p:spPr>
      </p:sp>
      <p:sp>
        <p:nvSpPr>
          <p:cNvPr id="20" name="Text 18"/>
          <p:cNvSpPr txBox="1"/>
          <p:nvPr/>
        </p:nvSpPr>
        <p:spPr>
          <a:xfrm>
            <a:off x="6446520" y="4663440"/>
            <a:ext cx="1463040" cy="502920"/>
          </a:xfrm>
          <a:prstGeom prst="rect">
            <a:avLst/>
          </a:prstGeom>
          <a:noFill/>
          <a:ln/>
        </p:spPr>
        <p:txBody>
          <a:bodyPr wrap="square" lIns="0" tIns="0" rIns="0" bIns="0" rtlCol="0" anchor="ctr"/>
          <a:lstStyle/>
          <a:p>
            <a:pPr indent="0" marL="0">
              <a:buNone/>
            </a:pPr>
            <a:r>
              <a:rPr lang="en-US" sz="1200" dirty="0">
                <a:solidFill>
                  <a:schemeClr val="bg2"/>
                </a:solidFill>
              </a:rPr>
              <a:t>1,5 j · Lisa</a:t>
            </a:r>
            <a:endParaRPr lang="en-US" sz="1200" dirty="0"/>
          </a:p>
        </p:txBody>
      </p:sp>
      <p:sp>
        <p:nvSpPr>
          <p:cNvPr id="21" name="Text 19"/>
          <p:cNvSpPr txBox="1"/>
          <p:nvPr/>
        </p:nvSpPr>
        <p:spPr>
          <a:xfrm>
            <a:off x="548640" y="5349240"/>
            <a:ext cx="3200400" cy="502920"/>
          </a:xfrm>
          <a:prstGeom prst="rect">
            <a:avLst/>
          </a:prstGeom>
          <a:noFill/>
          <a:ln/>
        </p:spPr>
        <p:txBody>
          <a:bodyPr wrap="square" lIns="0" tIns="0" rIns="0" bIns="0" rtlCol="0" anchor="ctr"/>
          <a:lstStyle/>
          <a:p>
            <a:pPr indent="0" marL="0">
              <a:buNone/>
            </a:pPr>
            <a:r>
              <a:rPr lang="en-US" sz="1400" dirty="0">
                <a:solidFill>
                  <a:schemeClr val="bg1"/>
                </a:solidFill>
              </a:rPr>
              <a:t>README, documentation, présentation</a:t>
            </a:r>
            <a:endParaRPr lang="en-US" sz="1400" dirty="0"/>
          </a:p>
        </p:txBody>
      </p:sp>
      <p:sp>
        <p:nvSpPr>
          <p:cNvPr id="22" name="phase 6"/>
          <p:cNvSpPr/>
          <p:nvPr/>
        </p:nvSpPr>
        <p:spPr>
          <a:xfrm>
            <a:off x="6355080" y="5422392"/>
            <a:ext cx="457200" cy="365760"/>
          </a:xfrm>
          <a:prstGeom prst="roundRect">
            <a:avLst>
              <a:gd name="adj" fmla="val 12500"/>
            </a:avLst>
          </a:prstGeom>
          <a:solidFill>
            <a:schemeClr val="bg2"/>
          </a:solidFill>
          <a:ln/>
        </p:spPr>
      </p:sp>
      <p:sp>
        <p:nvSpPr>
          <p:cNvPr id="23" name="Text 21"/>
          <p:cNvSpPr txBox="1"/>
          <p:nvPr/>
        </p:nvSpPr>
        <p:spPr>
          <a:xfrm>
            <a:off x="6903720" y="5349240"/>
            <a:ext cx="1463040" cy="502920"/>
          </a:xfrm>
          <a:prstGeom prst="rect">
            <a:avLst/>
          </a:prstGeom>
          <a:noFill/>
          <a:ln/>
        </p:spPr>
        <p:txBody>
          <a:bodyPr wrap="square" lIns="0" tIns="0" rIns="0" bIns="0" rtlCol="0" anchor="ctr"/>
          <a:lstStyle/>
          <a:p>
            <a:pPr indent="0" marL="0">
              <a:buNone/>
            </a:pPr>
            <a:r>
              <a:rPr lang="en-US" sz="1200" dirty="0">
                <a:solidFill>
                  <a:schemeClr val="bg2"/>
                </a:solidFill>
              </a:rPr>
              <a:t>1 j · Équipe</a:t>
            </a:r>
            <a:endParaRPr lang="en-US" sz="1200" dirty="0"/>
          </a:p>
        </p:txBody>
      </p:sp>
      <p:sp>
        <p:nvSpPr>
          <p:cNvPr id="24" name="Text 22"/>
          <p:cNvSpPr txBox="1"/>
          <p:nvPr/>
        </p:nvSpPr>
        <p:spPr>
          <a:xfrm>
            <a:off x="8229600" y="1463040"/>
            <a:ext cx="338328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TRELLO  ·  KANBAN</a:t>
            </a:r>
            <a:endParaRPr lang="en-US" sz="1200" dirty="0"/>
          </a:p>
        </p:txBody>
      </p:sp>
      <p:sp>
        <p:nvSpPr>
          <p:cNvPr id="25" name="colonne À faire"/>
          <p:cNvSpPr/>
          <p:nvPr/>
        </p:nvSpPr>
        <p:spPr>
          <a:xfrm>
            <a:off x="8229600" y="1874520"/>
            <a:ext cx="1060704" cy="2697480"/>
          </a:xfrm>
          <a:prstGeom prst="roundRect">
            <a:avLst>
              <a:gd name="adj" fmla="val 6897"/>
            </a:avLst>
          </a:prstGeom>
          <a:solidFill>
            <a:schemeClr val="accent6"/>
          </a:solidFill>
          <a:ln w="12700">
            <a:solidFill>
              <a:schemeClr val="accent5"/>
            </a:solidFill>
            <a:prstDash val="solid"/>
          </a:ln>
        </p:spPr>
      </p:sp>
      <p:sp>
        <p:nvSpPr>
          <p:cNvPr id="26" name="Text 24"/>
          <p:cNvSpPr txBox="1"/>
          <p:nvPr/>
        </p:nvSpPr>
        <p:spPr>
          <a:xfrm>
            <a:off x="8229600" y="1938528"/>
            <a:ext cx="1060704" cy="292608"/>
          </a:xfrm>
          <a:prstGeom prst="rect">
            <a:avLst/>
          </a:prstGeom>
          <a:noFill/>
          <a:ln/>
        </p:spPr>
        <p:txBody>
          <a:bodyPr wrap="square" lIns="0" tIns="0" rIns="0" bIns="0" rtlCol="0" anchor="t"/>
          <a:lstStyle/>
          <a:p>
            <a:pPr algn="ctr" indent="0" marL="0">
              <a:buNone/>
            </a:pPr>
            <a:r>
              <a:rPr lang="en-US" sz="1200" b="1" dirty="0">
                <a:solidFill>
                  <a:schemeClr val="bg1"/>
                </a:solidFill>
              </a:rPr>
              <a:t>À faire</a:t>
            </a:r>
            <a:endParaRPr lang="en-US" sz="1200" dirty="0"/>
          </a:p>
        </p:txBody>
      </p:sp>
      <p:sp>
        <p:nvSpPr>
          <p:cNvPr id="27" name="carte Trello"/>
          <p:cNvSpPr/>
          <p:nvPr/>
        </p:nvSpPr>
        <p:spPr>
          <a:xfrm>
            <a:off x="8302752" y="2304288"/>
            <a:ext cx="914400" cy="420624"/>
          </a:xfrm>
          <a:prstGeom prst="roundRect">
            <a:avLst>
              <a:gd name="adj" fmla="val 15217"/>
            </a:avLst>
          </a:prstGeom>
          <a:solidFill>
            <a:schemeClr val="tx2"/>
          </a:solidFill>
          <a:ln w="12700">
            <a:solidFill>
              <a:schemeClr val="accent5"/>
            </a:solidFill>
            <a:prstDash val="solid"/>
          </a:ln>
        </p:spPr>
        <p:txBody>
          <a:bodyPr wrap="square" lIns="0" tIns="0" rIns="0" bIns="0" rtlCol="0" anchor="ctr"/>
          <a:lstStyle/>
          <a:p>
            <a:pPr algn="ctr" indent="0" marL="0">
              <a:buNone/>
            </a:pPr>
            <a:r>
              <a:rPr lang="en-US" sz="1100" dirty="0">
                <a:solidFill>
                  <a:schemeClr val="bg1"/>
                </a:solidFill>
              </a:rPr>
              <a:t>Slides</a:t>
            </a:r>
            <a:endParaRPr lang="en-US" sz="1100" dirty="0"/>
          </a:p>
        </p:txBody>
      </p:sp>
      <p:sp>
        <p:nvSpPr>
          <p:cNvPr id="28" name="carte Trello"/>
          <p:cNvSpPr/>
          <p:nvPr/>
        </p:nvSpPr>
        <p:spPr>
          <a:xfrm>
            <a:off x="8302752" y="2852928"/>
            <a:ext cx="914400" cy="420624"/>
          </a:xfrm>
          <a:prstGeom prst="roundRect">
            <a:avLst>
              <a:gd name="adj" fmla="val 15217"/>
            </a:avLst>
          </a:prstGeom>
          <a:solidFill>
            <a:schemeClr val="tx2"/>
          </a:solidFill>
          <a:ln w="12700">
            <a:solidFill>
              <a:schemeClr val="accent5"/>
            </a:solidFill>
            <a:prstDash val="solid"/>
          </a:ln>
        </p:spPr>
        <p:txBody>
          <a:bodyPr wrap="square" lIns="0" tIns="0" rIns="0" bIns="0" rtlCol="0" anchor="ctr"/>
          <a:lstStyle/>
          <a:p>
            <a:pPr algn="ctr" indent="0" marL="0">
              <a:buNone/>
            </a:pPr>
            <a:r>
              <a:rPr lang="en-US" sz="1100" dirty="0">
                <a:solidFill>
                  <a:schemeClr val="bg1"/>
                </a:solidFill>
              </a:rPr>
              <a:t>Oral</a:t>
            </a:r>
            <a:endParaRPr lang="en-US" sz="1100" dirty="0"/>
          </a:p>
        </p:txBody>
      </p:sp>
      <p:sp>
        <p:nvSpPr>
          <p:cNvPr id="29" name="colonne En cours"/>
          <p:cNvSpPr/>
          <p:nvPr/>
        </p:nvSpPr>
        <p:spPr>
          <a:xfrm>
            <a:off x="9381744" y="1874520"/>
            <a:ext cx="1060704" cy="2697480"/>
          </a:xfrm>
          <a:prstGeom prst="roundRect">
            <a:avLst>
              <a:gd name="adj" fmla="val 6897"/>
            </a:avLst>
          </a:prstGeom>
          <a:solidFill>
            <a:schemeClr val="accent6"/>
          </a:solidFill>
          <a:ln w="12700">
            <a:solidFill>
              <a:schemeClr val="accent5"/>
            </a:solidFill>
            <a:prstDash val="solid"/>
          </a:ln>
        </p:spPr>
      </p:sp>
      <p:sp>
        <p:nvSpPr>
          <p:cNvPr id="30" name="Text 28"/>
          <p:cNvSpPr txBox="1"/>
          <p:nvPr/>
        </p:nvSpPr>
        <p:spPr>
          <a:xfrm>
            <a:off x="9381744" y="1938528"/>
            <a:ext cx="1060704" cy="292608"/>
          </a:xfrm>
          <a:prstGeom prst="rect">
            <a:avLst/>
          </a:prstGeom>
          <a:noFill/>
          <a:ln/>
        </p:spPr>
        <p:txBody>
          <a:bodyPr wrap="square" lIns="0" tIns="0" rIns="0" bIns="0" rtlCol="0" anchor="t"/>
          <a:lstStyle/>
          <a:p>
            <a:pPr algn="ctr" indent="0" marL="0">
              <a:buNone/>
            </a:pPr>
            <a:r>
              <a:rPr lang="en-US" sz="1200" b="1" dirty="0">
                <a:solidFill>
                  <a:schemeClr val="bg1"/>
                </a:solidFill>
              </a:rPr>
              <a:t>En cours</a:t>
            </a:r>
            <a:endParaRPr lang="en-US" sz="1200" dirty="0"/>
          </a:p>
        </p:txBody>
      </p:sp>
      <p:sp>
        <p:nvSpPr>
          <p:cNvPr id="31" name="carte Trello"/>
          <p:cNvSpPr/>
          <p:nvPr/>
        </p:nvSpPr>
        <p:spPr>
          <a:xfrm>
            <a:off x="9454896" y="2304288"/>
            <a:ext cx="914400" cy="420624"/>
          </a:xfrm>
          <a:prstGeom prst="roundRect">
            <a:avLst>
              <a:gd name="adj" fmla="val 15217"/>
            </a:avLst>
          </a:prstGeom>
          <a:solidFill>
            <a:schemeClr val="tx2"/>
          </a:solidFill>
          <a:ln w="12700">
            <a:solidFill>
              <a:schemeClr val="accent5"/>
            </a:solidFill>
            <a:prstDash val="solid"/>
          </a:ln>
        </p:spPr>
        <p:txBody>
          <a:bodyPr wrap="square" lIns="0" tIns="0" rIns="0" bIns="0" rtlCol="0" anchor="ctr"/>
          <a:lstStyle/>
          <a:p>
            <a:pPr algn="ctr" indent="0" marL="0">
              <a:buNone/>
            </a:pPr>
            <a:r>
              <a:rPr lang="en-US" sz="1100" dirty="0">
                <a:solidFill>
                  <a:schemeClr val="bg1"/>
                </a:solidFill>
              </a:rPr>
              <a:t>README</a:t>
            </a:r>
            <a:endParaRPr lang="en-US" sz="1100" dirty="0"/>
          </a:p>
        </p:txBody>
      </p:sp>
      <p:sp>
        <p:nvSpPr>
          <p:cNvPr id="32" name="carte Trello"/>
          <p:cNvSpPr/>
          <p:nvPr/>
        </p:nvSpPr>
        <p:spPr>
          <a:xfrm>
            <a:off x="9454896" y="2852928"/>
            <a:ext cx="914400" cy="420624"/>
          </a:xfrm>
          <a:prstGeom prst="roundRect">
            <a:avLst>
              <a:gd name="adj" fmla="val 15217"/>
            </a:avLst>
          </a:prstGeom>
          <a:solidFill>
            <a:schemeClr val="tx2"/>
          </a:solidFill>
          <a:ln w="12700">
            <a:solidFill>
              <a:schemeClr val="accent5"/>
            </a:solidFill>
            <a:prstDash val="solid"/>
          </a:ln>
        </p:spPr>
        <p:txBody>
          <a:bodyPr wrap="square" lIns="0" tIns="0" rIns="0" bIns="0" rtlCol="0" anchor="ctr"/>
          <a:lstStyle/>
          <a:p>
            <a:pPr algn="ctr" indent="0" marL="0">
              <a:buNone/>
            </a:pPr>
            <a:r>
              <a:rPr lang="en-US" sz="1100" dirty="0">
                <a:solidFill>
                  <a:schemeClr val="bg1"/>
                </a:solidFill>
              </a:rPr>
              <a:t>Docker</a:t>
            </a:r>
            <a:endParaRPr lang="en-US" sz="1100" dirty="0"/>
          </a:p>
        </p:txBody>
      </p:sp>
      <p:sp>
        <p:nvSpPr>
          <p:cNvPr id="33" name="colonne Terminé"/>
          <p:cNvSpPr/>
          <p:nvPr/>
        </p:nvSpPr>
        <p:spPr>
          <a:xfrm>
            <a:off x="10533888" y="1874520"/>
            <a:ext cx="1060704" cy="2697480"/>
          </a:xfrm>
          <a:prstGeom prst="roundRect">
            <a:avLst>
              <a:gd name="adj" fmla="val 6897"/>
            </a:avLst>
          </a:prstGeom>
          <a:solidFill>
            <a:schemeClr val="accent6"/>
          </a:solidFill>
          <a:ln w="12700">
            <a:solidFill>
              <a:schemeClr val="accent5"/>
            </a:solidFill>
            <a:prstDash val="solid"/>
          </a:ln>
        </p:spPr>
      </p:sp>
      <p:sp>
        <p:nvSpPr>
          <p:cNvPr id="34" name="Text 32"/>
          <p:cNvSpPr txBox="1"/>
          <p:nvPr/>
        </p:nvSpPr>
        <p:spPr>
          <a:xfrm>
            <a:off x="10533888" y="1938528"/>
            <a:ext cx="1060704" cy="292608"/>
          </a:xfrm>
          <a:prstGeom prst="rect">
            <a:avLst/>
          </a:prstGeom>
          <a:noFill/>
          <a:ln/>
        </p:spPr>
        <p:txBody>
          <a:bodyPr wrap="square" lIns="0" tIns="0" rIns="0" bIns="0" rtlCol="0" anchor="t"/>
          <a:lstStyle/>
          <a:p>
            <a:pPr algn="ctr" indent="0" marL="0">
              <a:buNone/>
            </a:pPr>
            <a:r>
              <a:rPr lang="en-US" sz="1200" b="1" dirty="0">
                <a:solidFill>
                  <a:schemeClr val="bg1"/>
                </a:solidFill>
              </a:rPr>
              <a:t>Terminé</a:t>
            </a:r>
            <a:endParaRPr lang="en-US" sz="1200" dirty="0"/>
          </a:p>
        </p:txBody>
      </p:sp>
      <p:sp>
        <p:nvSpPr>
          <p:cNvPr id="35" name="carte Trello"/>
          <p:cNvSpPr/>
          <p:nvPr/>
        </p:nvSpPr>
        <p:spPr>
          <a:xfrm>
            <a:off x="10607040" y="2304288"/>
            <a:ext cx="914400" cy="420624"/>
          </a:xfrm>
          <a:prstGeom prst="roundRect">
            <a:avLst>
              <a:gd name="adj" fmla="val 15217"/>
            </a:avLst>
          </a:prstGeom>
          <a:solidFill>
            <a:schemeClr val="tx2"/>
          </a:solidFill>
          <a:ln w="12700">
            <a:solidFill>
              <a:schemeClr val="accent5"/>
            </a:solidFill>
            <a:prstDash val="solid"/>
          </a:ln>
        </p:spPr>
        <p:txBody>
          <a:bodyPr wrap="square" lIns="0" tIns="0" rIns="0" bIns="0" rtlCol="0" anchor="ctr"/>
          <a:lstStyle/>
          <a:p>
            <a:pPr algn="ctr" indent="0" marL="0">
              <a:buNone/>
            </a:pPr>
            <a:r>
              <a:rPr lang="en-US" sz="1100" dirty="0">
                <a:solidFill>
                  <a:schemeClr val="bg1"/>
                </a:solidFill>
              </a:rPr>
              <a:t>Données</a:t>
            </a:r>
            <a:endParaRPr lang="en-US" sz="1100" dirty="0"/>
          </a:p>
        </p:txBody>
      </p:sp>
      <p:sp>
        <p:nvSpPr>
          <p:cNvPr id="36" name="carte Trello"/>
          <p:cNvSpPr/>
          <p:nvPr/>
        </p:nvSpPr>
        <p:spPr>
          <a:xfrm>
            <a:off x="10607040" y="2852928"/>
            <a:ext cx="914400" cy="420624"/>
          </a:xfrm>
          <a:prstGeom prst="roundRect">
            <a:avLst>
              <a:gd name="adj" fmla="val 15217"/>
            </a:avLst>
          </a:prstGeom>
          <a:solidFill>
            <a:schemeClr val="tx2"/>
          </a:solidFill>
          <a:ln w="12700">
            <a:solidFill>
              <a:schemeClr val="accent5"/>
            </a:solidFill>
            <a:prstDash val="solid"/>
          </a:ln>
        </p:spPr>
        <p:txBody>
          <a:bodyPr wrap="square" lIns="0" tIns="0" rIns="0" bIns="0" rtlCol="0" anchor="ctr"/>
          <a:lstStyle/>
          <a:p>
            <a:pPr algn="ctr" indent="0" marL="0">
              <a:buNone/>
            </a:pPr>
            <a:r>
              <a:rPr lang="en-US" sz="1100" dirty="0">
                <a:solidFill>
                  <a:schemeClr val="bg1"/>
                </a:solidFill>
              </a:rPr>
              <a:t>Nettoyage</a:t>
            </a:r>
            <a:endParaRPr lang="en-US" sz="1100" dirty="0"/>
          </a:p>
        </p:txBody>
      </p:sp>
      <p:sp>
        <p:nvSpPr>
          <p:cNvPr id="37" name="carte Trello"/>
          <p:cNvSpPr/>
          <p:nvPr/>
        </p:nvSpPr>
        <p:spPr>
          <a:xfrm>
            <a:off x="10607040" y="3401568"/>
            <a:ext cx="914400" cy="420624"/>
          </a:xfrm>
          <a:prstGeom prst="roundRect">
            <a:avLst>
              <a:gd name="adj" fmla="val 15217"/>
            </a:avLst>
          </a:prstGeom>
          <a:solidFill>
            <a:schemeClr val="tx2"/>
          </a:solidFill>
          <a:ln w="12700">
            <a:solidFill>
              <a:schemeClr val="accent5"/>
            </a:solidFill>
            <a:prstDash val="solid"/>
          </a:ln>
        </p:spPr>
        <p:txBody>
          <a:bodyPr wrap="square" lIns="0" tIns="0" rIns="0" bIns="0" rtlCol="0" anchor="ctr"/>
          <a:lstStyle/>
          <a:p>
            <a:pPr algn="ctr" indent="0" marL="0">
              <a:buNone/>
            </a:pPr>
            <a:r>
              <a:rPr lang="en-US" sz="1100" dirty="0">
                <a:solidFill>
                  <a:schemeClr val="bg1"/>
                </a:solidFill>
              </a:rPr>
              <a:t>Modèles</a:t>
            </a:r>
            <a:endParaRPr lang="en-US" sz="1100" dirty="0"/>
          </a:p>
        </p:txBody>
      </p:sp>
      <p:sp>
        <p:nvSpPr>
          <p:cNvPr id="38" name="carte Trello"/>
          <p:cNvSpPr/>
          <p:nvPr/>
        </p:nvSpPr>
        <p:spPr>
          <a:xfrm>
            <a:off x="10607040" y="3950208"/>
            <a:ext cx="914400" cy="420624"/>
          </a:xfrm>
          <a:prstGeom prst="roundRect">
            <a:avLst>
              <a:gd name="adj" fmla="val 15217"/>
            </a:avLst>
          </a:prstGeom>
          <a:solidFill>
            <a:schemeClr val="tx2"/>
          </a:solidFill>
          <a:ln w="12700">
            <a:solidFill>
              <a:schemeClr val="accent5"/>
            </a:solidFill>
            <a:prstDash val="solid"/>
          </a:ln>
        </p:spPr>
        <p:txBody>
          <a:bodyPr wrap="square" lIns="0" tIns="0" rIns="0" bIns="0" rtlCol="0" anchor="ctr"/>
          <a:lstStyle/>
          <a:p>
            <a:pPr algn="ctr" indent="0" marL="0">
              <a:buNone/>
            </a:pPr>
            <a:r>
              <a:rPr lang="en-US" sz="1100" dirty="0">
                <a:solidFill>
                  <a:schemeClr val="bg1"/>
                </a:solidFill>
              </a:rPr>
              <a:t>Flask</a:t>
            </a:r>
            <a:endParaRPr lang="en-US" sz="1100" dirty="0"/>
          </a:p>
        </p:txBody>
      </p:sp>
      <p:sp>
        <p:nvSpPr>
          <p:cNvPr id="39" name="Text 37"/>
          <p:cNvSpPr txBox="1"/>
          <p:nvPr/>
        </p:nvSpPr>
        <p:spPr>
          <a:xfrm>
            <a:off x="8229600" y="4754880"/>
            <a:ext cx="338328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RESSOURCES</a:t>
            </a:r>
            <a:endParaRPr lang="en-US" sz="1200" dirty="0"/>
          </a:p>
        </p:txBody>
      </p:sp>
      <p:sp>
        <p:nvSpPr>
          <p:cNvPr id="40" name="Text 38"/>
          <p:cNvSpPr txBox="1"/>
          <p:nvPr/>
        </p:nvSpPr>
        <p:spPr>
          <a:xfrm>
            <a:off x="8229600" y="5102352"/>
            <a:ext cx="3429000" cy="10972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3 personnes : Romain, Yannis, Lisa</a:t>
            </a:r>
            <a:endParaRPr lang="en-US" sz="1400" dirty="0"/>
          </a:p>
          <a:p>
            <a:pPr marL="342900" indent="-342900">
              <a:spcAft>
                <a:spcPts val="300"/>
              </a:spcAft>
              <a:buSzPct val="100000"/>
              <a:buChar char="•"/>
            </a:pPr>
            <a:r>
              <a:rPr lang="en-US" sz="1400" dirty="0">
                <a:solidFill>
                  <a:schemeClr val="bg1"/>
                </a:solidFill>
              </a:rPr>
              <a:t>Ordinateurs portables, sans GPU</a:t>
            </a:r>
            <a:endParaRPr lang="en-US" sz="1400" dirty="0"/>
          </a:p>
          <a:p>
            <a:pPr marL="342900" indent="-342900">
              <a:spcAft>
                <a:spcPts val="300"/>
              </a:spcAft>
              <a:buSzPct val="100000"/>
              <a:buChar char="•"/>
            </a:pPr>
            <a:r>
              <a:rPr lang="en-US" sz="1400" dirty="0">
                <a:solidFill>
                  <a:schemeClr val="bg1"/>
                </a:solidFill>
              </a:rPr>
              <a:t>Colab, GitHub, Trello, Docker</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04  ·  LES DONNÉES</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D'où viennent les données ?</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1"/>
            </a:solidFill>
          </a:ln>
        </p:spPr>
        <p:txBody>
          <a:bodyPr wrap="square" lIns="0" tIns="0" rIns="0" bIns="0" rtlCol="0" anchor="ctr"/>
          <a:lstStyle/>
          <a:p>
            <a:pPr algn="ctr" indent="0" marL="0">
              <a:buNone/>
            </a:pPr>
            <a:r>
              <a:rPr lang="en-US" sz="1300" b="1" dirty="0">
                <a:solidFill>
                  <a:schemeClr val="accent1"/>
                </a:solidFill>
              </a:rPr>
              <a:t>Romain</a:t>
            </a:r>
            <a:endParaRPr lang="en-US" sz="1300" dirty="0"/>
          </a:p>
        </p:txBody>
      </p:sp>
      <p:sp>
        <p:nvSpPr>
          <p:cNvPr id="5" name="carte chiffre"/>
          <p:cNvSpPr/>
          <p:nvPr/>
        </p:nvSpPr>
        <p:spPr>
          <a:xfrm>
            <a:off x="548640" y="1508760"/>
            <a:ext cx="2606040" cy="1463040"/>
          </a:xfrm>
          <a:prstGeom prst="roundRect">
            <a:avLst>
              <a:gd name="adj" fmla="val 5000"/>
            </a:avLst>
          </a:prstGeom>
          <a:solidFill>
            <a:schemeClr val="tx2"/>
          </a:solidFill>
          <a:ln w="12700">
            <a:solidFill>
              <a:schemeClr val="accent5"/>
            </a:solidFill>
            <a:prstDash val="solid"/>
          </a:ln>
        </p:spPr>
      </p:sp>
      <p:sp>
        <p:nvSpPr>
          <p:cNvPr id="6" name="Text 4"/>
          <p:cNvSpPr txBox="1"/>
          <p:nvPr/>
        </p:nvSpPr>
        <p:spPr>
          <a:xfrm>
            <a:off x="777240" y="1691640"/>
            <a:ext cx="2148840" cy="731520"/>
          </a:xfrm>
          <a:prstGeom prst="rect">
            <a:avLst/>
          </a:prstGeom>
          <a:noFill/>
          <a:ln/>
        </p:spPr>
        <p:txBody>
          <a:bodyPr wrap="square" lIns="0" tIns="0" rIns="0" bIns="0" rtlCol="0" anchor="ctr"/>
          <a:lstStyle/>
          <a:p>
            <a:pPr indent="0" marL="0">
              <a:buNone/>
            </a:pPr>
            <a:r>
              <a:rPr lang="en-US" sz="3400" b="1" dirty="0">
                <a:solidFill>
                  <a:schemeClr val="accent1"/>
                </a:solidFill>
                <a:latin typeface="Arial" pitchFamily="34" charset="0"/>
                <a:ea typeface="Arial" pitchFamily="34" charset="-122"/>
                <a:cs typeface="Arial" pitchFamily="34" charset="-120"/>
              </a:rPr>
              <a:t>21 613</a:t>
            </a:r>
            <a:endParaRPr lang="en-US" sz="3400" dirty="0"/>
          </a:p>
        </p:txBody>
      </p:sp>
      <p:sp>
        <p:nvSpPr>
          <p:cNvPr id="7" name="Text 5"/>
          <p:cNvSpPr txBox="1"/>
          <p:nvPr/>
        </p:nvSpPr>
        <p:spPr>
          <a:xfrm>
            <a:off x="777240" y="2423160"/>
            <a:ext cx="2148840" cy="457200"/>
          </a:xfrm>
          <a:prstGeom prst="rect">
            <a:avLst/>
          </a:prstGeom>
          <a:noFill/>
          <a:ln/>
        </p:spPr>
        <p:txBody>
          <a:bodyPr wrap="square" lIns="0" tIns="0" rIns="0" bIns="0" rtlCol="0" anchor="t"/>
          <a:lstStyle/>
          <a:p>
            <a:pPr indent="0" marL="0">
              <a:buNone/>
            </a:pPr>
            <a:r>
              <a:rPr lang="en-US" sz="1300" dirty="0">
                <a:solidFill>
                  <a:schemeClr val="bg2"/>
                </a:solidFill>
              </a:rPr>
              <a:t>ventes de maisons</a:t>
            </a:r>
            <a:endParaRPr lang="en-US" sz="1300" dirty="0"/>
          </a:p>
        </p:txBody>
      </p:sp>
      <p:sp>
        <p:nvSpPr>
          <p:cNvPr id="8" name="carte chiffre"/>
          <p:cNvSpPr/>
          <p:nvPr/>
        </p:nvSpPr>
        <p:spPr>
          <a:xfrm>
            <a:off x="3383280" y="1508760"/>
            <a:ext cx="2606040" cy="1463040"/>
          </a:xfrm>
          <a:prstGeom prst="roundRect">
            <a:avLst>
              <a:gd name="adj" fmla="val 5000"/>
            </a:avLst>
          </a:prstGeom>
          <a:solidFill>
            <a:schemeClr val="tx2"/>
          </a:solidFill>
          <a:ln w="12700">
            <a:solidFill>
              <a:schemeClr val="accent5"/>
            </a:solidFill>
            <a:prstDash val="solid"/>
          </a:ln>
        </p:spPr>
      </p:sp>
      <p:sp>
        <p:nvSpPr>
          <p:cNvPr id="9" name="Text 7"/>
          <p:cNvSpPr txBox="1"/>
          <p:nvPr/>
        </p:nvSpPr>
        <p:spPr>
          <a:xfrm>
            <a:off x="3611880" y="1691640"/>
            <a:ext cx="2148840" cy="731520"/>
          </a:xfrm>
          <a:prstGeom prst="rect">
            <a:avLst/>
          </a:prstGeom>
          <a:noFill/>
          <a:ln/>
        </p:spPr>
        <p:txBody>
          <a:bodyPr wrap="square" lIns="0" tIns="0" rIns="0" bIns="0" rtlCol="0" anchor="ctr"/>
          <a:lstStyle/>
          <a:p>
            <a:pPr indent="0" marL="0">
              <a:buNone/>
            </a:pPr>
            <a:r>
              <a:rPr lang="en-US" sz="3400" b="1" dirty="0">
                <a:solidFill>
                  <a:schemeClr val="accent1"/>
                </a:solidFill>
                <a:latin typeface="Arial" pitchFamily="34" charset="0"/>
                <a:ea typeface="Arial" pitchFamily="34" charset="-122"/>
                <a:cs typeface="Arial" pitchFamily="34" charset="-120"/>
              </a:rPr>
              <a:t>21</a:t>
            </a:r>
            <a:endParaRPr lang="en-US" sz="3400" dirty="0"/>
          </a:p>
        </p:txBody>
      </p:sp>
      <p:sp>
        <p:nvSpPr>
          <p:cNvPr id="10" name="Text 8"/>
          <p:cNvSpPr txBox="1"/>
          <p:nvPr/>
        </p:nvSpPr>
        <p:spPr>
          <a:xfrm>
            <a:off x="3611880" y="2423160"/>
            <a:ext cx="2148840" cy="457200"/>
          </a:xfrm>
          <a:prstGeom prst="rect">
            <a:avLst/>
          </a:prstGeom>
          <a:noFill/>
          <a:ln/>
        </p:spPr>
        <p:txBody>
          <a:bodyPr wrap="square" lIns="0" tIns="0" rIns="0" bIns="0" rtlCol="0" anchor="t"/>
          <a:lstStyle/>
          <a:p>
            <a:pPr indent="0" marL="0">
              <a:buNone/>
            </a:pPr>
            <a:r>
              <a:rPr lang="en-US" sz="1300" dirty="0">
                <a:solidFill>
                  <a:schemeClr val="bg2"/>
                </a:solidFill>
              </a:rPr>
              <a:t>colonnes</a:t>
            </a:r>
            <a:endParaRPr lang="en-US" sz="1300" dirty="0"/>
          </a:p>
        </p:txBody>
      </p:sp>
      <p:sp>
        <p:nvSpPr>
          <p:cNvPr id="11" name="carte chiffre"/>
          <p:cNvSpPr/>
          <p:nvPr/>
        </p:nvSpPr>
        <p:spPr>
          <a:xfrm>
            <a:off x="6217920" y="1508760"/>
            <a:ext cx="2606040" cy="1463040"/>
          </a:xfrm>
          <a:prstGeom prst="roundRect">
            <a:avLst>
              <a:gd name="adj" fmla="val 5000"/>
            </a:avLst>
          </a:prstGeom>
          <a:solidFill>
            <a:schemeClr val="tx2"/>
          </a:solidFill>
          <a:ln w="12700">
            <a:solidFill>
              <a:schemeClr val="accent5"/>
            </a:solidFill>
            <a:prstDash val="solid"/>
          </a:ln>
        </p:spPr>
      </p:sp>
      <p:sp>
        <p:nvSpPr>
          <p:cNvPr id="12" name="Text 10"/>
          <p:cNvSpPr txBox="1"/>
          <p:nvPr/>
        </p:nvSpPr>
        <p:spPr>
          <a:xfrm>
            <a:off x="6446520" y="1691640"/>
            <a:ext cx="2148840" cy="731520"/>
          </a:xfrm>
          <a:prstGeom prst="rect">
            <a:avLst/>
          </a:prstGeom>
          <a:noFill/>
          <a:ln/>
        </p:spPr>
        <p:txBody>
          <a:bodyPr wrap="square" lIns="0" tIns="0" rIns="0" bIns="0" rtlCol="0" anchor="ctr"/>
          <a:lstStyle/>
          <a:p>
            <a:pPr indent="0" marL="0">
              <a:buNone/>
            </a:pPr>
            <a:r>
              <a:rPr lang="en-US" sz="3400" b="1" dirty="0">
                <a:solidFill>
                  <a:schemeClr val="accent1"/>
                </a:solidFill>
                <a:latin typeface="Arial" pitchFamily="34" charset="0"/>
                <a:ea typeface="Arial" pitchFamily="34" charset="-122"/>
                <a:cs typeface="Arial" pitchFamily="34" charset="-120"/>
              </a:rPr>
              <a:t>13 mois</a:t>
            </a:r>
            <a:endParaRPr lang="en-US" sz="3400" dirty="0"/>
          </a:p>
        </p:txBody>
      </p:sp>
      <p:sp>
        <p:nvSpPr>
          <p:cNvPr id="13" name="Text 11"/>
          <p:cNvSpPr txBox="1"/>
          <p:nvPr/>
        </p:nvSpPr>
        <p:spPr>
          <a:xfrm>
            <a:off x="6446520" y="2423160"/>
            <a:ext cx="2148840" cy="457200"/>
          </a:xfrm>
          <a:prstGeom prst="rect">
            <a:avLst/>
          </a:prstGeom>
          <a:noFill/>
          <a:ln/>
        </p:spPr>
        <p:txBody>
          <a:bodyPr wrap="square" lIns="0" tIns="0" rIns="0" bIns="0" rtlCol="0" anchor="t"/>
          <a:lstStyle/>
          <a:p>
            <a:pPr indent="0" marL="0">
              <a:buNone/>
            </a:pPr>
            <a:r>
              <a:rPr lang="en-US" sz="1300" dirty="0">
                <a:solidFill>
                  <a:schemeClr val="bg2"/>
                </a:solidFill>
              </a:rPr>
              <a:t>mai 2014 → mai 2015</a:t>
            </a:r>
            <a:endParaRPr lang="en-US" sz="1300" dirty="0"/>
          </a:p>
        </p:txBody>
      </p:sp>
      <p:sp>
        <p:nvSpPr>
          <p:cNvPr id="14" name="carte chiffre"/>
          <p:cNvSpPr/>
          <p:nvPr/>
        </p:nvSpPr>
        <p:spPr>
          <a:xfrm>
            <a:off x="9052560" y="1508760"/>
            <a:ext cx="2587752" cy="1463040"/>
          </a:xfrm>
          <a:prstGeom prst="roundRect">
            <a:avLst>
              <a:gd name="adj" fmla="val 5000"/>
            </a:avLst>
          </a:prstGeom>
          <a:solidFill>
            <a:schemeClr val="tx2"/>
          </a:solidFill>
          <a:ln w="12700">
            <a:solidFill>
              <a:schemeClr val="accent5"/>
            </a:solidFill>
            <a:prstDash val="solid"/>
          </a:ln>
        </p:spPr>
      </p:sp>
      <p:sp>
        <p:nvSpPr>
          <p:cNvPr id="15" name="Text 13"/>
          <p:cNvSpPr txBox="1"/>
          <p:nvPr/>
        </p:nvSpPr>
        <p:spPr>
          <a:xfrm>
            <a:off x="9281160" y="1691640"/>
            <a:ext cx="2130552" cy="731520"/>
          </a:xfrm>
          <a:prstGeom prst="rect">
            <a:avLst/>
          </a:prstGeom>
          <a:noFill/>
          <a:ln/>
        </p:spPr>
        <p:txBody>
          <a:bodyPr wrap="square" lIns="0" tIns="0" rIns="0" bIns="0" rtlCol="0" anchor="ctr"/>
          <a:lstStyle/>
          <a:p>
            <a:pPr indent="0" marL="0">
              <a:buNone/>
            </a:pPr>
            <a:r>
              <a:rPr lang="en-US" sz="3400" b="1" dirty="0">
                <a:solidFill>
                  <a:schemeClr val="accent3"/>
                </a:solidFill>
                <a:latin typeface="Arial" pitchFamily="34" charset="0"/>
                <a:ea typeface="Arial" pitchFamily="34" charset="-122"/>
                <a:cs typeface="Arial" pitchFamily="34" charset="-120"/>
              </a:rPr>
              <a:t>price</a:t>
            </a:r>
            <a:endParaRPr lang="en-US" sz="3400" dirty="0"/>
          </a:p>
        </p:txBody>
      </p:sp>
      <p:sp>
        <p:nvSpPr>
          <p:cNvPr id="16" name="Text 14"/>
          <p:cNvSpPr txBox="1"/>
          <p:nvPr/>
        </p:nvSpPr>
        <p:spPr>
          <a:xfrm>
            <a:off x="9281160" y="2423160"/>
            <a:ext cx="2130552" cy="457200"/>
          </a:xfrm>
          <a:prstGeom prst="rect">
            <a:avLst/>
          </a:prstGeom>
          <a:noFill/>
          <a:ln/>
        </p:spPr>
        <p:txBody>
          <a:bodyPr wrap="square" lIns="0" tIns="0" rIns="0" bIns="0" rtlCol="0" anchor="t"/>
          <a:lstStyle/>
          <a:p>
            <a:pPr indent="0" marL="0">
              <a:buNone/>
            </a:pPr>
            <a:r>
              <a:rPr lang="en-US" sz="1300" dirty="0">
                <a:solidFill>
                  <a:schemeClr val="bg2"/>
                </a:solidFill>
              </a:rPr>
              <a:t>la cible à prédire ($)</a:t>
            </a:r>
            <a:endParaRPr lang="en-US" sz="1300" dirty="0"/>
          </a:p>
        </p:txBody>
      </p:sp>
      <p:sp>
        <p:nvSpPr>
          <p:cNvPr id="17" name="Text 15"/>
          <p:cNvSpPr txBox="1"/>
          <p:nvPr/>
        </p:nvSpPr>
        <p:spPr>
          <a:xfrm>
            <a:off x="548640" y="3246120"/>
            <a:ext cx="82296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UNE LIGNE = UNE VENTE  ·  première ligne du fichier</a:t>
            </a:r>
            <a:endParaRPr lang="en-US" sz="1200" dirty="0"/>
          </a:p>
        </p:txBody>
      </p:sp>
      <p:graphicFrame>
        <p:nvGraphicFramePr>
          <p:cNvPr id="6" name="exemple de ligne"/>
          <p:cNvGraphicFramePr>
            <a:graphicFrameLocks noGrp="1"/>
          </p:cNvGraphicFramePr>
          <p:nvPr>
            <p:extLst>
              <p:ext uri="{D42A27DB-BD31-4B8C-83A1-F6EECF244321}">
                <p14:modId xmlns:p14="http://schemas.microsoft.com/office/powerpoint/2010/main" val="1579011935"/>
              </p:ext>
            </p:extLst>
          </p:nvPr>
        </p:nvGraphicFramePr>
        <p:xfrm>
          <a:off x="548640" y="3611880"/>
          <a:ext cx="11091672" cy="914400"/>
        </p:xfrm>
        <a:graphic>
          <a:graphicData uri="http://schemas.openxmlformats.org/drawingml/2006/table">
            <a:tbl>
              <a:tblPr/>
              <a:tblGrid>
                <a:gridCol w="1600200"/>
                <a:gridCol w="1463040"/>
                <a:gridCol w="1600200"/>
                <a:gridCol w="1783080"/>
                <a:gridCol w="1463040"/>
                <a:gridCol w="1591056"/>
                <a:gridCol w="1591056"/>
              </a:tblGrid>
              <a:tr h="411480">
                <a:tc>
                  <a:txBody>
                    <a:bodyP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price</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bedrooms</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bathrooms</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sqft_living</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grade</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lat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accent1"/>
                          </a:solidFill>
                          <a:latin typeface="Courier New" pitchFamily="34" charset="0"/>
                          <a:ea typeface="Courier New" pitchFamily="34" charset="-122"/>
                          <a:cs typeface="Courier New" pitchFamily="34" charset="-120"/>
                        </a:rPr>
                        <a:t>long</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r>
              <a:tr h="502920">
                <a:tc>
                  <a:txBody>
                    <a:bodyPr/>
                    <a:lstStyle/>
                    <a:p>
                      <a:pPr algn="ctr" indent="0" marL="0">
                        <a:buNone/>
                      </a:pPr>
                      <a:r>
                        <a:rPr lang="en-US" sz="1600" b="1" dirty="0">
                          <a:solidFill>
                            <a:schemeClr val="accent3"/>
                          </a:solidFill>
                        </a:rPr>
                        <a:t>221 900</a:t>
                      </a:r>
                      <a:endParaRPr lang="en-US" sz="16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3</a:t>
                      </a:r>
                      <a:endParaRPr lang="en-US" sz="16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1</a:t>
                      </a:r>
                      <a:endParaRPr lang="en-US" sz="16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1 180</a:t>
                      </a:r>
                      <a:endParaRPr lang="en-US" sz="16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7</a:t>
                      </a:r>
                      <a:endParaRPr lang="en-US" sz="16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47.5112</a:t>
                      </a:r>
                      <a:endParaRPr lang="en-US" sz="16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-122.257</a:t>
                      </a:r>
                      <a:endParaRPr lang="en-US" sz="16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r>
              <a:tr h="384048">
                <a:tc>
                  <a:txBody>
                    <a:bodyPr/>
                    <a:lstStyle/>
                    <a:p>
                      <a:pPr algn="ctr" indent="0" marL="0">
                        <a:buNone/>
                      </a:pPr>
                      <a:r>
                        <a:rPr lang="en-US" sz="1200" dirty="0">
                          <a:solidFill>
                            <a:schemeClr val="bg2"/>
                          </a:solidFill>
                        </a:rPr>
                        <a:t>prix ($)</a:t>
                      </a:r>
                      <a:endParaRPr lang="en-US" sz="12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accent6"/>
                    </a:solidFill>
                  </a:tcPr>
                </a:tc>
                <a:tc>
                  <a:txBody>
                    <a:bodyPr/>
                    <a:lstStyle/>
                    <a:p>
                      <a:pPr algn="ctr" indent="0" marL="0">
                        <a:buNone/>
                      </a:pPr>
                      <a:r>
                        <a:rPr lang="en-US" sz="1200" dirty="0">
                          <a:solidFill>
                            <a:schemeClr val="bg2"/>
                          </a:solidFill>
                        </a:rPr>
                        <a:t>chambres</a:t>
                      </a:r>
                      <a:endParaRPr lang="en-US" sz="12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accent6"/>
                    </a:solidFill>
                  </a:tcPr>
                </a:tc>
                <a:tc>
                  <a:txBody>
                    <a:bodyPr/>
                    <a:lstStyle/>
                    <a:p>
                      <a:pPr algn="ctr" indent="0" marL="0">
                        <a:buNone/>
                      </a:pPr>
                      <a:r>
                        <a:rPr lang="en-US" sz="1200" dirty="0">
                          <a:solidFill>
                            <a:schemeClr val="bg2"/>
                          </a:solidFill>
                        </a:rPr>
                        <a:t>salles de bain</a:t>
                      </a:r>
                      <a:endParaRPr lang="en-US" sz="12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accent6"/>
                    </a:solidFill>
                  </a:tcPr>
                </a:tc>
                <a:tc>
                  <a:txBody>
                    <a:bodyPr/>
                    <a:lstStyle/>
                    <a:p>
                      <a:pPr algn="ctr" indent="0" marL="0">
                        <a:buNone/>
                      </a:pPr>
                      <a:r>
                        <a:rPr lang="en-US" sz="1200" dirty="0">
                          <a:solidFill>
                            <a:schemeClr val="bg2"/>
                          </a:solidFill>
                        </a:rPr>
                        <a:t>surface (pieds²)</a:t>
                      </a:r>
                      <a:endParaRPr lang="en-US" sz="12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accent6"/>
                    </a:solidFill>
                  </a:tcPr>
                </a:tc>
                <a:tc>
                  <a:txBody>
                    <a:bodyPr/>
                    <a:lstStyle/>
                    <a:p>
                      <a:pPr algn="ctr" indent="0" marL="0">
                        <a:buNone/>
                      </a:pPr>
                      <a:r>
                        <a:rPr lang="en-US" sz="1200" dirty="0">
                          <a:solidFill>
                            <a:schemeClr val="bg2"/>
                          </a:solidFill>
                        </a:rPr>
                        <a:t>qualité (1-13)</a:t>
                      </a:r>
                      <a:endParaRPr lang="en-US" sz="12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accent6"/>
                    </a:solidFill>
                  </a:tcPr>
                </a:tc>
                <a:tc>
                  <a:txBody>
                    <a:bodyPr/>
                    <a:lstStyle/>
                    <a:p>
                      <a:pPr algn="ctr" indent="0" marL="0">
                        <a:buNone/>
                      </a:pPr>
                      <a:r>
                        <a:rPr lang="en-US" sz="1200" dirty="0">
                          <a:solidFill>
                            <a:schemeClr val="bg2"/>
                          </a:solidFill>
                        </a:rPr>
                        <a:t>latitude</a:t>
                      </a:r>
                      <a:endParaRPr lang="en-US" sz="12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accent6"/>
                    </a:solidFill>
                  </a:tcPr>
                </a:tc>
                <a:tc>
                  <a:txBody>
                    <a:bodyPr/>
                    <a:lstStyle/>
                    <a:p>
                      <a:pPr algn="ctr" indent="0" marL="0">
                        <a:buNone/>
                      </a:pPr>
                      <a:r>
                        <a:rPr lang="en-US" sz="1200" dirty="0">
                          <a:solidFill>
                            <a:schemeClr val="bg2"/>
                          </a:solidFill>
                        </a:rPr>
                        <a:t>longitude</a:t>
                      </a:r>
                      <a:endParaRPr lang="en-US" sz="12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accent6"/>
                    </a:solidFill>
                  </a:tcPr>
                </a:tc>
              </a:tr>
            </a:tbl>
          </a:graphicData>
        </a:graphic>
      </p:graphicFrame>
      <p:sp>
        <p:nvSpPr>
          <p:cNvPr id="19" name="choix du dataset"/>
          <p:cNvSpPr/>
          <p:nvPr/>
        </p:nvSpPr>
        <p:spPr>
          <a:xfrm>
            <a:off x="548640" y="5349240"/>
            <a:ext cx="11091672" cy="548640"/>
          </a:xfrm>
          <a:prstGeom prst="roundRect">
            <a:avLst>
              <a:gd name="adj" fmla="val 11667"/>
            </a:avLst>
          </a:prstGeom>
          <a:solidFill>
            <a:schemeClr val="accent6"/>
          </a:solidFill>
          <a:ln w="12700">
            <a:solidFill>
              <a:schemeClr val="accent5"/>
            </a:solidFill>
            <a:prstDash val="solid"/>
          </a:ln>
        </p:spPr>
        <p:txBody>
          <a:bodyPr wrap="square" lIns="50800" tIns="50800" rIns="50800" bIns="50800" rtlCol="0" anchor="ctr"/>
          <a:lstStyle/>
          <a:p>
            <a:pPr algn="ctr" indent="0" marL="0">
              <a:buNone/>
            </a:pPr>
            <a:r>
              <a:rPr lang="en-US" sz="1400" i="1" dirty="0">
                <a:solidFill>
                  <a:schemeClr val="bg2"/>
                </a:solidFill>
              </a:rPr>
              <a:t>Choisi plutôt que Madrid : moins de colonnes, pas de texte libre, variables bien documentées</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05  ·  NETTOYAGE</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Des données déjà propres</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1"/>
            </a:solidFill>
          </a:ln>
        </p:spPr>
        <p:txBody>
          <a:bodyPr wrap="square" lIns="0" tIns="0" rIns="0" bIns="0" rtlCol="0" anchor="ctr"/>
          <a:lstStyle/>
          <a:p>
            <a:pPr algn="ctr" indent="0" marL="0">
              <a:buNone/>
            </a:pPr>
            <a:r>
              <a:rPr lang="en-US" sz="1300" b="1" dirty="0">
                <a:solidFill>
                  <a:schemeClr val="accent1"/>
                </a:solidFill>
              </a:rPr>
              <a:t>Romain</a:t>
            </a:r>
            <a:endParaRPr lang="en-US" sz="1300" dirty="0"/>
          </a:p>
        </p:txBody>
      </p:sp>
      <p:sp>
        <p:nvSpPr>
          <p:cNvPr id="5" name="avant"/>
          <p:cNvSpPr/>
          <p:nvPr/>
        </p:nvSpPr>
        <p:spPr>
          <a:xfrm>
            <a:off x="548640" y="1600200"/>
            <a:ext cx="1645920" cy="1417320"/>
          </a:xfrm>
          <a:prstGeom prst="roundRect">
            <a:avLst>
              <a:gd name="adj" fmla="val 4516"/>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400" b="1" dirty="0">
                <a:solidFill>
                  <a:schemeClr val="bg1"/>
                </a:solidFill>
              </a:rPr>
              <a:t>21 613</a:t>
            </a:r>
            <a:endParaRPr lang="en-US" sz="1400" dirty="0"/>
          </a:p>
          <a:p>
            <a:pPr algn="ctr" indent="0" marL="0">
              <a:buNone/>
            </a:pPr>
            <a:r>
              <a:rPr lang="en-US" sz="1400" dirty="0">
                <a:solidFill>
                  <a:schemeClr val="bg2"/>
                </a:solidFill>
              </a:rPr>
              <a:t>lignes</a:t>
            </a:r>
            <a:endParaRPr lang="en-US" sz="1400" dirty="0"/>
          </a:p>
          <a:p>
            <a:pPr algn="ctr" indent="0" marL="0">
              <a:buNone/>
            </a:pPr>
            <a:r>
              <a:rPr lang="en-US" sz="1400" dirty="0">
                <a:solidFill>
                  <a:schemeClr val="bg2"/>
                </a:solidFill>
              </a:rPr>
              <a:t>21 colonnes</a:t>
            </a:r>
            <a:endParaRPr lang="en-US" sz="1400" dirty="0"/>
          </a:p>
        </p:txBody>
      </p:sp>
      <p:sp>
        <p:nvSpPr>
          <p:cNvPr id="6" name="étape nettoyage 1"/>
          <p:cNvSpPr/>
          <p:nvPr/>
        </p:nvSpPr>
        <p:spPr>
          <a:xfrm>
            <a:off x="2468880" y="1600200"/>
            <a:ext cx="1691640" cy="1417320"/>
          </a:xfrm>
          <a:prstGeom prst="roundRect">
            <a:avLst>
              <a:gd name="adj" fmla="val 4516"/>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400" b="1" dirty="0">
                <a:solidFill>
                  <a:schemeClr val="accent1"/>
                </a:solidFill>
              </a:rPr>
              <a:t>0</a:t>
            </a:r>
            <a:endParaRPr lang="en-US" sz="1400" dirty="0"/>
          </a:p>
          <a:p>
            <a:pPr algn="ctr" indent="0" marL="0">
              <a:buNone/>
            </a:pPr>
            <a:r>
              <a:rPr lang="en-US" sz="1400" dirty="0">
                <a:solidFill>
                  <a:schemeClr val="bg1"/>
                </a:solidFill>
              </a:rPr>
              <a:t>valeur manquante</a:t>
            </a:r>
            <a:endParaRPr lang="en-US" sz="1400" dirty="0"/>
          </a:p>
        </p:txBody>
      </p:sp>
      <p:sp>
        <p:nvSpPr>
          <p:cNvPr id="7" name="étape nettoyage 2"/>
          <p:cNvSpPr/>
          <p:nvPr/>
        </p:nvSpPr>
        <p:spPr>
          <a:xfrm>
            <a:off x="4306824" y="1600200"/>
            <a:ext cx="1691640" cy="1417320"/>
          </a:xfrm>
          <a:prstGeom prst="roundRect">
            <a:avLst>
              <a:gd name="adj" fmla="val 4516"/>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400" b="1" dirty="0">
                <a:solidFill>
                  <a:schemeClr val="accent1"/>
                </a:solidFill>
              </a:rPr>
              <a:t>0</a:t>
            </a:r>
            <a:endParaRPr lang="en-US" sz="1400" dirty="0"/>
          </a:p>
          <a:p>
            <a:pPr algn="ctr" indent="0" marL="0">
              <a:buNone/>
            </a:pPr>
            <a:r>
              <a:rPr lang="en-US" sz="1400" dirty="0">
                <a:solidFill>
                  <a:schemeClr val="bg1"/>
                </a:solidFill>
              </a:rPr>
              <a:t>ligne en double</a:t>
            </a:r>
            <a:endParaRPr lang="en-US" sz="1400" dirty="0"/>
          </a:p>
        </p:txBody>
      </p:sp>
      <p:sp>
        <p:nvSpPr>
          <p:cNvPr id="8" name="étape nettoyage 3"/>
          <p:cNvSpPr/>
          <p:nvPr/>
        </p:nvSpPr>
        <p:spPr>
          <a:xfrm>
            <a:off x="6144768" y="1600200"/>
            <a:ext cx="1691640" cy="1417320"/>
          </a:xfrm>
          <a:prstGeom prst="roundRect">
            <a:avLst>
              <a:gd name="adj" fmla="val 4516"/>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400" b="1" dirty="0">
                <a:solidFill>
                  <a:schemeClr val="accent4"/>
                </a:solidFill>
              </a:rPr>
              <a:t>− 5</a:t>
            </a:r>
            <a:endParaRPr lang="en-US" sz="1400" dirty="0"/>
          </a:p>
          <a:p>
            <a:pPr algn="ctr" indent="0" marL="0">
              <a:buNone/>
            </a:pPr>
            <a:r>
              <a:rPr lang="en-US" sz="1400" dirty="0">
                <a:solidFill>
                  <a:schemeClr val="bg1"/>
                </a:solidFill>
              </a:rPr>
              <a:t>colonnes inutiles</a:t>
            </a:r>
            <a:endParaRPr lang="en-US" sz="1400" dirty="0"/>
          </a:p>
          <a:p>
            <a:pPr algn="ctr" indent="0" marL="0">
              <a:buNone/>
            </a:pPr>
            <a:r>
              <a:rPr lang="en-US" sz="1400" dirty="0">
                <a:solidFill>
                  <a:schemeClr val="bg1"/>
                </a:solidFill>
              </a:rPr>
              <a:t>ou en double</a:t>
            </a:r>
            <a:endParaRPr lang="en-US" sz="1400" dirty="0"/>
          </a:p>
        </p:txBody>
      </p:sp>
      <p:sp>
        <p:nvSpPr>
          <p:cNvPr id="9" name="étape nettoyage 4"/>
          <p:cNvSpPr/>
          <p:nvPr/>
        </p:nvSpPr>
        <p:spPr>
          <a:xfrm>
            <a:off x="7982712" y="1600200"/>
            <a:ext cx="1691640" cy="1417320"/>
          </a:xfrm>
          <a:prstGeom prst="roundRect">
            <a:avLst>
              <a:gd name="adj" fmla="val 4516"/>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400" b="1" dirty="0">
                <a:solidFill>
                  <a:schemeClr val="accent4"/>
                </a:solidFill>
              </a:rPr>
              <a:t>− 17</a:t>
            </a:r>
            <a:endParaRPr lang="en-US" sz="1400" dirty="0"/>
          </a:p>
          <a:p>
            <a:pPr algn="ctr" indent="0" marL="0">
              <a:buNone/>
            </a:pPr>
            <a:r>
              <a:rPr lang="en-US" sz="1400" dirty="0">
                <a:solidFill>
                  <a:schemeClr val="bg1"/>
                </a:solidFill>
              </a:rPr>
              <a:t>lignes</a:t>
            </a:r>
            <a:endParaRPr lang="en-US" sz="1400" dirty="0"/>
          </a:p>
          <a:p>
            <a:pPr algn="ctr" indent="0" marL="0">
              <a:buNone/>
            </a:pPr>
            <a:r>
              <a:rPr lang="en-US" sz="1400" dirty="0">
                <a:solidFill>
                  <a:schemeClr val="bg1"/>
                </a:solidFill>
              </a:rPr>
              <a:t>impossibles</a:t>
            </a:r>
            <a:endParaRPr lang="en-US" sz="1400" dirty="0"/>
          </a:p>
        </p:txBody>
      </p:sp>
      <p:sp>
        <p:nvSpPr>
          <p:cNvPr id="10" name="flèche"/>
          <p:cNvSpPr/>
          <p:nvPr/>
        </p:nvSpPr>
        <p:spPr>
          <a:xfrm>
            <a:off x="2194560" y="2304288"/>
            <a:ext cx="274320" cy="0"/>
          </a:xfrm>
          <a:prstGeom prst="line">
            <a:avLst/>
          </a:prstGeom>
          <a:noFill/>
          <a:ln w="22225">
            <a:solidFill>
              <a:schemeClr val="bg2"/>
            </a:solidFill>
            <a:prstDash val="solid"/>
            <a:tailEnd type="triangle"/>
          </a:ln>
        </p:spPr>
      </p:sp>
      <p:sp>
        <p:nvSpPr>
          <p:cNvPr id="11" name="flèche"/>
          <p:cNvSpPr/>
          <p:nvPr/>
        </p:nvSpPr>
        <p:spPr>
          <a:xfrm>
            <a:off x="9674352" y="2304288"/>
            <a:ext cx="365760" cy="0"/>
          </a:xfrm>
          <a:prstGeom prst="line">
            <a:avLst/>
          </a:prstGeom>
          <a:noFill/>
          <a:ln w="22225">
            <a:solidFill>
              <a:schemeClr val="bg2"/>
            </a:solidFill>
            <a:prstDash val="solid"/>
            <a:tailEnd type="triangle"/>
          </a:ln>
        </p:spPr>
      </p:sp>
      <p:sp>
        <p:nvSpPr>
          <p:cNvPr id="12" name="après"/>
          <p:cNvSpPr/>
          <p:nvPr/>
        </p:nvSpPr>
        <p:spPr>
          <a:xfrm>
            <a:off x="10040112" y="1600200"/>
            <a:ext cx="1600200" cy="1417320"/>
          </a:xfrm>
          <a:prstGeom prst="roundRect">
            <a:avLst>
              <a:gd name="adj" fmla="val 4516"/>
            </a:avLst>
          </a:prstGeom>
          <a:solidFill>
            <a:schemeClr val="tx2"/>
          </a:solidFill>
          <a:ln w="12700">
            <a:solidFill>
              <a:schemeClr val="accent3"/>
            </a:solidFill>
            <a:prstDash val="solid"/>
          </a:ln>
        </p:spPr>
        <p:txBody>
          <a:bodyPr wrap="square" lIns="50800" tIns="50800" rIns="50800" bIns="50800" rtlCol="0" anchor="ctr"/>
          <a:lstStyle/>
          <a:p>
            <a:pPr algn="ctr" indent="0" marL="0">
              <a:buNone/>
            </a:pPr>
            <a:r>
              <a:rPr lang="en-US" sz="1400" b="1" dirty="0">
                <a:solidFill>
                  <a:schemeClr val="accent3"/>
                </a:solidFill>
              </a:rPr>
              <a:t>21 596</a:t>
            </a:r>
            <a:endParaRPr lang="en-US" sz="1400" dirty="0"/>
          </a:p>
          <a:p>
            <a:pPr algn="ctr" indent="0" marL="0">
              <a:buNone/>
            </a:pPr>
            <a:r>
              <a:rPr lang="en-US" sz="1400" dirty="0">
                <a:solidFill>
                  <a:schemeClr val="bg2"/>
                </a:solidFill>
              </a:rPr>
              <a:t>lignes</a:t>
            </a:r>
            <a:endParaRPr lang="en-US" sz="1400" dirty="0"/>
          </a:p>
          <a:p>
            <a:pPr algn="ctr" indent="0" marL="0">
              <a:buNone/>
            </a:pPr>
            <a:r>
              <a:rPr lang="en-US" sz="1400" dirty="0">
                <a:solidFill>
                  <a:schemeClr val="bg2"/>
                </a:solidFill>
              </a:rPr>
              <a:t>16 colonnes</a:t>
            </a:r>
            <a:endParaRPr lang="en-US" sz="1400" dirty="0"/>
          </a:p>
        </p:txBody>
      </p:sp>
      <p:sp>
        <p:nvSpPr>
          <p:cNvPr id="13" name="carte supprimées"/>
          <p:cNvSpPr/>
          <p:nvPr/>
        </p:nvSpPr>
        <p:spPr>
          <a:xfrm>
            <a:off x="548640" y="3429000"/>
            <a:ext cx="5440680" cy="2514600"/>
          </a:xfrm>
          <a:prstGeom prst="roundRect">
            <a:avLst>
              <a:gd name="adj" fmla="val 2909"/>
            </a:avLst>
          </a:prstGeom>
          <a:solidFill>
            <a:schemeClr val="tx2"/>
          </a:solidFill>
          <a:ln w="12700">
            <a:solidFill>
              <a:schemeClr val="accent4"/>
            </a:solidFill>
            <a:prstDash val="solid"/>
          </a:ln>
        </p:spPr>
      </p:sp>
      <p:sp>
        <p:nvSpPr>
          <p:cNvPr id="14" name="supprimé cercle"/>
          <p:cNvSpPr/>
          <p:nvPr/>
        </p:nvSpPr>
        <p:spPr>
          <a:xfrm>
            <a:off x="777240" y="3657600"/>
            <a:ext cx="640080" cy="640080"/>
          </a:xfrm>
          <a:prstGeom prst="ellipse">
            <a:avLst/>
          </a:prstGeom>
          <a:solidFill>
            <a:schemeClr val="accent6"/>
          </a:solidFill>
          <a:ln w="12700">
            <a:solidFill>
              <a:schemeClr val="accent5"/>
            </a:solidFill>
            <a:prstDash val="solid"/>
          </a:ln>
        </p:spPr>
      </p:sp>
      <p:pic>
        <p:nvPicPr>
          <p:cNvPr id="15" name="supprimé icône" descr="supprimé">    </p:cNvPr>
          <p:cNvPicPr>
            <a:picLocks noChangeAspect="1"/>
          </p:cNvPicPr>
          <p:nvPr/>
        </p:nvPicPr>
        <p:blipFill>
          <a:blip r:embed="rId1"/>
          <a:stretch>
            <a:fillRect/>
          </a:stretch>
        </p:blipFill>
        <p:spPr>
          <a:xfrm>
            <a:off x="943661" y="3824021"/>
            <a:ext cx="307238" cy="307238"/>
          </a:xfrm>
          <a:prstGeom prst="rect">
            <a:avLst/>
          </a:prstGeom>
        </p:spPr>
      </p:pic>
      <p:sp>
        <p:nvSpPr>
          <p:cNvPr id="16" name="Text 13"/>
          <p:cNvSpPr txBox="1"/>
          <p:nvPr/>
        </p:nvSpPr>
        <p:spPr>
          <a:xfrm>
            <a:off x="1600200" y="3703320"/>
            <a:ext cx="4206240" cy="548640"/>
          </a:xfrm>
          <a:prstGeom prst="rect">
            <a:avLst/>
          </a:prstGeom>
          <a:noFill/>
          <a:ln/>
        </p:spPr>
        <p:txBody>
          <a:bodyPr wrap="square" lIns="0" tIns="0" rIns="0" bIns="0" rtlCol="0" anchor="ctr"/>
          <a:lstStyle/>
          <a:p>
            <a:pPr indent="0" marL="0">
              <a:buNone/>
            </a:pPr>
            <a:r>
              <a:rPr lang="en-US" sz="2000" b="1" dirty="0">
                <a:solidFill>
                  <a:schemeClr val="accent4"/>
                </a:solidFill>
              </a:rPr>
              <a:t>On supprime l'IMPOSSIBLE</a:t>
            </a:r>
            <a:endParaRPr lang="en-US" sz="2000" dirty="0"/>
          </a:p>
        </p:txBody>
      </p:sp>
      <p:sp>
        <p:nvSpPr>
          <p:cNvPr id="17" name="Text 14"/>
          <p:cNvSpPr txBox="1"/>
          <p:nvPr/>
        </p:nvSpPr>
        <p:spPr>
          <a:xfrm>
            <a:off x="822960" y="4434840"/>
            <a:ext cx="4983480" cy="1417320"/>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Colonnes : id, date, zipcode, sqft_above, sqft_basement</a:t>
            </a:r>
            <a:endParaRPr lang="en-US" sz="1400" dirty="0"/>
          </a:p>
          <a:p>
            <a:pPr indent="0" marL="0">
              <a:spcAft>
                <a:spcPts val="500"/>
              </a:spcAft>
              <a:buNone/>
            </a:pPr>
            <a:r>
              <a:rPr lang="en-US" sz="1400" dirty="0">
                <a:solidFill>
                  <a:schemeClr val="bg1"/>
                </a:solidFill>
              </a:rPr>
              <a:t>Lignes : 1 maison de 33 chambres pour 150 m², 16 maisons sans chambre ou sans salle de bain</a:t>
            </a:r>
            <a:endParaRPr lang="en-US" sz="1400" dirty="0"/>
          </a:p>
          <a:p>
            <a:pPr indent="0" marL="0">
              <a:spcAft>
                <a:spcPts val="500"/>
              </a:spcAft>
              <a:buNone/>
            </a:pPr>
            <a:r>
              <a:rPr lang="en-US" sz="1400" dirty="0">
                <a:solidFill>
                  <a:schemeClr val="accent4"/>
                </a:solidFill>
              </a:rPr>
              <a:t>→ 17 lignes sur 21 613 (moins de 0,1 %)</a:t>
            </a:r>
            <a:endParaRPr lang="en-US" sz="1400" dirty="0"/>
          </a:p>
        </p:txBody>
      </p:sp>
      <p:sp>
        <p:nvSpPr>
          <p:cNvPr id="18" name="carte gardées"/>
          <p:cNvSpPr/>
          <p:nvPr/>
        </p:nvSpPr>
        <p:spPr>
          <a:xfrm>
            <a:off x="6199632" y="3429000"/>
            <a:ext cx="5440680" cy="2514600"/>
          </a:xfrm>
          <a:prstGeom prst="roundRect">
            <a:avLst>
              <a:gd name="adj" fmla="val 2909"/>
            </a:avLst>
          </a:prstGeom>
          <a:solidFill>
            <a:schemeClr val="tx2"/>
          </a:solidFill>
          <a:ln w="12700">
            <a:solidFill>
              <a:schemeClr val="accent3"/>
            </a:solidFill>
            <a:prstDash val="solid"/>
          </a:ln>
        </p:spPr>
      </p:sp>
      <p:sp>
        <p:nvSpPr>
          <p:cNvPr id="19" name="gardé cercle"/>
          <p:cNvSpPr/>
          <p:nvPr/>
        </p:nvSpPr>
        <p:spPr>
          <a:xfrm>
            <a:off x="6428232" y="3657600"/>
            <a:ext cx="640080" cy="640080"/>
          </a:xfrm>
          <a:prstGeom prst="ellipse">
            <a:avLst/>
          </a:prstGeom>
          <a:solidFill>
            <a:schemeClr val="accent6"/>
          </a:solidFill>
          <a:ln w="12700">
            <a:solidFill>
              <a:schemeClr val="accent5"/>
            </a:solidFill>
            <a:prstDash val="solid"/>
          </a:ln>
        </p:spPr>
      </p:sp>
      <p:pic>
        <p:nvPicPr>
          <p:cNvPr id="20" name="gardé icône" descr="gardé">    </p:cNvPr>
          <p:cNvPicPr>
            <a:picLocks noChangeAspect="1"/>
          </p:cNvPicPr>
          <p:nvPr/>
        </p:nvPicPr>
        <p:blipFill>
          <a:blip r:embed="rId2"/>
          <a:stretch>
            <a:fillRect/>
          </a:stretch>
        </p:blipFill>
        <p:spPr>
          <a:xfrm>
            <a:off x="6594653" y="3824021"/>
            <a:ext cx="307238" cy="307238"/>
          </a:xfrm>
          <a:prstGeom prst="rect">
            <a:avLst/>
          </a:prstGeom>
        </p:spPr>
      </p:pic>
      <p:sp>
        <p:nvSpPr>
          <p:cNvPr id="21" name="Text 17"/>
          <p:cNvSpPr txBox="1"/>
          <p:nvPr/>
        </p:nvSpPr>
        <p:spPr>
          <a:xfrm>
            <a:off x="7251192" y="3703320"/>
            <a:ext cx="4206240" cy="548640"/>
          </a:xfrm>
          <a:prstGeom prst="rect">
            <a:avLst/>
          </a:prstGeom>
          <a:noFill/>
          <a:ln/>
        </p:spPr>
        <p:txBody>
          <a:bodyPr wrap="square" lIns="0" tIns="0" rIns="0" bIns="0" rtlCol="0" anchor="ctr"/>
          <a:lstStyle/>
          <a:p>
            <a:pPr indent="0" marL="0">
              <a:buNone/>
            </a:pPr>
            <a:r>
              <a:rPr lang="en-US" sz="2000" b="1" dirty="0">
                <a:solidFill>
                  <a:schemeClr val="accent3"/>
                </a:solidFill>
              </a:rPr>
              <a:t>On garde l'EXTRÊME</a:t>
            </a:r>
            <a:endParaRPr lang="en-US" sz="2000" dirty="0"/>
          </a:p>
        </p:txBody>
      </p:sp>
      <p:sp>
        <p:nvSpPr>
          <p:cNvPr id="22" name="Text 18"/>
          <p:cNvSpPr txBox="1"/>
          <p:nvPr/>
        </p:nvSpPr>
        <p:spPr>
          <a:xfrm>
            <a:off x="6473952" y="4434840"/>
            <a:ext cx="4983480" cy="1417320"/>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1 145 maisons (5,3 %) au-dessus de la limite IQR (≈ 1,13 M$)</a:t>
            </a:r>
            <a:endParaRPr lang="en-US" sz="1400" dirty="0"/>
          </a:p>
          <a:p>
            <a:pPr indent="0" marL="0">
              <a:spcAft>
                <a:spcPts val="500"/>
              </a:spcAft>
              <a:buNone/>
            </a:pPr>
            <a:r>
              <a:rPr lang="en-US" sz="1400" dirty="0">
                <a:solidFill>
                  <a:schemeClr val="bg1"/>
                </a:solidFill>
              </a:rPr>
              <a:t>Ce sont des maisons de luxe, pas des erreurs</a:t>
            </a:r>
            <a:endParaRPr lang="en-US" sz="1400" dirty="0"/>
          </a:p>
          <a:p>
            <a:pPr indent="0" marL="0">
              <a:spcAft>
                <a:spcPts val="500"/>
              </a:spcAft>
              <a:buNone/>
            </a:pPr>
            <a:r>
              <a:rPr lang="en-US" sz="1400" dirty="0">
                <a:solidFill>
                  <a:schemeClr val="accent3"/>
                </a:solidFill>
              </a:rPr>
              <a:t>→ sinon le modèle ne saurait plus estimer les grandes maisons</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06  ·  ANALYSE EXPLORATOIRE</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Ce que montrent les graphiques</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1"/>
            </a:solidFill>
          </a:ln>
        </p:spPr>
        <p:txBody>
          <a:bodyPr wrap="square" lIns="0" tIns="0" rIns="0" bIns="0" rtlCol="0" anchor="ctr"/>
          <a:lstStyle/>
          <a:p>
            <a:pPr algn="ctr" indent="0" marL="0">
              <a:buNone/>
            </a:pPr>
            <a:r>
              <a:rPr lang="en-US" sz="1300" b="1" dirty="0">
                <a:solidFill>
                  <a:schemeClr val="accent1"/>
                </a:solidFill>
              </a:rPr>
              <a:t>Romain</a:t>
            </a:r>
            <a:endParaRPr lang="en-US" sz="1300" dirty="0"/>
          </a:p>
        </p:txBody>
      </p:sp>
      <p:sp>
        <p:nvSpPr>
          <p:cNvPr id="5" name="cadre 2_surface_prix.png"/>
          <p:cNvSpPr/>
          <p:nvPr/>
        </p:nvSpPr>
        <p:spPr>
          <a:xfrm>
            <a:off x="548640" y="1508760"/>
            <a:ext cx="3611880" cy="3017520"/>
          </a:xfrm>
          <a:prstGeom prst="roundRect">
            <a:avLst>
              <a:gd name="adj" fmla="val 2424"/>
            </a:avLst>
          </a:prstGeom>
          <a:solidFill>
            <a:srgbClr val="FFFFFF"/>
          </a:solidFill>
          <a:ln/>
        </p:spPr>
      </p:sp>
      <p:pic>
        <p:nvPicPr>
          <p:cNvPr id="6" name="2_surface_prix.png" descr="Plus c'est grand, plus c'est cher">    </p:cNvPr>
          <p:cNvPicPr>
            <a:picLocks noChangeAspect="1"/>
          </p:cNvPicPr>
          <p:nvPr/>
        </p:nvPicPr>
        <p:blipFill>
          <a:blip r:embed="rId1"/>
          <a:stretch>
            <a:fillRect/>
          </a:stretch>
        </p:blipFill>
        <p:spPr>
          <a:xfrm>
            <a:off x="640080" y="1851362"/>
            <a:ext cx="3429000" cy="2332315"/>
          </a:xfrm>
          <a:prstGeom prst="rect">
            <a:avLst/>
          </a:prstGeom>
        </p:spPr>
      </p:pic>
      <p:sp>
        <p:nvSpPr>
          <p:cNvPr id="7" name="Text 4"/>
          <p:cNvSpPr txBox="1"/>
          <p:nvPr/>
        </p:nvSpPr>
        <p:spPr>
          <a:xfrm>
            <a:off x="548640" y="4663440"/>
            <a:ext cx="3611880" cy="365760"/>
          </a:xfrm>
          <a:prstGeom prst="rect">
            <a:avLst/>
          </a:prstGeom>
          <a:noFill/>
          <a:ln/>
        </p:spPr>
        <p:txBody>
          <a:bodyPr wrap="square" lIns="0" tIns="0" rIns="0" bIns="0" rtlCol="0" anchor="t"/>
          <a:lstStyle/>
          <a:p>
            <a:pPr algn="ctr" indent="0" marL="0">
              <a:buNone/>
            </a:pPr>
            <a:r>
              <a:rPr lang="en-US" sz="1500" b="1" dirty="0">
                <a:solidFill>
                  <a:schemeClr val="bg1"/>
                </a:solidFill>
              </a:rPr>
              <a:t>Plus c'est grand, plus c'est cher</a:t>
            </a:r>
            <a:endParaRPr lang="en-US" sz="1500" dirty="0"/>
          </a:p>
        </p:txBody>
      </p:sp>
      <p:sp>
        <p:nvSpPr>
          <p:cNvPr id="8" name="Text 5"/>
          <p:cNvSpPr txBox="1"/>
          <p:nvPr/>
        </p:nvSpPr>
        <p:spPr>
          <a:xfrm>
            <a:off x="548640" y="5029200"/>
            <a:ext cx="3611880" cy="320040"/>
          </a:xfrm>
          <a:prstGeom prst="rect">
            <a:avLst/>
          </a:prstGeom>
          <a:noFill/>
          <a:ln/>
        </p:spPr>
        <p:txBody>
          <a:bodyPr wrap="square" lIns="0" tIns="0" rIns="0" bIns="0" rtlCol="0" anchor="t"/>
          <a:lstStyle/>
          <a:p>
            <a:pPr algn="ctr" indent="0" marL="0">
              <a:buNone/>
            </a:pPr>
            <a:r>
              <a:rPr lang="en-US" sz="1300" dirty="0">
                <a:solidFill>
                  <a:schemeClr val="accent1"/>
                </a:solidFill>
              </a:rPr>
              <a:t>corrélation de 0,70</a:t>
            </a:r>
            <a:endParaRPr lang="en-US" sz="1300" dirty="0"/>
          </a:p>
        </p:txBody>
      </p:sp>
      <p:sp>
        <p:nvSpPr>
          <p:cNvPr id="9" name="cadre 3_grade_prix.png"/>
          <p:cNvSpPr/>
          <p:nvPr/>
        </p:nvSpPr>
        <p:spPr>
          <a:xfrm>
            <a:off x="4434840" y="1508760"/>
            <a:ext cx="3931920" cy="3017520"/>
          </a:xfrm>
          <a:prstGeom prst="roundRect">
            <a:avLst>
              <a:gd name="adj" fmla="val 2424"/>
            </a:avLst>
          </a:prstGeom>
          <a:solidFill>
            <a:srgbClr val="FFFFFF"/>
          </a:solidFill>
          <a:ln/>
        </p:spPr>
      </p:sp>
      <p:pic>
        <p:nvPicPr>
          <p:cNvPr id="10" name="3_grade_prix.png" descr="Le prix augmente globalement avec la qualité">    </p:cNvPr>
          <p:cNvPicPr>
            <a:picLocks noChangeAspect="1"/>
          </p:cNvPicPr>
          <p:nvPr/>
        </p:nvPicPr>
        <p:blipFill>
          <a:blip r:embed="rId2"/>
          <a:stretch>
            <a:fillRect/>
          </a:stretch>
        </p:blipFill>
        <p:spPr>
          <a:xfrm>
            <a:off x="4526280" y="1948691"/>
            <a:ext cx="3749040" cy="2137658"/>
          </a:xfrm>
          <a:prstGeom prst="rect">
            <a:avLst/>
          </a:prstGeom>
        </p:spPr>
      </p:pic>
      <p:sp>
        <p:nvSpPr>
          <p:cNvPr id="11" name="Text 7"/>
          <p:cNvSpPr txBox="1"/>
          <p:nvPr/>
        </p:nvSpPr>
        <p:spPr>
          <a:xfrm>
            <a:off x="4434840" y="4663440"/>
            <a:ext cx="3931920" cy="365760"/>
          </a:xfrm>
          <a:prstGeom prst="rect">
            <a:avLst/>
          </a:prstGeom>
          <a:noFill/>
          <a:ln/>
        </p:spPr>
        <p:txBody>
          <a:bodyPr wrap="square" lIns="0" tIns="0" rIns="0" bIns="0" rtlCol="0" anchor="t"/>
          <a:lstStyle/>
          <a:p>
            <a:pPr algn="ctr" indent="0" marL="0">
              <a:buNone/>
            </a:pPr>
            <a:r>
              <a:rPr lang="en-US" sz="1500" b="1" dirty="0">
                <a:solidFill>
                  <a:schemeClr val="bg1"/>
                </a:solidFill>
              </a:rPr>
              <a:t>Le prix augmente globalement avec la qualité</a:t>
            </a:r>
            <a:endParaRPr lang="en-US" sz="1500" dirty="0"/>
          </a:p>
        </p:txBody>
      </p:sp>
      <p:sp>
        <p:nvSpPr>
          <p:cNvPr id="12" name="Text 8"/>
          <p:cNvSpPr txBox="1"/>
          <p:nvPr/>
        </p:nvSpPr>
        <p:spPr>
          <a:xfrm>
            <a:off x="4434840" y="5029200"/>
            <a:ext cx="3931920" cy="320040"/>
          </a:xfrm>
          <a:prstGeom prst="rect">
            <a:avLst/>
          </a:prstGeom>
          <a:noFill/>
          <a:ln/>
        </p:spPr>
        <p:txBody>
          <a:bodyPr wrap="square" lIns="0" tIns="0" rIns="0" bIns="0" rtlCol="0" anchor="t"/>
          <a:lstStyle/>
          <a:p>
            <a:pPr algn="ctr" indent="0" marL="0">
              <a:buNone/>
            </a:pPr>
            <a:r>
              <a:rPr lang="en-US" sz="1300" dirty="0">
                <a:solidFill>
                  <a:schemeClr val="accent1"/>
                </a:solidFill>
              </a:rPr>
              <a:t>0,38 M$ (grade 7) → 2,98 M$ (grade 13)</a:t>
            </a:r>
            <a:endParaRPr lang="en-US" sz="1300" dirty="0"/>
          </a:p>
        </p:txBody>
      </p:sp>
      <p:sp>
        <p:nvSpPr>
          <p:cNvPr id="13" name="cadre 6_carte_prix.png"/>
          <p:cNvSpPr/>
          <p:nvPr/>
        </p:nvSpPr>
        <p:spPr>
          <a:xfrm>
            <a:off x="8641080" y="1508760"/>
            <a:ext cx="2999232" cy="3017520"/>
          </a:xfrm>
          <a:prstGeom prst="roundRect">
            <a:avLst>
              <a:gd name="adj" fmla="val 2439"/>
            </a:avLst>
          </a:prstGeom>
          <a:solidFill>
            <a:srgbClr val="FFFFFF"/>
          </a:solidFill>
          <a:ln/>
        </p:spPr>
      </p:sp>
      <p:pic>
        <p:nvPicPr>
          <p:cNvPr id="14" name="6_carte_prix.png" descr="Des quartiers bien plus chers">    </p:cNvPr>
          <p:cNvPicPr>
            <a:picLocks noChangeAspect="1"/>
          </p:cNvPicPr>
          <p:nvPr/>
        </p:nvPicPr>
        <p:blipFill>
          <a:blip r:embed="rId3"/>
          <a:stretch>
            <a:fillRect/>
          </a:stretch>
        </p:blipFill>
        <p:spPr>
          <a:xfrm>
            <a:off x="8732520" y="1751379"/>
            <a:ext cx="2816352" cy="2532282"/>
          </a:xfrm>
          <a:prstGeom prst="rect">
            <a:avLst/>
          </a:prstGeom>
        </p:spPr>
      </p:pic>
      <p:sp>
        <p:nvSpPr>
          <p:cNvPr id="15" name="Text 10"/>
          <p:cNvSpPr txBox="1"/>
          <p:nvPr/>
        </p:nvSpPr>
        <p:spPr>
          <a:xfrm>
            <a:off x="8641080" y="4663440"/>
            <a:ext cx="2999232" cy="365760"/>
          </a:xfrm>
          <a:prstGeom prst="rect">
            <a:avLst/>
          </a:prstGeom>
          <a:noFill/>
          <a:ln/>
        </p:spPr>
        <p:txBody>
          <a:bodyPr wrap="square" lIns="0" tIns="0" rIns="0" bIns="0" rtlCol="0" anchor="t"/>
          <a:lstStyle/>
          <a:p>
            <a:pPr algn="ctr" indent="0" marL="0">
              <a:buNone/>
            </a:pPr>
            <a:r>
              <a:rPr lang="en-US" sz="1500" b="1" dirty="0">
                <a:solidFill>
                  <a:schemeClr val="bg1"/>
                </a:solidFill>
              </a:rPr>
              <a:t>Des quartiers bien plus chers</a:t>
            </a:r>
            <a:endParaRPr lang="en-US" sz="1500" dirty="0"/>
          </a:p>
        </p:txBody>
      </p:sp>
      <p:sp>
        <p:nvSpPr>
          <p:cNvPr id="16" name="Text 11"/>
          <p:cNvSpPr txBox="1"/>
          <p:nvPr/>
        </p:nvSpPr>
        <p:spPr>
          <a:xfrm>
            <a:off x="8641080" y="5029200"/>
            <a:ext cx="2999232" cy="320040"/>
          </a:xfrm>
          <a:prstGeom prst="rect">
            <a:avLst/>
          </a:prstGeom>
          <a:noFill/>
          <a:ln/>
        </p:spPr>
        <p:txBody>
          <a:bodyPr wrap="square" lIns="0" tIns="0" rIns="0" bIns="0" rtlCol="0" anchor="t"/>
          <a:lstStyle/>
          <a:p>
            <a:pPr algn="ctr" indent="0" marL="0">
              <a:buNone/>
            </a:pPr>
            <a:r>
              <a:rPr lang="en-US" sz="1300" dirty="0">
                <a:solidFill>
                  <a:schemeClr val="accent1"/>
                </a:solidFill>
              </a:rPr>
              <a:t>l'emplacement compte</a:t>
            </a:r>
            <a:endParaRPr lang="en-US" sz="1300" dirty="0"/>
          </a:p>
        </p:txBody>
      </p:sp>
      <p:sp>
        <p:nvSpPr>
          <p:cNvPr id="17" name="note Power BI"/>
          <p:cNvSpPr/>
          <p:nvPr/>
        </p:nvSpPr>
        <p:spPr>
          <a:xfrm>
            <a:off x="548640" y="5623560"/>
            <a:ext cx="11091672" cy="502920"/>
          </a:xfrm>
          <a:prstGeom prst="roundRect">
            <a:avLst>
              <a:gd name="adj" fmla="val 12727"/>
            </a:avLst>
          </a:prstGeom>
          <a:solidFill>
            <a:schemeClr val="accent6"/>
          </a:solidFill>
          <a:ln w="12700">
            <a:solidFill>
              <a:schemeClr val="accent5"/>
            </a:solidFill>
            <a:prstDash val="solid"/>
          </a:ln>
        </p:spPr>
        <p:txBody>
          <a:bodyPr wrap="square" lIns="50800" tIns="50800" rIns="50800" bIns="50800" rtlCol="0" anchor="ctr"/>
          <a:lstStyle/>
          <a:p>
            <a:pPr algn="ctr" indent="0" marL="0">
              <a:buNone/>
            </a:pPr>
            <a:r>
              <a:rPr lang="en-US" sz="1400" dirty="0">
                <a:solidFill>
                  <a:schemeClr val="bg2"/>
                </a:solidFill>
              </a:rPr>
              <a:t>Pas de Power BI : analyse refaite en Python (matplotlib) et regroupée dans dashboard.html</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07  ·  LE CHEMIN DES DONNÉES</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Du CSV au prix estimé</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2"/>
            </a:solidFill>
          </a:ln>
        </p:spPr>
        <p:txBody>
          <a:bodyPr wrap="square" lIns="0" tIns="0" rIns="0" bIns="0" rtlCol="0" anchor="ctr"/>
          <a:lstStyle/>
          <a:p>
            <a:pPr algn="ctr" indent="0" marL="0">
              <a:buNone/>
            </a:pPr>
            <a:r>
              <a:rPr lang="en-US" sz="1300" b="1" dirty="0">
                <a:solidFill>
                  <a:schemeClr val="accent2"/>
                </a:solidFill>
              </a:rPr>
              <a:t>Yannis</a:t>
            </a:r>
            <a:endParaRPr lang="en-US" sz="1300" dirty="0"/>
          </a:p>
        </p:txBody>
      </p:sp>
      <p:sp>
        <p:nvSpPr>
          <p:cNvPr id="5" name="chemin 1"/>
          <p:cNvSpPr/>
          <p:nvPr/>
        </p:nvSpPr>
        <p:spPr>
          <a:xfrm>
            <a:off x="548640" y="1600200"/>
            <a:ext cx="2377440" cy="1417320"/>
          </a:xfrm>
          <a:prstGeom prst="roundRect">
            <a:avLst>
              <a:gd name="adj" fmla="val 4516"/>
            </a:avLst>
          </a:prstGeom>
          <a:solidFill>
            <a:schemeClr val="tx2"/>
          </a:solidFill>
          <a:ln w="12700">
            <a:solidFill>
              <a:schemeClr val="accent1"/>
            </a:solidFill>
            <a:prstDash val="solid"/>
          </a:ln>
        </p:spPr>
        <p:txBody>
          <a:bodyPr wrap="square" lIns="50800" tIns="50800" rIns="50800" bIns="50800" rtlCol="0" anchor="ctr"/>
          <a:lstStyle/>
          <a:p>
            <a:pPr algn="ctr" indent="0" marL="0">
              <a:buNone/>
            </a:pPr>
            <a:r>
              <a:rPr lang="en-US" sz="1400" b="1" dirty="0">
                <a:solidFill>
                  <a:schemeClr val="accent1"/>
                </a:solidFill>
              </a:rPr>
              <a:t>CSV</a:t>
            </a:r>
            <a:endParaRPr lang="en-US" sz="1400" dirty="0"/>
          </a:p>
          <a:p>
            <a:pPr algn="ctr" indent="0" marL="0">
              <a:buNone/>
            </a:pPr>
            <a:r>
              <a:rPr lang="en-US" sz="1400" dirty="0">
                <a:solidFill>
                  <a:schemeClr val="bg2"/>
                </a:solidFill>
              </a:rPr>
              <a:t>kc_house_data.csv</a:t>
            </a:r>
            <a:endParaRPr lang="en-US" sz="1400" dirty="0"/>
          </a:p>
        </p:txBody>
      </p:sp>
      <p:sp>
        <p:nvSpPr>
          <p:cNvPr id="6" name="flèche"/>
          <p:cNvSpPr/>
          <p:nvPr/>
        </p:nvSpPr>
        <p:spPr>
          <a:xfrm>
            <a:off x="2926080" y="2304288"/>
            <a:ext cx="521208" cy="0"/>
          </a:xfrm>
          <a:prstGeom prst="line">
            <a:avLst/>
          </a:prstGeom>
          <a:noFill/>
          <a:ln w="22225">
            <a:solidFill>
              <a:schemeClr val="accent1"/>
            </a:solidFill>
            <a:prstDash val="solid"/>
            <a:tailEnd type="triangle"/>
          </a:ln>
        </p:spPr>
      </p:sp>
      <p:sp>
        <p:nvSpPr>
          <p:cNvPr id="7" name="chemin 2"/>
          <p:cNvSpPr/>
          <p:nvPr/>
        </p:nvSpPr>
        <p:spPr>
          <a:xfrm>
            <a:off x="3447288" y="1600200"/>
            <a:ext cx="2377440" cy="1417320"/>
          </a:xfrm>
          <a:prstGeom prst="roundRect">
            <a:avLst>
              <a:gd name="adj" fmla="val 4516"/>
            </a:avLst>
          </a:prstGeom>
          <a:solidFill>
            <a:schemeClr val="tx2"/>
          </a:solidFill>
          <a:ln w="12700">
            <a:solidFill>
              <a:schemeClr val="accent1"/>
            </a:solidFill>
            <a:prstDash val="solid"/>
          </a:ln>
        </p:spPr>
        <p:txBody>
          <a:bodyPr wrap="square" lIns="50800" tIns="50800" rIns="50800" bIns="50800" rtlCol="0" anchor="ctr"/>
          <a:lstStyle/>
          <a:p>
            <a:pPr algn="ctr" indent="0" marL="0">
              <a:buNone/>
            </a:pPr>
            <a:r>
              <a:rPr lang="en-US" sz="1400" b="1" dirty="0">
                <a:solidFill>
                  <a:schemeClr val="accent1"/>
                </a:solidFill>
              </a:rPr>
              <a:t>pandas</a:t>
            </a:r>
            <a:endParaRPr lang="en-US" sz="1400" dirty="0"/>
          </a:p>
          <a:p>
            <a:pPr algn="ctr" indent="0" marL="0">
              <a:buNone/>
            </a:pPr>
            <a:r>
              <a:rPr lang="en-US" sz="1400" dirty="0">
                <a:solidFill>
                  <a:schemeClr val="bg2"/>
                </a:solidFill>
              </a:rPr>
              <a:t>lecture et nettoyage</a:t>
            </a:r>
            <a:endParaRPr lang="en-US" sz="1400" dirty="0"/>
          </a:p>
        </p:txBody>
      </p:sp>
      <p:sp>
        <p:nvSpPr>
          <p:cNvPr id="8" name="flèche"/>
          <p:cNvSpPr/>
          <p:nvPr/>
        </p:nvSpPr>
        <p:spPr>
          <a:xfrm>
            <a:off x="5824728" y="2304288"/>
            <a:ext cx="521208" cy="0"/>
          </a:xfrm>
          <a:prstGeom prst="line">
            <a:avLst/>
          </a:prstGeom>
          <a:noFill/>
          <a:ln w="22225">
            <a:solidFill>
              <a:schemeClr val="accent1"/>
            </a:solidFill>
            <a:prstDash val="solid"/>
            <a:tailEnd type="triangle"/>
          </a:ln>
        </p:spPr>
      </p:sp>
      <p:sp>
        <p:nvSpPr>
          <p:cNvPr id="9" name="chemin 3"/>
          <p:cNvSpPr/>
          <p:nvPr/>
        </p:nvSpPr>
        <p:spPr>
          <a:xfrm>
            <a:off x="6345936" y="1600200"/>
            <a:ext cx="2377440" cy="1417320"/>
          </a:xfrm>
          <a:prstGeom prst="roundRect">
            <a:avLst>
              <a:gd name="adj" fmla="val 4516"/>
            </a:avLst>
          </a:prstGeom>
          <a:solidFill>
            <a:schemeClr val="tx2"/>
          </a:solidFill>
          <a:ln w="12700">
            <a:solidFill>
              <a:schemeClr val="accent1"/>
            </a:solidFill>
            <a:prstDash val="solid"/>
          </a:ln>
        </p:spPr>
        <p:txBody>
          <a:bodyPr wrap="square" lIns="50800" tIns="50800" rIns="50800" bIns="50800" rtlCol="0" anchor="ctr"/>
          <a:lstStyle/>
          <a:p>
            <a:pPr algn="ctr" indent="0" marL="0">
              <a:buNone/>
            </a:pPr>
            <a:r>
              <a:rPr lang="en-US" sz="1400" b="1" dirty="0">
                <a:solidFill>
                  <a:schemeClr val="accent1"/>
                </a:solidFill>
              </a:rPr>
              <a:t>X  /  y</a:t>
            </a:r>
            <a:endParaRPr lang="en-US" sz="1400" dirty="0"/>
          </a:p>
          <a:p>
            <a:pPr algn="ctr" indent="0" marL="0">
              <a:buNone/>
            </a:pPr>
            <a:r>
              <a:rPr lang="en-US" sz="1400" dirty="0">
                <a:solidFill>
                  <a:schemeClr val="bg2"/>
                </a:solidFill>
              </a:rPr>
              <a:t>X = 8 variables</a:t>
            </a:r>
            <a:endParaRPr lang="en-US" sz="1400" dirty="0"/>
          </a:p>
          <a:p>
            <a:pPr algn="ctr" indent="0" marL="0">
              <a:buNone/>
            </a:pPr>
            <a:r>
              <a:rPr lang="en-US" sz="1400" dirty="0">
                <a:solidFill>
                  <a:schemeClr val="bg2"/>
                </a:solidFill>
              </a:rPr>
              <a:t>y = price</a:t>
            </a:r>
            <a:endParaRPr lang="en-US" sz="1400" dirty="0"/>
          </a:p>
        </p:txBody>
      </p:sp>
      <p:sp>
        <p:nvSpPr>
          <p:cNvPr id="10" name="flèche"/>
          <p:cNvSpPr/>
          <p:nvPr/>
        </p:nvSpPr>
        <p:spPr>
          <a:xfrm>
            <a:off x="8723376" y="2304288"/>
            <a:ext cx="521208" cy="0"/>
          </a:xfrm>
          <a:prstGeom prst="line">
            <a:avLst/>
          </a:prstGeom>
          <a:noFill/>
          <a:ln w="22225">
            <a:solidFill>
              <a:schemeClr val="accent1"/>
            </a:solidFill>
            <a:prstDash val="solid"/>
            <a:tailEnd type="triangle"/>
          </a:ln>
        </p:spPr>
      </p:sp>
      <p:sp>
        <p:nvSpPr>
          <p:cNvPr id="11" name="chemin 4"/>
          <p:cNvSpPr/>
          <p:nvPr/>
        </p:nvSpPr>
        <p:spPr>
          <a:xfrm>
            <a:off x="9244584" y="1600200"/>
            <a:ext cx="2377440" cy="1417320"/>
          </a:xfrm>
          <a:prstGeom prst="roundRect">
            <a:avLst>
              <a:gd name="adj" fmla="val 4516"/>
            </a:avLst>
          </a:prstGeom>
          <a:solidFill>
            <a:schemeClr val="tx2"/>
          </a:solidFill>
          <a:ln w="12700">
            <a:solidFill>
              <a:schemeClr val="accent1"/>
            </a:solidFill>
            <a:prstDash val="solid"/>
          </a:ln>
        </p:spPr>
        <p:txBody>
          <a:bodyPr wrap="square" lIns="50800" tIns="50800" rIns="50800" bIns="50800" rtlCol="0" anchor="ctr"/>
          <a:lstStyle/>
          <a:p>
            <a:pPr algn="ctr" indent="0" marL="0">
              <a:buNone/>
            </a:pPr>
            <a:r>
              <a:rPr lang="en-US" sz="1400" b="1" dirty="0">
                <a:solidFill>
                  <a:schemeClr val="accent1"/>
                </a:solidFill>
              </a:rPr>
              <a:t>train / test</a:t>
            </a:r>
            <a:endParaRPr lang="en-US" sz="1400" dirty="0"/>
          </a:p>
          <a:p>
            <a:pPr algn="ctr" indent="0" marL="0">
              <a:buNone/>
            </a:pPr>
            <a:r>
              <a:rPr lang="en-US" sz="1400" dirty="0">
                <a:solidFill>
                  <a:schemeClr val="bg2"/>
                </a:solidFill>
              </a:rPr>
              <a:t>17 276  /  4 320</a:t>
            </a:r>
            <a:endParaRPr lang="en-US" sz="1400" dirty="0"/>
          </a:p>
        </p:txBody>
      </p:sp>
      <p:sp>
        <p:nvSpPr>
          <p:cNvPr id="12" name="flèche"/>
          <p:cNvSpPr/>
          <p:nvPr/>
        </p:nvSpPr>
        <p:spPr>
          <a:xfrm>
            <a:off x="10433304" y="3017520"/>
            <a:ext cx="0" cy="594360"/>
          </a:xfrm>
          <a:prstGeom prst="line">
            <a:avLst/>
          </a:prstGeom>
          <a:noFill/>
          <a:ln w="22225">
            <a:solidFill>
              <a:schemeClr val="accent1"/>
            </a:solidFill>
            <a:prstDash val="solid"/>
            <a:tailEnd type="triangle"/>
          </a:ln>
        </p:spPr>
      </p:sp>
      <p:sp>
        <p:nvSpPr>
          <p:cNvPr id="13" name="chemin 5"/>
          <p:cNvSpPr/>
          <p:nvPr/>
        </p:nvSpPr>
        <p:spPr>
          <a:xfrm>
            <a:off x="9244584" y="3611880"/>
            <a:ext cx="2377440" cy="1417320"/>
          </a:xfrm>
          <a:prstGeom prst="roundRect">
            <a:avLst>
              <a:gd name="adj" fmla="val 4516"/>
            </a:avLst>
          </a:prstGeom>
          <a:solidFill>
            <a:schemeClr val="tx2"/>
          </a:solidFill>
          <a:ln w="12700">
            <a:solidFill>
              <a:schemeClr val="accent3"/>
            </a:solidFill>
            <a:prstDash val="solid"/>
          </a:ln>
        </p:spPr>
        <p:txBody>
          <a:bodyPr wrap="square" lIns="50800" tIns="50800" rIns="50800" bIns="50800" rtlCol="0" anchor="ctr"/>
          <a:lstStyle/>
          <a:p>
            <a:pPr algn="ctr" indent="0" marL="0">
              <a:buNone/>
            </a:pPr>
            <a:r>
              <a:rPr lang="en-US" sz="1400" b="1" dirty="0">
                <a:solidFill>
                  <a:schemeClr val="accent3"/>
                </a:solidFill>
              </a:rPr>
              <a:t>Random Forest</a:t>
            </a:r>
            <a:endParaRPr lang="en-US" sz="1400" dirty="0"/>
          </a:p>
          <a:p>
            <a:pPr algn="ctr" indent="0" marL="0">
              <a:buNone/>
            </a:pPr>
            <a:r>
              <a:rPr lang="en-US" sz="1400" dirty="0">
                <a:solidFill>
                  <a:schemeClr val="bg2"/>
                </a:solidFill>
              </a:rPr>
              <a:t>apprend sur le train</a:t>
            </a:r>
            <a:endParaRPr lang="en-US" sz="1400" dirty="0"/>
          </a:p>
        </p:txBody>
      </p:sp>
      <p:sp>
        <p:nvSpPr>
          <p:cNvPr id="14" name="flèche"/>
          <p:cNvSpPr/>
          <p:nvPr/>
        </p:nvSpPr>
        <p:spPr>
          <a:xfrm flipH="1">
            <a:off x="8723376" y="4315968"/>
            <a:ext cx="521208" cy="0"/>
          </a:xfrm>
          <a:prstGeom prst="line">
            <a:avLst/>
          </a:prstGeom>
          <a:noFill/>
          <a:ln w="22225">
            <a:solidFill>
              <a:schemeClr val="accent3"/>
            </a:solidFill>
            <a:prstDash val="solid"/>
            <a:tailEnd type="triangle"/>
          </a:ln>
        </p:spPr>
      </p:sp>
      <p:sp>
        <p:nvSpPr>
          <p:cNvPr id="15" name="chemin 6"/>
          <p:cNvSpPr/>
          <p:nvPr/>
        </p:nvSpPr>
        <p:spPr>
          <a:xfrm>
            <a:off x="6345936" y="3611880"/>
            <a:ext cx="2377440" cy="1417320"/>
          </a:xfrm>
          <a:prstGeom prst="roundRect">
            <a:avLst>
              <a:gd name="adj" fmla="val 4516"/>
            </a:avLst>
          </a:prstGeom>
          <a:solidFill>
            <a:schemeClr val="tx2"/>
          </a:solidFill>
          <a:ln w="12700">
            <a:solidFill>
              <a:schemeClr val="accent3"/>
            </a:solidFill>
            <a:prstDash val="solid"/>
          </a:ln>
        </p:spPr>
        <p:txBody>
          <a:bodyPr wrap="square" lIns="50800" tIns="50800" rIns="50800" bIns="50800" rtlCol="0" anchor="ctr"/>
          <a:lstStyle/>
          <a:p>
            <a:pPr algn="ctr" indent="0" marL="0">
              <a:buNone/>
            </a:pPr>
            <a:r>
              <a:rPr lang="en-US" sz="1400" b="1" dirty="0">
                <a:solidFill>
                  <a:schemeClr val="accent3"/>
                </a:solidFill>
                <a:latin typeface="Courier New" pitchFamily="34" charset="0"/>
                <a:ea typeface="Courier New" pitchFamily="34" charset="-122"/>
                <a:cs typeface="Courier New" pitchFamily="34" charset="-120"/>
              </a:rPr>
              <a:t>model.pkl</a:t>
            </a:r>
            <a:endParaRPr lang="en-US" sz="1400" dirty="0"/>
          </a:p>
          <a:p>
            <a:pPr algn="ctr" indent="0" marL="0">
              <a:buNone/>
            </a:pPr>
            <a:r>
              <a:rPr lang="en-US" sz="1400" dirty="0">
                <a:solidFill>
                  <a:schemeClr val="bg2"/>
                </a:solidFill>
              </a:rPr>
              <a:t>modèle sauvegardé</a:t>
            </a:r>
            <a:endParaRPr lang="en-US" sz="1400" dirty="0"/>
          </a:p>
        </p:txBody>
      </p:sp>
      <p:sp>
        <p:nvSpPr>
          <p:cNvPr id="16" name="flèche"/>
          <p:cNvSpPr/>
          <p:nvPr/>
        </p:nvSpPr>
        <p:spPr>
          <a:xfrm flipH="1">
            <a:off x="5824728" y="4315968"/>
            <a:ext cx="521208" cy="0"/>
          </a:xfrm>
          <a:prstGeom prst="line">
            <a:avLst/>
          </a:prstGeom>
          <a:noFill/>
          <a:ln w="22225">
            <a:solidFill>
              <a:schemeClr val="accent2"/>
            </a:solidFill>
            <a:prstDash val="solid"/>
            <a:tailEnd type="triangle"/>
          </a:ln>
        </p:spPr>
      </p:sp>
      <p:sp>
        <p:nvSpPr>
          <p:cNvPr id="17" name="chemin 7"/>
          <p:cNvSpPr/>
          <p:nvPr/>
        </p:nvSpPr>
        <p:spPr>
          <a:xfrm>
            <a:off x="3447288" y="3611880"/>
            <a:ext cx="2377440" cy="1417320"/>
          </a:xfrm>
          <a:prstGeom prst="roundRect">
            <a:avLst>
              <a:gd name="adj" fmla="val 4516"/>
            </a:avLst>
          </a:prstGeom>
          <a:solidFill>
            <a:schemeClr val="tx2"/>
          </a:solidFill>
          <a:ln w="12700">
            <a:solidFill>
              <a:schemeClr val="accent2"/>
            </a:solidFill>
            <a:prstDash val="solid"/>
          </a:ln>
        </p:spPr>
        <p:txBody>
          <a:bodyPr wrap="square" lIns="50800" tIns="50800" rIns="50800" bIns="50800" rtlCol="0" anchor="ctr"/>
          <a:lstStyle/>
          <a:p>
            <a:pPr algn="ctr" indent="0" marL="0">
              <a:buNone/>
            </a:pPr>
            <a:r>
              <a:rPr lang="en-US" sz="1400" b="1" dirty="0">
                <a:solidFill>
                  <a:schemeClr val="accent2"/>
                </a:solidFill>
              </a:rPr>
              <a:t>Flask</a:t>
            </a:r>
            <a:endParaRPr lang="en-US" sz="1400" dirty="0"/>
          </a:p>
          <a:p>
            <a:pPr algn="ctr" indent="0" marL="0">
              <a:buNone/>
            </a:pPr>
            <a:r>
              <a:rPr lang="en-US" sz="1400" dirty="0">
                <a:solidFill>
                  <a:schemeClr val="bg2"/>
                </a:solidFill>
              </a:rPr>
              <a:t>app.py</a:t>
            </a:r>
            <a:endParaRPr lang="en-US" sz="1400" dirty="0"/>
          </a:p>
        </p:txBody>
      </p:sp>
      <p:sp>
        <p:nvSpPr>
          <p:cNvPr id="18" name="flèche"/>
          <p:cNvSpPr/>
          <p:nvPr/>
        </p:nvSpPr>
        <p:spPr>
          <a:xfrm flipH="1">
            <a:off x="2926080" y="4315968"/>
            <a:ext cx="521208" cy="0"/>
          </a:xfrm>
          <a:prstGeom prst="line">
            <a:avLst/>
          </a:prstGeom>
          <a:noFill/>
          <a:ln w="22225">
            <a:solidFill>
              <a:schemeClr val="accent3"/>
            </a:solidFill>
            <a:prstDash val="solid"/>
            <a:tailEnd type="triangle"/>
          </a:ln>
        </p:spPr>
      </p:sp>
      <p:sp>
        <p:nvSpPr>
          <p:cNvPr id="19" name="chemin 8"/>
          <p:cNvSpPr/>
          <p:nvPr/>
        </p:nvSpPr>
        <p:spPr>
          <a:xfrm>
            <a:off x="548640" y="3611880"/>
            <a:ext cx="2377440" cy="1417320"/>
          </a:xfrm>
          <a:prstGeom prst="roundRect">
            <a:avLst>
              <a:gd name="adj" fmla="val 4516"/>
            </a:avLst>
          </a:prstGeom>
          <a:solidFill>
            <a:schemeClr val="tx2"/>
          </a:solidFill>
          <a:ln w="25400">
            <a:solidFill>
              <a:schemeClr val="accent3"/>
            </a:solidFill>
            <a:prstDash val="solid"/>
          </a:ln>
        </p:spPr>
        <p:txBody>
          <a:bodyPr wrap="square" lIns="50800" tIns="50800" rIns="50800" bIns="50800" rtlCol="0" anchor="ctr"/>
          <a:lstStyle/>
          <a:p>
            <a:pPr algn="ctr" indent="0" marL="0">
              <a:buNone/>
            </a:pPr>
            <a:r>
              <a:rPr lang="en-US" sz="1400" b="1" dirty="0">
                <a:solidFill>
                  <a:schemeClr val="accent3"/>
                </a:solidFill>
              </a:rPr>
              <a:t>Prix estimé</a:t>
            </a:r>
            <a:endParaRPr lang="en-US" sz="1400" dirty="0"/>
          </a:p>
          <a:p>
            <a:pPr algn="ctr" indent="0" marL="0">
              <a:buNone/>
            </a:pPr>
            <a:r>
              <a:rPr lang="en-US" sz="1400" dirty="0">
                <a:solidFill>
                  <a:schemeClr val="bg2"/>
                </a:solidFill>
              </a:rPr>
              <a:t>affiché à l'utilisateur</a:t>
            </a:r>
            <a:endParaRPr lang="en-US" sz="1400" dirty="0"/>
          </a:p>
        </p:txBody>
      </p:sp>
      <p:sp>
        <p:nvSpPr>
          <p:cNvPr id="20" name="règle test"/>
          <p:cNvSpPr/>
          <p:nvPr/>
        </p:nvSpPr>
        <p:spPr>
          <a:xfrm>
            <a:off x="548640" y="5349240"/>
            <a:ext cx="11091672" cy="777240"/>
          </a:xfrm>
          <a:prstGeom prst="roundRect">
            <a:avLst>
              <a:gd name="adj" fmla="val 9412"/>
            </a:avLst>
          </a:prstGeom>
          <a:solidFill>
            <a:schemeClr val="accent6"/>
          </a:solidFill>
          <a:ln w="12700">
            <a:solidFill>
              <a:schemeClr val="accent5"/>
            </a:solidFill>
            <a:prstDash val="solid"/>
          </a:ln>
        </p:spPr>
      </p:sp>
      <p:sp>
        <p:nvSpPr>
          <p:cNvPr id="21" name="Text 19"/>
          <p:cNvSpPr txBox="1"/>
          <p:nvPr/>
        </p:nvSpPr>
        <p:spPr>
          <a:xfrm>
            <a:off x="822960" y="5349240"/>
            <a:ext cx="10607040" cy="777240"/>
          </a:xfrm>
          <a:prstGeom prst="rect">
            <a:avLst/>
          </a:prstGeom>
          <a:noFill/>
          <a:ln/>
        </p:spPr>
        <p:txBody>
          <a:bodyPr wrap="square" lIns="0" tIns="0" rIns="0" bIns="0" rtlCol="0" anchor="ctr"/>
          <a:lstStyle/>
          <a:p>
            <a:pPr indent="0" marL="0">
              <a:buNone/>
            </a:pPr>
            <a:r>
              <a:rPr lang="en-US" sz="1500" b="1" dirty="0">
                <a:solidFill>
                  <a:schemeClr val="accent4"/>
                </a:solidFill>
              </a:rPr>
              <a:t>Règle : </a:t>
            </a:r>
            <a:pPr indent="0" marL="0">
              <a:buNone/>
            </a:pPr>
            <a:r>
              <a:rPr lang="en-US" sz="1500" dirty="0">
                <a:solidFill>
                  <a:schemeClr val="bg1"/>
                </a:solidFill>
              </a:rPr>
              <a:t>tous les choix se font sur le train. Le test (4 320 maisons) ne sert qu'une seule fois, à la toute fin.</a:t>
            </a:r>
            <a:endParaRPr lang="en-US" sz="15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08  ·  SÉLECTION DES VARIABLES</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15 variables → 8 variables</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2"/>
            </a:solidFill>
          </a:ln>
        </p:spPr>
        <p:txBody>
          <a:bodyPr wrap="square" lIns="0" tIns="0" rIns="0" bIns="0" rtlCol="0" anchor="ctr"/>
          <a:lstStyle/>
          <a:p>
            <a:pPr algn="ctr" indent="0" marL="0">
              <a:buNone/>
            </a:pPr>
            <a:r>
              <a:rPr lang="en-US" sz="1300" b="1" dirty="0">
                <a:solidFill>
                  <a:schemeClr val="accent2"/>
                </a:solidFill>
              </a:rPr>
              <a:t>Yannis</a:t>
            </a:r>
            <a:endParaRPr lang="en-US" sz="1300" dirty="0"/>
          </a:p>
        </p:txBody>
      </p:sp>
      <p:sp>
        <p:nvSpPr>
          <p:cNvPr id="5" name="méthode 1"/>
          <p:cNvSpPr/>
          <p:nvPr/>
        </p:nvSpPr>
        <p:spPr>
          <a:xfrm>
            <a:off x="548640" y="1554480"/>
            <a:ext cx="5212080" cy="1371600"/>
          </a:xfrm>
          <a:prstGeom prst="roundRect">
            <a:avLst>
              <a:gd name="adj" fmla="val 5333"/>
            </a:avLst>
          </a:prstGeom>
          <a:solidFill>
            <a:schemeClr val="tx2"/>
          </a:solidFill>
          <a:ln w="12700">
            <a:solidFill>
              <a:schemeClr val="accent5"/>
            </a:solidFill>
            <a:prstDash val="solid"/>
          </a:ln>
        </p:spPr>
      </p:sp>
      <p:sp>
        <p:nvSpPr>
          <p:cNvPr id="6" name="méthode 1 cercle"/>
          <p:cNvSpPr/>
          <p:nvPr/>
        </p:nvSpPr>
        <p:spPr>
          <a:xfrm>
            <a:off x="777240" y="1847088"/>
            <a:ext cx="786384" cy="786384"/>
          </a:xfrm>
          <a:prstGeom prst="ellipse">
            <a:avLst/>
          </a:prstGeom>
          <a:solidFill>
            <a:schemeClr val="accent6"/>
          </a:solidFill>
          <a:ln w="12700">
            <a:solidFill>
              <a:schemeClr val="accent5"/>
            </a:solidFill>
            <a:prstDash val="solid"/>
          </a:ln>
        </p:spPr>
      </p:sp>
      <p:pic>
        <p:nvPicPr>
          <p:cNvPr id="7" name="méthode 1 icône" descr="méthode 1">    </p:cNvPr>
          <p:cNvPicPr>
            <a:picLocks noChangeAspect="1"/>
          </p:cNvPicPr>
          <p:nvPr/>
        </p:nvPicPr>
        <p:blipFill>
          <a:blip r:embed="rId1"/>
          <a:stretch>
            <a:fillRect/>
          </a:stretch>
        </p:blipFill>
        <p:spPr>
          <a:xfrm>
            <a:off x="981700" y="2051548"/>
            <a:ext cx="377464" cy="377464"/>
          </a:xfrm>
          <a:prstGeom prst="rect">
            <a:avLst/>
          </a:prstGeom>
        </p:spPr>
      </p:pic>
      <p:sp>
        <p:nvSpPr>
          <p:cNvPr id="8" name="Text 5"/>
          <p:cNvSpPr txBox="1"/>
          <p:nvPr/>
        </p:nvSpPr>
        <p:spPr>
          <a:xfrm>
            <a:off x="1783080" y="1709928"/>
            <a:ext cx="3840480" cy="411480"/>
          </a:xfrm>
          <a:prstGeom prst="rect">
            <a:avLst/>
          </a:prstGeom>
          <a:noFill/>
          <a:ln/>
        </p:spPr>
        <p:txBody>
          <a:bodyPr wrap="square" lIns="0" tIns="0" rIns="0" bIns="0" rtlCol="0" anchor="t"/>
          <a:lstStyle/>
          <a:p>
            <a:pPr indent="0" marL="0">
              <a:buNone/>
            </a:pPr>
            <a:r>
              <a:rPr lang="en-US" sz="1800" b="1" dirty="0">
                <a:solidFill>
                  <a:schemeClr val="bg1"/>
                </a:solidFill>
              </a:rPr>
              <a:t>1. Corrélation avec le prix</a:t>
            </a:r>
            <a:endParaRPr lang="en-US" sz="1800" dirty="0"/>
          </a:p>
        </p:txBody>
      </p:sp>
      <p:sp>
        <p:nvSpPr>
          <p:cNvPr id="9" name="Text 6"/>
          <p:cNvSpPr txBox="1"/>
          <p:nvPr/>
        </p:nvSpPr>
        <p:spPr>
          <a:xfrm>
            <a:off x="1783080" y="2139696"/>
            <a:ext cx="3840480" cy="731520"/>
          </a:xfrm>
          <a:prstGeom prst="rect">
            <a:avLst/>
          </a:prstGeom>
          <a:noFill/>
          <a:ln/>
        </p:spPr>
        <p:txBody>
          <a:bodyPr wrap="square" lIns="0" tIns="0" rIns="0" bIns="0" rtlCol="0" anchor="t"/>
          <a:lstStyle/>
          <a:p>
            <a:pPr indent="0" marL="0">
              <a:buNone/>
            </a:pPr>
            <a:r>
              <a:rPr lang="en-US" sz="1400" dirty="0">
                <a:solidFill>
                  <a:schemeClr val="bg2"/>
                </a:solidFill>
              </a:rPr>
              <a:t>Simple, mais ne voit que les liens en ligne droite (longitude : 0,02)</a:t>
            </a:r>
            <a:endParaRPr lang="en-US" sz="1400" dirty="0"/>
          </a:p>
        </p:txBody>
      </p:sp>
      <p:sp>
        <p:nvSpPr>
          <p:cNvPr id="10" name="méthode 2"/>
          <p:cNvSpPr/>
          <p:nvPr/>
        </p:nvSpPr>
        <p:spPr>
          <a:xfrm>
            <a:off x="548640" y="3154680"/>
            <a:ext cx="5212080" cy="1371600"/>
          </a:xfrm>
          <a:prstGeom prst="roundRect">
            <a:avLst>
              <a:gd name="adj" fmla="val 5333"/>
            </a:avLst>
          </a:prstGeom>
          <a:solidFill>
            <a:schemeClr val="tx2"/>
          </a:solidFill>
          <a:ln w="12700">
            <a:solidFill>
              <a:schemeClr val="accent5"/>
            </a:solidFill>
            <a:prstDash val="solid"/>
          </a:ln>
        </p:spPr>
      </p:sp>
      <p:sp>
        <p:nvSpPr>
          <p:cNvPr id="11" name="méthode 2 cercle"/>
          <p:cNvSpPr/>
          <p:nvPr/>
        </p:nvSpPr>
        <p:spPr>
          <a:xfrm>
            <a:off x="777240" y="3447288"/>
            <a:ext cx="786384" cy="786384"/>
          </a:xfrm>
          <a:prstGeom prst="ellipse">
            <a:avLst/>
          </a:prstGeom>
          <a:solidFill>
            <a:schemeClr val="accent6"/>
          </a:solidFill>
          <a:ln w="12700">
            <a:solidFill>
              <a:schemeClr val="accent5"/>
            </a:solidFill>
            <a:prstDash val="solid"/>
          </a:ln>
        </p:spPr>
      </p:sp>
      <p:pic>
        <p:nvPicPr>
          <p:cNvPr id="12" name="méthode 2 icône" descr="méthode 2">    </p:cNvPr>
          <p:cNvPicPr>
            <a:picLocks noChangeAspect="1"/>
          </p:cNvPicPr>
          <p:nvPr/>
        </p:nvPicPr>
        <p:blipFill>
          <a:blip r:embed="rId2"/>
          <a:stretch>
            <a:fillRect/>
          </a:stretch>
        </p:blipFill>
        <p:spPr>
          <a:xfrm>
            <a:off x="981700" y="3651748"/>
            <a:ext cx="377464" cy="377464"/>
          </a:xfrm>
          <a:prstGeom prst="rect">
            <a:avLst/>
          </a:prstGeom>
        </p:spPr>
      </p:pic>
      <p:sp>
        <p:nvSpPr>
          <p:cNvPr id="13" name="Text 9"/>
          <p:cNvSpPr txBox="1"/>
          <p:nvPr/>
        </p:nvSpPr>
        <p:spPr>
          <a:xfrm>
            <a:off x="1783080" y="3310128"/>
            <a:ext cx="3840480" cy="411480"/>
          </a:xfrm>
          <a:prstGeom prst="rect">
            <a:avLst/>
          </a:prstGeom>
          <a:noFill/>
          <a:ln/>
        </p:spPr>
        <p:txBody>
          <a:bodyPr wrap="square" lIns="0" tIns="0" rIns="0" bIns="0" rtlCol="0" anchor="t"/>
          <a:lstStyle/>
          <a:p>
            <a:pPr indent="0" marL="0">
              <a:buNone/>
            </a:pPr>
            <a:r>
              <a:rPr lang="en-US" sz="1800" b="1" dirty="0">
                <a:solidFill>
                  <a:schemeClr val="bg1"/>
                </a:solidFill>
              </a:rPr>
              <a:t>2. Sélection forward</a:t>
            </a:r>
            <a:endParaRPr lang="en-US" sz="1800" dirty="0"/>
          </a:p>
        </p:txBody>
      </p:sp>
      <p:sp>
        <p:nvSpPr>
          <p:cNvPr id="14" name="Text 10"/>
          <p:cNvSpPr txBox="1"/>
          <p:nvPr/>
        </p:nvSpPr>
        <p:spPr>
          <a:xfrm>
            <a:off x="1783080" y="3739896"/>
            <a:ext cx="3840480" cy="731520"/>
          </a:xfrm>
          <a:prstGeom prst="rect">
            <a:avLst/>
          </a:prstGeom>
          <a:noFill/>
          <a:ln/>
        </p:spPr>
        <p:txBody>
          <a:bodyPr wrap="square" lIns="0" tIns="0" rIns="0" bIns="0" rtlCol="0" anchor="t"/>
          <a:lstStyle/>
          <a:p>
            <a:pPr indent="0" marL="0">
              <a:buNone/>
            </a:pPr>
            <a:r>
              <a:rPr lang="en-US" sz="1400" dirty="0">
                <a:solidFill>
                  <a:schemeClr val="bg2"/>
                </a:solidFill>
              </a:rPr>
              <a:t>On part de zéro et on ajoute à chaque étape la variable qui améliore le plus le modèle</a:t>
            </a:r>
            <a:endParaRPr lang="en-US" sz="1400" dirty="0"/>
          </a:p>
        </p:txBody>
      </p:sp>
      <p:sp>
        <p:nvSpPr>
          <p:cNvPr id="15" name="Text 11"/>
          <p:cNvSpPr txBox="1"/>
          <p:nvPr/>
        </p:nvSpPr>
        <p:spPr>
          <a:xfrm>
            <a:off x="6172200" y="1508760"/>
            <a:ext cx="54864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LES 8 VARIABLES GARDÉES</a:t>
            </a:r>
            <a:endParaRPr lang="en-US" sz="1200" dirty="0"/>
          </a:p>
        </p:txBody>
      </p:sp>
      <p:sp>
        <p:nvSpPr>
          <p:cNvPr id="16" name="variable 1"/>
          <p:cNvSpPr/>
          <p:nvPr/>
        </p:nvSpPr>
        <p:spPr>
          <a:xfrm>
            <a:off x="6172200" y="1920240"/>
            <a:ext cx="2606040" cy="502920"/>
          </a:xfrm>
          <a:prstGeom prst="roundRect">
            <a:avLst>
              <a:gd name="adj" fmla="val 12727"/>
            </a:avLst>
          </a:prstGeom>
          <a:solidFill>
            <a:schemeClr val="tx2"/>
          </a:solidFill>
          <a:ln w="12700">
            <a:solidFill>
              <a:schemeClr val="accent1"/>
            </a:solidFill>
            <a:prstDash val="solid"/>
          </a:ln>
        </p:spPr>
        <p:txBody>
          <a:bodyPr wrap="square" lIns="50800" tIns="50800" rIns="50800" bIns="50800" rtlCol="0" anchor="ctr"/>
          <a:lstStyle/>
          <a:p>
            <a:pPr algn="ctr" indent="0" marL="0">
              <a:buNone/>
            </a:pPr>
            <a:r>
              <a:rPr lang="en-US" sz="1500" b="1" dirty="0">
                <a:solidFill>
                  <a:schemeClr val="accent1"/>
                </a:solidFill>
              </a:rPr>
              <a:t>Surface habitable</a:t>
            </a:r>
            <a:endParaRPr lang="en-US" sz="1500" dirty="0"/>
          </a:p>
        </p:txBody>
      </p:sp>
      <p:sp>
        <p:nvSpPr>
          <p:cNvPr id="17" name="variable 2"/>
          <p:cNvSpPr/>
          <p:nvPr/>
        </p:nvSpPr>
        <p:spPr>
          <a:xfrm>
            <a:off x="8915400" y="1920240"/>
            <a:ext cx="2606040" cy="502920"/>
          </a:xfrm>
          <a:prstGeom prst="roundRect">
            <a:avLst>
              <a:gd name="adj" fmla="val 12727"/>
            </a:avLst>
          </a:prstGeom>
          <a:solidFill>
            <a:schemeClr val="tx2"/>
          </a:solidFill>
          <a:ln w="12700">
            <a:solidFill>
              <a:schemeClr val="accent1"/>
            </a:solidFill>
            <a:prstDash val="solid"/>
          </a:ln>
        </p:spPr>
        <p:txBody>
          <a:bodyPr wrap="square" lIns="50800" tIns="50800" rIns="50800" bIns="50800" rtlCol="0" anchor="ctr"/>
          <a:lstStyle/>
          <a:p>
            <a:pPr algn="ctr" indent="0" marL="0">
              <a:buNone/>
            </a:pPr>
            <a:r>
              <a:rPr lang="en-US" sz="1500" b="1" dirty="0">
                <a:solidFill>
                  <a:schemeClr val="accent1"/>
                </a:solidFill>
              </a:rPr>
              <a:t>Qualité (grade)</a:t>
            </a:r>
            <a:endParaRPr lang="en-US" sz="1500" dirty="0"/>
          </a:p>
        </p:txBody>
      </p:sp>
      <p:sp>
        <p:nvSpPr>
          <p:cNvPr id="18" name="variable 3"/>
          <p:cNvSpPr/>
          <p:nvPr/>
        </p:nvSpPr>
        <p:spPr>
          <a:xfrm>
            <a:off x="6172200" y="2578608"/>
            <a:ext cx="2606040" cy="502920"/>
          </a:xfrm>
          <a:prstGeom prst="roundRect">
            <a:avLst>
              <a:gd name="adj" fmla="val 12727"/>
            </a:avLst>
          </a:prstGeom>
          <a:solidFill>
            <a:schemeClr val="tx2"/>
          </a:solidFill>
          <a:ln w="12700">
            <a:solidFill>
              <a:schemeClr val="accent1"/>
            </a:solidFill>
            <a:prstDash val="solid"/>
          </a:ln>
        </p:spPr>
        <p:txBody>
          <a:bodyPr wrap="square" lIns="50800" tIns="50800" rIns="50800" bIns="50800" rtlCol="0" anchor="ctr"/>
          <a:lstStyle/>
          <a:p>
            <a:pPr algn="ctr" indent="0" marL="0">
              <a:buNone/>
            </a:pPr>
            <a:r>
              <a:rPr lang="en-US" sz="1500" b="1" dirty="0">
                <a:solidFill>
                  <a:schemeClr val="accent1"/>
                </a:solidFill>
              </a:rPr>
              <a:t>Latitude</a:t>
            </a:r>
            <a:endParaRPr lang="en-US" sz="1500" dirty="0"/>
          </a:p>
        </p:txBody>
      </p:sp>
      <p:sp>
        <p:nvSpPr>
          <p:cNvPr id="19" name="variable 4"/>
          <p:cNvSpPr/>
          <p:nvPr/>
        </p:nvSpPr>
        <p:spPr>
          <a:xfrm>
            <a:off x="8915400" y="2578608"/>
            <a:ext cx="2606040" cy="502920"/>
          </a:xfrm>
          <a:prstGeom prst="roundRect">
            <a:avLst>
              <a:gd name="adj" fmla="val 12727"/>
            </a:avLst>
          </a:prstGeom>
          <a:solidFill>
            <a:schemeClr val="tx2"/>
          </a:solidFill>
          <a:ln w="12700">
            <a:solidFill>
              <a:schemeClr val="accent1"/>
            </a:solidFill>
            <a:prstDash val="solid"/>
          </a:ln>
        </p:spPr>
        <p:txBody>
          <a:bodyPr wrap="square" lIns="50800" tIns="50800" rIns="50800" bIns="50800" rtlCol="0" anchor="ctr"/>
          <a:lstStyle/>
          <a:p>
            <a:pPr algn="ctr" indent="0" marL="0">
              <a:buNone/>
            </a:pPr>
            <a:r>
              <a:rPr lang="en-US" sz="1500" b="1" dirty="0">
                <a:solidFill>
                  <a:schemeClr val="accent1"/>
                </a:solidFill>
              </a:rPr>
              <a:t>Longitude</a:t>
            </a:r>
            <a:endParaRPr lang="en-US" sz="1500" dirty="0"/>
          </a:p>
        </p:txBody>
      </p:sp>
      <p:sp>
        <p:nvSpPr>
          <p:cNvPr id="20" name="variable 5"/>
          <p:cNvSpPr/>
          <p:nvPr/>
        </p:nvSpPr>
        <p:spPr>
          <a:xfrm>
            <a:off x="6172200" y="3236976"/>
            <a:ext cx="2606040" cy="502920"/>
          </a:xfrm>
          <a:prstGeom prst="roundRect">
            <a:avLst>
              <a:gd name="adj" fmla="val 12727"/>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500" dirty="0">
                <a:solidFill>
                  <a:schemeClr val="bg1"/>
                </a:solidFill>
              </a:rPr>
              <a:t>Vue sur l'eau</a:t>
            </a:r>
            <a:endParaRPr lang="en-US" sz="1500" dirty="0"/>
          </a:p>
        </p:txBody>
      </p:sp>
      <p:sp>
        <p:nvSpPr>
          <p:cNvPr id="21" name="variable 6"/>
          <p:cNvSpPr/>
          <p:nvPr/>
        </p:nvSpPr>
        <p:spPr>
          <a:xfrm>
            <a:off x="8915400" y="3236976"/>
            <a:ext cx="2606040" cy="502920"/>
          </a:xfrm>
          <a:prstGeom prst="roundRect">
            <a:avLst>
              <a:gd name="adj" fmla="val 12727"/>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500" dirty="0">
                <a:solidFill>
                  <a:schemeClr val="bg1"/>
                </a:solidFill>
              </a:rPr>
              <a:t>Terrain</a:t>
            </a:r>
            <a:endParaRPr lang="en-US" sz="1500" dirty="0"/>
          </a:p>
        </p:txBody>
      </p:sp>
      <p:sp>
        <p:nvSpPr>
          <p:cNvPr id="22" name="variable 7"/>
          <p:cNvSpPr/>
          <p:nvPr/>
        </p:nvSpPr>
        <p:spPr>
          <a:xfrm>
            <a:off x="6172200" y="3895344"/>
            <a:ext cx="2606040" cy="502920"/>
          </a:xfrm>
          <a:prstGeom prst="roundRect">
            <a:avLst>
              <a:gd name="adj" fmla="val 12727"/>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500" dirty="0">
                <a:solidFill>
                  <a:schemeClr val="bg1"/>
                </a:solidFill>
              </a:rPr>
              <a:t>Chambres</a:t>
            </a:r>
            <a:endParaRPr lang="en-US" sz="1500" dirty="0"/>
          </a:p>
        </p:txBody>
      </p:sp>
      <p:sp>
        <p:nvSpPr>
          <p:cNvPr id="23" name="variable 8"/>
          <p:cNvSpPr/>
          <p:nvPr/>
        </p:nvSpPr>
        <p:spPr>
          <a:xfrm>
            <a:off x="8915400" y="3895344"/>
            <a:ext cx="2606040" cy="502920"/>
          </a:xfrm>
          <a:prstGeom prst="roundRect">
            <a:avLst>
              <a:gd name="adj" fmla="val 12727"/>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500" dirty="0">
                <a:solidFill>
                  <a:schemeClr val="bg1"/>
                </a:solidFill>
              </a:rPr>
              <a:t>Année de rénovation</a:t>
            </a:r>
            <a:endParaRPr lang="en-US" sz="1500" dirty="0"/>
          </a:p>
        </p:txBody>
      </p:sp>
      <p:sp>
        <p:nvSpPr>
          <p:cNvPr id="24" name="carte vérification"/>
          <p:cNvSpPr/>
          <p:nvPr/>
        </p:nvSpPr>
        <p:spPr>
          <a:xfrm>
            <a:off x="548640" y="4892040"/>
            <a:ext cx="11091672" cy="1234440"/>
          </a:xfrm>
          <a:prstGeom prst="roundRect">
            <a:avLst>
              <a:gd name="adj" fmla="val 5926"/>
            </a:avLst>
          </a:prstGeom>
          <a:solidFill>
            <a:schemeClr val="tx2"/>
          </a:solidFill>
          <a:ln w="12700">
            <a:solidFill>
              <a:schemeClr val="accent3"/>
            </a:solidFill>
            <a:prstDash val="solid"/>
          </a:ln>
        </p:spPr>
      </p:sp>
      <p:sp>
        <p:nvSpPr>
          <p:cNvPr id="25" name="Text 21"/>
          <p:cNvSpPr txBox="1"/>
          <p:nvPr/>
        </p:nvSpPr>
        <p:spPr>
          <a:xfrm>
            <a:off x="822960" y="4983480"/>
            <a:ext cx="1737360" cy="685800"/>
          </a:xfrm>
          <a:prstGeom prst="rect">
            <a:avLst/>
          </a:prstGeom>
          <a:noFill/>
          <a:ln/>
        </p:spPr>
        <p:txBody>
          <a:bodyPr wrap="square" lIns="0" tIns="0" rIns="0" bIns="0" rtlCol="0" anchor="ctr"/>
          <a:lstStyle/>
          <a:p>
            <a:pPr indent="0" marL="0">
              <a:buNone/>
            </a:pPr>
            <a:r>
              <a:rPr lang="en-US" sz="3200" b="1" dirty="0">
                <a:solidFill>
                  <a:schemeClr val="bg2"/>
                </a:solidFill>
                <a:latin typeface="Arial" pitchFamily="34" charset="0"/>
                <a:ea typeface="Arial" pitchFamily="34" charset="-122"/>
                <a:cs typeface="Arial" pitchFamily="34" charset="-120"/>
              </a:rPr>
              <a:t>0,856</a:t>
            </a:r>
            <a:endParaRPr lang="en-US" sz="3200" dirty="0"/>
          </a:p>
        </p:txBody>
      </p:sp>
      <p:sp>
        <p:nvSpPr>
          <p:cNvPr id="26" name="Text 22"/>
          <p:cNvSpPr txBox="1"/>
          <p:nvPr/>
        </p:nvSpPr>
        <p:spPr>
          <a:xfrm>
            <a:off x="822960" y="5623560"/>
            <a:ext cx="2194560" cy="365760"/>
          </a:xfrm>
          <a:prstGeom prst="rect">
            <a:avLst/>
          </a:prstGeom>
          <a:noFill/>
          <a:ln/>
        </p:spPr>
        <p:txBody>
          <a:bodyPr wrap="square" lIns="0" tIns="0" rIns="0" bIns="0" rtlCol="0" anchor="t"/>
          <a:lstStyle/>
          <a:p>
            <a:pPr indent="0" marL="0">
              <a:buNone/>
            </a:pPr>
            <a:r>
              <a:rPr lang="en-US" sz="1300" dirty="0">
                <a:solidFill>
                  <a:schemeClr val="bg2"/>
                </a:solidFill>
              </a:rPr>
              <a:t>R² avec 15 variables</a:t>
            </a:r>
            <a:endParaRPr lang="en-US" sz="1300" dirty="0"/>
          </a:p>
        </p:txBody>
      </p:sp>
      <p:sp>
        <p:nvSpPr>
          <p:cNvPr id="27" name="flèche"/>
          <p:cNvSpPr/>
          <p:nvPr/>
        </p:nvSpPr>
        <p:spPr>
          <a:xfrm>
            <a:off x="3017520" y="5349240"/>
            <a:ext cx="640080" cy="0"/>
          </a:xfrm>
          <a:prstGeom prst="line">
            <a:avLst/>
          </a:prstGeom>
          <a:noFill/>
          <a:ln w="22225">
            <a:solidFill>
              <a:schemeClr val="accent3"/>
            </a:solidFill>
            <a:prstDash val="solid"/>
            <a:tailEnd type="triangle"/>
          </a:ln>
        </p:spPr>
      </p:sp>
      <p:sp>
        <p:nvSpPr>
          <p:cNvPr id="28" name="Text 24"/>
          <p:cNvSpPr txBox="1"/>
          <p:nvPr/>
        </p:nvSpPr>
        <p:spPr>
          <a:xfrm>
            <a:off x="3840480" y="4983480"/>
            <a:ext cx="1737360" cy="685800"/>
          </a:xfrm>
          <a:prstGeom prst="rect">
            <a:avLst/>
          </a:prstGeom>
          <a:noFill/>
          <a:ln/>
        </p:spPr>
        <p:txBody>
          <a:bodyPr wrap="square" lIns="0" tIns="0" rIns="0" bIns="0" rtlCol="0" anchor="ctr"/>
          <a:lstStyle/>
          <a:p>
            <a:pPr indent="0" marL="0">
              <a:buNone/>
            </a:pPr>
            <a:r>
              <a:rPr lang="en-US" sz="3200" b="1" dirty="0">
                <a:solidFill>
                  <a:schemeClr val="accent3"/>
                </a:solidFill>
                <a:latin typeface="Arial" pitchFamily="34" charset="0"/>
                <a:ea typeface="Arial" pitchFamily="34" charset="-122"/>
                <a:cs typeface="Arial" pitchFamily="34" charset="-120"/>
              </a:rPr>
              <a:t>0,855</a:t>
            </a:r>
            <a:endParaRPr lang="en-US" sz="3200" dirty="0"/>
          </a:p>
        </p:txBody>
      </p:sp>
      <p:sp>
        <p:nvSpPr>
          <p:cNvPr id="29" name="Text 25"/>
          <p:cNvSpPr txBox="1"/>
          <p:nvPr/>
        </p:nvSpPr>
        <p:spPr>
          <a:xfrm>
            <a:off x="3840480" y="5623560"/>
            <a:ext cx="2194560" cy="365760"/>
          </a:xfrm>
          <a:prstGeom prst="rect">
            <a:avLst/>
          </a:prstGeom>
          <a:noFill/>
          <a:ln/>
        </p:spPr>
        <p:txBody>
          <a:bodyPr wrap="square" lIns="0" tIns="0" rIns="0" bIns="0" rtlCol="0" anchor="t"/>
          <a:lstStyle/>
          <a:p>
            <a:pPr indent="0" marL="0">
              <a:buNone/>
            </a:pPr>
            <a:r>
              <a:rPr lang="en-US" sz="1300" dirty="0">
                <a:solidFill>
                  <a:schemeClr val="bg2"/>
                </a:solidFill>
              </a:rPr>
              <a:t>R² avec 8 variables</a:t>
            </a:r>
            <a:endParaRPr lang="en-US" sz="1300" dirty="0"/>
          </a:p>
        </p:txBody>
      </p:sp>
      <p:sp>
        <p:nvSpPr>
          <p:cNvPr id="30" name="Text 26"/>
          <p:cNvSpPr txBox="1"/>
          <p:nvPr/>
        </p:nvSpPr>
        <p:spPr>
          <a:xfrm>
            <a:off x="6400800" y="4983480"/>
            <a:ext cx="5029200" cy="1051560"/>
          </a:xfrm>
          <a:prstGeom prst="rect">
            <a:avLst/>
          </a:prstGeom>
          <a:noFill/>
          <a:ln/>
        </p:spPr>
        <p:txBody>
          <a:bodyPr wrap="square" lIns="0" tIns="0" rIns="0" bIns="0" rtlCol="0" anchor="ctr"/>
          <a:lstStyle/>
          <a:p>
            <a:pPr indent="0" marL="0">
              <a:buNone/>
            </a:pPr>
            <a:r>
              <a:rPr lang="en-US" sz="1600" dirty="0">
                <a:solidFill>
                  <a:schemeClr val="bg1"/>
                </a:solidFill>
              </a:rPr>
              <a:t>Presque la même précision, avec un modèle plus simple et un formulaire plus court.</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09  ·  LES MODÈLES</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Trois modèles, trois idées</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2"/>
            </a:solidFill>
          </a:ln>
        </p:spPr>
        <p:txBody>
          <a:bodyPr wrap="square" lIns="0" tIns="0" rIns="0" bIns="0" rtlCol="0" anchor="ctr"/>
          <a:lstStyle/>
          <a:p>
            <a:pPr algn="ctr" indent="0" marL="0">
              <a:buNone/>
            </a:pPr>
            <a:r>
              <a:rPr lang="en-US" sz="1300" b="1" dirty="0">
                <a:solidFill>
                  <a:schemeClr val="accent2"/>
                </a:solidFill>
              </a:rPr>
              <a:t>Yannis</a:t>
            </a:r>
            <a:endParaRPr lang="en-US" sz="1300" dirty="0"/>
          </a:p>
        </p:txBody>
      </p:sp>
      <p:sp>
        <p:nvSpPr>
          <p:cNvPr id="5" name="carte Régression linéaire"/>
          <p:cNvSpPr/>
          <p:nvPr/>
        </p:nvSpPr>
        <p:spPr>
          <a:xfrm>
            <a:off x="548640" y="1554480"/>
            <a:ext cx="3520440" cy="4572000"/>
          </a:xfrm>
          <a:prstGeom prst="roundRect">
            <a:avLst>
              <a:gd name="adj" fmla="val 2078"/>
            </a:avLst>
          </a:prstGeom>
          <a:solidFill>
            <a:schemeClr val="tx2"/>
          </a:solidFill>
          <a:ln w="12700">
            <a:solidFill>
              <a:schemeClr val="accent5"/>
            </a:solidFill>
            <a:prstDash val="solid"/>
          </a:ln>
        </p:spPr>
      </p:sp>
      <p:sp>
        <p:nvSpPr>
          <p:cNvPr id="6" name="Régression linéaire cercle"/>
          <p:cNvSpPr/>
          <p:nvPr/>
        </p:nvSpPr>
        <p:spPr>
          <a:xfrm>
            <a:off x="1874520" y="1783080"/>
            <a:ext cx="868680" cy="868680"/>
          </a:xfrm>
          <a:prstGeom prst="ellipse">
            <a:avLst/>
          </a:prstGeom>
          <a:solidFill>
            <a:schemeClr val="accent6"/>
          </a:solidFill>
          <a:ln w="12700">
            <a:solidFill>
              <a:schemeClr val="accent5"/>
            </a:solidFill>
            <a:prstDash val="solid"/>
          </a:ln>
        </p:spPr>
      </p:sp>
      <p:pic>
        <p:nvPicPr>
          <p:cNvPr id="7" name="Régression linéaire icône" descr="Régression linéaire">    </p:cNvPr>
          <p:cNvPicPr>
            <a:picLocks noChangeAspect="1"/>
          </p:cNvPicPr>
          <p:nvPr/>
        </p:nvPicPr>
        <p:blipFill>
          <a:blip r:embed="rId1"/>
          <a:stretch>
            <a:fillRect/>
          </a:stretch>
        </p:blipFill>
        <p:spPr>
          <a:xfrm>
            <a:off x="2100377" y="2008937"/>
            <a:ext cx="416966" cy="416966"/>
          </a:xfrm>
          <a:prstGeom prst="rect">
            <a:avLst/>
          </a:prstGeom>
        </p:spPr>
      </p:pic>
      <p:sp>
        <p:nvSpPr>
          <p:cNvPr id="8" name="Text 5"/>
          <p:cNvSpPr txBox="1"/>
          <p:nvPr/>
        </p:nvSpPr>
        <p:spPr>
          <a:xfrm>
            <a:off x="731520" y="2788920"/>
            <a:ext cx="3154680" cy="411480"/>
          </a:xfrm>
          <a:prstGeom prst="rect">
            <a:avLst/>
          </a:prstGeom>
          <a:noFill/>
          <a:ln/>
        </p:spPr>
        <p:txBody>
          <a:bodyPr wrap="square" lIns="0" tIns="0" rIns="0" bIns="0" rtlCol="0" anchor="t"/>
          <a:lstStyle/>
          <a:p>
            <a:pPr algn="ctr" indent="0" marL="0">
              <a:buNone/>
            </a:pPr>
            <a:r>
              <a:rPr lang="en-US" sz="2000" b="1" dirty="0">
                <a:solidFill>
                  <a:schemeClr val="bg1"/>
                </a:solidFill>
              </a:rPr>
              <a:t>Régression linéaire</a:t>
            </a:r>
            <a:endParaRPr lang="en-US" sz="2000" dirty="0"/>
          </a:p>
        </p:txBody>
      </p:sp>
      <p:sp>
        <p:nvSpPr>
          <p:cNvPr id="9" name="Text 6"/>
          <p:cNvSpPr txBox="1"/>
          <p:nvPr/>
        </p:nvSpPr>
        <p:spPr>
          <a:xfrm>
            <a:off x="731520" y="3200400"/>
            <a:ext cx="3154680" cy="365760"/>
          </a:xfrm>
          <a:prstGeom prst="rect">
            <a:avLst/>
          </a:prstGeom>
          <a:noFill/>
          <a:ln/>
        </p:spPr>
        <p:txBody>
          <a:bodyPr wrap="square" lIns="0" tIns="0" rIns="0" bIns="0" rtlCol="0" anchor="t"/>
          <a:lstStyle/>
          <a:p>
            <a:pPr algn="ctr" indent="0" marL="0">
              <a:buNone/>
            </a:pPr>
            <a:r>
              <a:rPr lang="en-US" sz="1500" i="1" dirty="0">
                <a:solidFill>
                  <a:schemeClr val="bg2"/>
                </a:solidFill>
              </a:rPr>
              <a:t>« une formule »</a:t>
            </a:r>
            <a:endParaRPr lang="en-US" sz="1500" dirty="0"/>
          </a:p>
        </p:txBody>
      </p:sp>
      <p:sp>
        <p:nvSpPr>
          <p:cNvPr id="10" name="illustration Régression linéaire"/>
          <p:cNvSpPr/>
          <p:nvPr/>
        </p:nvSpPr>
        <p:spPr>
          <a:xfrm>
            <a:off x="822960" y="3703320"/>
            <a:ext cx="2971800" cy="1188720"/>
          </a:xfrm>
          <a:prstGeom prst="roundRect">
            <a:avLst>
              <a:gd name="adj" fmla="val 5385"/>
            </a:avLst>
          </a:prstGeom>
          <a:solidFill>
            <a:schemeClr val="accent6"/>
          </a:solidFill>
          <a:ln w="12700">
            <a:solidFill>
              <a:schemeClr val="accent5"/>
            </a:solidFill>
            <a:prstDash val="solid"/>
          </a:ln>
        </p:spPr>
        <p:txBody>
          <a:bodyPr wrap="square" lIns="50800" tIns="50800" rIns="50800" bIns="50800" rtlCol="0" anchor="ctr"/>
          <a:lstStyle/>
          <a:p>
            <a:pPr algn="ctr" indent="0" marL="0">
              <a:buNone/>
            </a:pPr>
            <a:r>
              <a:rPr lang="en-US" sz="1500" i="1" dirty="0">
                <a:solidFill>
                  <a:schemeClr val="bg1"/>
                </a:solidFill>
              </a:rPr>
              <a:t>prix ≈ a × surface</a:t>
            </a:r>
            <a:endParaRPr lang="en-US" sz="1500" dirty="0"/>
          </a:p>
          <a:p>
            <a:pPr algn="ctr" indent="0" marL="0">
              <a:buNone/>
            </a:pPr>
            <a:r>
              <a:rPr lang="en-US" sz="1500" i="1" dirty="0">
                <a:solidFill>
                  <a:schemeClr val="bg1"/>
                </a:solidFill>
              </a:rPr>
              <a:t>+ b × grade + …</a:t>
            </a:r>
            <a:endParaRPr lang="en-US" sz="1500" dirty="0"/>
          </a:p>
        </p:txBody>
      </p:sp>
      <p:sp>
        <p:nvSpPr>
          <p:cNvPr id="11" name="Text 8"/>
          <p:cNvSpPr txBox="1"/>
          <p:nvPr/>
        </p:nvSpPr>
        <p:spPr>
          <a:xfrm>
            <a:off x="777240" y="5120640"/>
            <a:ext cx="3063240" cy="777240"/>
          </a:xfrm>
          <a:prstGeom prst="rect">
            <a:avLst/>
          </a:prstGeom>
          <a:noFill/>
          <a:ln/>
        </p:spPr>
        <p:txBody>
          <a:bodyPr wrap="square" lIns="0" tIns="0" rIns="0" bIns="0" rtlCol="0" anchor="ctr"/>
          <a:lstStyle/>
          <a:p>
            <a:pPr algn="ctr" indent="0" marL="0">
              <a:buNone/>
            </a:pPr>
            <a:r>
              <a:rPr lang="en-US" sz="1400" dirty="0">
                <a:solidFill>
                  <a:schemeClr val="bg2"/>
                </a:solidFill>
              </a:rPr>
              <a:t>Simple, mais seulement des lignes droites</a:t>
            </a:r>
            <a:endParaRPr lang="en-US" sz="1400" dirty="0"/>
          </a:p>
        </p:txBody>
      </p:sp>
      <p:sp>
        <p:nvSpPr>
          <p:cNvPr id="12" name="carte Arbre de décision"/>
          <p:cNvSpPr/>
          <p:nvPr/>
        </p:nvSpPr>
        <p:spPr>
          <a:xfrm>
            <a:off x="4343400" y="1554480"/>
            <a:ext cx="3520440" cy="4572000"/>
          </a:xfrm>
          <a:prstGeom prst="roundRect">
            <a:avLst>
              <a:gd name="adj" fmla="val 2078"/>
            </a:avLst>
          </a:prstGeom>
          <a:solidFill>
            <a:schemeClr val="tx2"/>
          </a:solidFill>
          <a:ln w="12700">
            <a:solidFill>
              <a:schemeClr val="accent5"/>
            </a:solidFill>
            <a:prstDash val="solid"/>
          </a:ln>
        </p:spPr>
      </p:sp>
      <p:sp>
        <p:nvSpPr>
          <p:cNvPr id="13" name="Arbre de décision cercle"/>
          <p:cNvSpPr/>
          <p:nvPr/>
        </p:nvSpPr>
        <p:spPr>
          <a:xfrm>
            <a:off x="5669280" y="1783080"/>
            <a:ext cx="868680" cy="868680"/>
          </a:xfrm>
          <a:prstGeom prst="ellipse">
            <a:avLst/>
          </a:prstGeom>
          <a:solidFill>
            <a:schemeClr val="accent6"/>
          </a:solidFill>
          <a:ln w="12700">
            <a:solidFill>
              <a:schemeClr val="accent5"/>
            </a:solidFill>
            <a:prstDash val="solid"/>
          </a:ln>
        </p:spPr>
      </p:sp>
      <p:pic>
        <p:nvPicPr>
          <p:cNvPr id="14" name="Arbre de décision icône" descr="Arbre de décision">    </p:cNvPr>
          <p:cNvPicPr>
            <a:picLocks noChangeAspect="1"/>
          </p:cNvPicPr>
          <p:nvPr/>
        </p:nvPicPr>
        <p:blipFill>
          <a:blip r:embed="rId2"/>
          <a:stretch>
            <a:fillRect/>
          </a:stretch>
        </p:blipFill>
        <p:spPr>
          <a:xfrm>
            <a:off x="5895137" y="2008937"/>
            <a:ext cx="416966" cy="416966"/>
          </a:xfrm>
          <a:prstGeom prst="rect">
            <a:avLst/>
          </a:prstGeom>
        </p:spPr>
      </p:pic>
      <p:sp>
        <p:nvSpPr>
          <p:cNvPr id="15" name="Text 11"/>
          <p:cNvSpPr txBox="1"/>
          <p:nvPr/>
        </p:nvSpPr>
        <p:spPr>
          <a:xfrm>
            <a:off x="4526280" y="2788920"/>
            <a:ext cx="3154680" cy="411480"/>
          </a:xfrm>
          <a:prstGeom prst="rect">
            <a:avLst/>
          </a:prstGeom>
          <a:noFill/>
          <a:ln/>
        </p:spPr>
        <p:txBody>
          <a:bodyPr wrap="square" lIns="0" tIns="0" rIns="0" bIns="0" rtlCol="0" anchor="t"/>
          <a:lstStyle/>
          <a:p>
            <a:pPr algn="ctr" indent="0" marL="0">
              <a:buNone/>
            </a:pPr>
            <a:r>
              <a:rPr lang="en-US" sz="2000" b="1" dirty="0">
                <a:solidFill>
                  <a:schemeClr val="bg1"/>
                </a:solidFill>
              </a:rPr>
              <a:t>Arbre de décision</a:t>
            </a:r>
            <a:endParaRPr lang="en-US" sz="2000" dirty="0"/>
          </a:p>
        </p:txBody>
      </p:sp>
      <p:sp>
        <p:nvSpPr>
          <p:cNvPr id="16" name="Text 12"/>
          <p:cNvSpPr txBox="1"/>
          <p:nvPr/>
        </p:nvSpPr>
        <p:spPr>
          <a:xfrm>
            <a:off x="4526280" y="3200400"/>
            <a:ext cx="3154680" cy="365760"/>
          </a:xfrm>
          <a:prstGeom prst="rect">
            <a:avLst/>
          </a:prstGeom>
          <a:noFill/>
          <a:ln/>
        </p:spPr>
        <p:txBody>
          <a:bodyPr wrap="square" lIns="0" tIns="0" rIns="0" bIns="0" rtlCol="0" anchor="t"/>
          <a:lstStyle/>
          <a:p>
            <a:pPr algn="ctr" indent="0" marL="0">
              <a:buNone/>
            </a:pPr>
            <a:r>
              <a:rPr lang="en-US" sz="1500" i="1" dirty="0">
                <a:solidFill>
                  <a:schemeClr val="accent2"/>
                </a:solidFill>
              </a:rPr>
              <a:t>« une suite de questions »</a:t>
            </a:r>
            <a:endParaRPr lang="en-US" sz="1500" dirty="0"/>
          </a:p>
        </p:txBody>
      </p:sp>
      <p:sp>
        <p:nvSpPr>
          <p:cNvPr id="17" name="illustration Arbre de décision"/>
          <p:cNvSpPr/>
          <p:nvPr/>
        </p:nvSpPr>
        <p:spPr>
          <a:xfrm>
            <a:off x="4617720" y="3703320"/>
            <a:ext cx="2971800" cy="1188720"/>
          </a:xfrm>
          <a:prstGeom prst="roundRect">
            <a:avLst>
              <a:gd name="adj" fmla="val 5385"/>
            </a:avLst>
          </a:prstGeom>
          <a:solidFill>
            <a:schemeClr val="accent6"/>
          </a:solidFill>
          <a:ln w="12700">
            <a:solidFill>
              <a:schemeClr val="accent5"/>
            </a:solidFill>
            <a:prstDash val="solid"/>
          </a:ln>
        </p:spPr>
        <p:txBody>
          <a:bodyPr wrap="square" lIns="50800" tIns="50800" rIns="50800" bIns="50800" rtlCol="0" anchor="ctr"/>
          <a:lstStyle/>
          <a:p>
            <a:pPr algn="ctr" indent="0" marL="0">
              <a:buNone/>
            </a:pPr>
            <a:r>
              <a:rPr lang="en-US" sz="1500" i="1" dirty="0">
                <a:solidFill>
                  <a:schemeClr val="bg1"/>
                </a:solidFill>
              </a:rPr>
              <a:t>surface &gt; 2 500 ?</a:t>
            </a:r>
            <a:endParaRPr lang="en-US" sz="1500" dirty="0"/>
          </a:p>
          <a:p>
            <a:pPr algn="ctr" indent="0" marL="0">
              <a:buNone/>
            </a:pPr>
            <a:r>
              <a:rPr lang="en-US" sz="1500" i="1" dirty="0">
                <a:solidFill>
                  <a:schemeClr val="bg1"/>
                </a:solidFill>
              </a:rPr>
              <a:t>→ grade &gt; 7 ?</a:t>
            </a:r>
            <a:endParaRPr lang="en-US" sz="1500" dirty="0"/>
          </a:p>
          <a:p>
            <a:pPr algn="ctr" indent="0" marL="0">
              <a:buNone/>
            </a:pPr>
            <a:r>
              <a:rPr lang="en-US" sz="1500" i="1" dirty="0">
                <a:solidFill>
                  <a:schemeClr val="bg1"/>
                </a:solidFill>
              </a:rPr>
              <a:t>→ prix moyen du groupe</a:t>
            </a:r>
            <a:endParaRPr lang="en-US" sz="1500" dirty="0"/>
          </a:p>
        </p:txBody>
      </p:sp>
      <p:sp>
        <p:nvSpPr>
          <p:cNvPr id="18" name="Text 14"/>
          <p:cNvSpPr txBox="1"/>
          <p:nvPr/>
        </p:nvSpPr>
        <p:spPr>
          <a:xfrm>
            <a:off x="4572000" y="5120640"/>
            <a:ext cx="3063240" cy="777240"/>
          </a:xfrm>
          <a:prstGeom prst="rect">
            <a:avLst/>
          </a:prstGeom>
          <a:noFill/>
          <a:ln/>
        </p:spPr>
        <p:txBody>
          <a:bodyPr wrap="square" lIns="0" tIns="0" rIns="0" bIns="0" rtlCol="0" anchor="ctr"/>
          <a:lstStyle/>
          <a:p>
            <a:pPr algn="ctr" indent="0" marL="0">
              <a:buNone/>
            </a:pPr>
            <a:r>
              <a:rPr lang="en-US" sz="1400" dirty="0">
                <a:solidFill>
                  <a:schemeClr val="bg2"/>
                </a:solidFill>
              </a:rPr>
              <a:t>Facile à lire, mais apprend par cœur</a:t>
            </a:r>
            <a:endParaRPr lang="en-US" sz="1400" dirty="0"/>
          </a:p>
        </p:txBody>
      </p:sp>
      <p:sp>
        <p:nvSpPr>
          <p:cNvPr id="19" name="carte Random Forest"/>
          <p:cNvSpPr/>
          <p:nvPr/>
        </p:nvSpPr>
        <p:spPr>
          <a:xfrm>
            <a:off x="8138160" y="1554480"/>
            <a:ext cx="3520440" cy="4572000"/>
          </a:xfrm>
          <a:prstGeom prst="roundRect">
            <a:avLst>
              <a:gd name="adj" fmla="val 2078"/>
            </a:avLst>
          </a:prstGeom>
          <a:solidFill>
            <a:schemeClr val="tx2"/>
          </a:solidFill>
          <a:ln w="19050">
            <a:solidFill>
              <a:schemeClr val="accent3"/>
            </a:solidFill>
            <a:prstDash val="solid"/>
          </a:ln>
        </p:spPr>
      </p:sp>
      <p:sp>
        <p:nvSpPr>
          <p:cNvPr id="20" name="Random Forest cercle"/>
          <p:cNvSpPr/>
          <p:nvPr/>
        </p:nvSpPr>
        <p:spPr>
          <a:xfrm>
            <a:off x="9464040" y="1783080"/>
            <a:ext cx="868680" cy="868680"/>
          </a:xfrm>
          <a:prstGeom prst="ellipse">
            <a:avLst/>
          </a:prstGeom>
          <a:solidFill>
            <a:schemeClr val="accent6"/>
          </a:solidFill>
          <a:ln w="12700">
            <a:solidFill>
              <a:schemeClr val="accent5"/>
            </a:solidFill>
            <a:prstDash val="solid"/>
          </a:ln>
        </p:spPr>
      </p:sp>
      <p:pic>
        <p:nvPicPr>
          <p:cNvPr id="21" name="Random Forest icône" descr="Random Forest">    </p:cNvPr>
          <p:cNvPicPr>
            <a:picLocks noChangeAspect="1"/>
          </p:cNvPicPr>
          <p:nvPr/>
        </p:nvPicPr>
        <p:blipFill>
          <a:blip r:embed="rId3"/>
          <a:stretch>
            <a:fillRect/>
          </a:stretch>
        </p:blipFill>
        <p:spPr>
          <a:xfrm>
            <a:off x="9689897" y="2008937"/>
            <a:ext cx="416966" cy="416966"/>
          </a:xfrm>
          <a:prstGeom prst="rect">
            <a:avLst/>
          </a:prstGeom>
        </p:spPr>
      </p:pic>
      <p:sp>
        <p:nvSpPr>
          <p:cNvPr id="22" name="Text 17"/>
          <p:cNvSpPr txBox="1"/>
          <p:nvPr/>
        </p:nvSpPr>
        <p:spPr>
          <a:xfrm>
            <a:off x="8321040" y="2788920"/>
            <a:ext cx="3154680" cy="411480"/>
          </a:xfrm>
          <a:prstGeom prst="rect">
            <a:avLst/>
          </a:prstGeom>
          <a:noFill/>
          <a:ln/>
        </p:spPr>
        <p:txBody>
          <a:bodyPr wrap="square" lIns="0" tIns="0" rIns="0" bIns="0" rtlCol="0" anchor="t"/>
          <a:lstStyle/>
          <a:p>
            <a:pPr algn="ctr" indent="0" marL="0">
              <a:buNone/>
            </a:pPr>
            <a:r>
              <a:rPr lang="en-US" sz="2000" b="1" dirty="0">
                <a:solidFill>
                  <a:schemeClr val="bg1"/>
                </a:solidFill>
              </a:rPr>
              <a:t>Random Forest</a:t>
            </a:r>
            <a:endParaRPr lang="en-US" sz="2000" dirty="0"/>
          </a:p>
        </p:txBody>
      </p:sp>
      <p:sp>
        <p:nvSpPr>
          <p:cNvPr id="23" name="Text 18"/>
          <p:cNvSpPr txBox="1"/>
          <p:nvPr/>
        </p:nvSpPr>
        <p:spPr>
          <a:xfrm>
            <a:off x="8321040" y="3200400"/>
            <a:ext cx="3154680" cy="365760"/>
          </a:xfrm>
          <a:prstGeom prst="rect">
            <a:avLst/>
          </a:prstGeom>
          <a:noFill/>
          <a:ln/>
        </p:spPr>
        <p:txBody>
          <a:bodyPr wrap="square" lIns="0" tIns="0" rIns="0" bIns="0" rtlCol="0" anchor="t"/>
          <a:lstStyle/>
          <a:p>
            <a:pPr algn="ctr" indent="0" marL="0">
              <a:buNone/>
            </a:pPr>
            <a:r>
              <a:rPr lang="en-US" sz="1500" i="1" dirty="0">
                <a:solidFill>
                  <a:schemeClr val="accent3"/>
                </a:solidFill>
              </a:rPr>
              <a:t>« la moyenne de beaucoup d'arbres »</a:t>
            </a:r>
            <a:endParaRPr lang="en-US" sz="1500" dirty="0"/>
          </a:p>
        </p:txBody>
      </p:sp>
      <p:sp>
        <p:nvSpPr>
          <p:cNvPr id="24" name="illustration Random Forest"/>
          <p:cNvSpPr/>
          <p:nvPr/>
        </p:nvSpPr>
        <p:spPr>
          <a:xfrm>
            <a:off x="8412480" y="3703320"/>
            <a:ext cx="2971800" cy="1188720"/>
          </a:xfrm>
          <a:prstGeom prst="roundRect">
            <a:avLst>
              <a:gd name="adj" fmla="val 5385"/>
            </a:avLst>
          </a:prstGeom>
          <a:solidFill>
            <a:schemeClr val="accent6"/>
          </a:solidFill>
          <a:ln w="12700">
            <a:solidFill>
              <a:schemeClr val="accent5"/>
            </a:solidFill>
            <a:prstDash val="solid"/>
          </a:ln>
        </p:spPr>
        <p:txBody>
          <a:bodyPr wrap="square" lIns="50800" tIns="50800" rIns="50800" bIns="50800" rtlCol="0" anchor="ctr"/>
          <a:lstStyle/>
          <a:p>
            <a:pPr algn="ctr" indent="0" marL="0">
              <a:buNone/>
            </a:pPr>
            <a:r>
              <a:rPr lang="en-US" sz="1500" i="1" dirty="0">
                <a:solidFill>
                  <a:schemeClr val="bg1"/>
                </a:solidFill>
              </a:rPr>
              <a:t>chaque arbre voit un tirage différent des maisons</a:t>
            </a:r>
            <a:endParaRPr lang="en-US" sz="1500" dirty="0"/>
          </a:p>
        </p:txBody>
      </p:sp>
      <p:sp>
        <p:nvSpPr>
          <p:cNvPr id="25" name="Text 20"/>
          <p:cNvSpPr txBox="1"/>
          <p:nvPr/>
        </p:nvSpPr>
        <p:spPr>
          <a:xfrm>
            <a:off x="8366760" y="5120640"/>
            <a:ext cx="3063240" cy="777240"/>
          </a:xfrm>
          <a:prstGeom prst="rect">
            <a:avLst/>
          </a:prstGeom>
          <a:noFill/>
          <a:ln/>
        </p:spPr>
        <p:txBody>
          <a:bodyPr wrap="square" lIns="0" tIns="0" rIns="0" bIns="0" rtlCol="0" anchor="ctr"/>
          <a:lstStyle/>
          <a:p>
            <a:pPr algn="ctr" indent="0" marL="0">
              <a:buNone/>
            </a:pPr>
            <a:r>
              <a:rPr lang="en-US" sz="1400" dirty="0">
                <a:solidFill>
                  <a:schemeClr val="bg2"/>
                </a:solidFill>
              </a:rPr>
              <a:t>Les erreurs des arbres se compensent</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10  ·  ÉVALUATION</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Mesurer sans tricher</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2"/>
            </a:solidFill>
          </a:ln>
        </p:spPr>
        <p:txBody>
          <a:bodyPr wrap="square" lIns="0" tIns="0" rIns="0" bIns="0" rtlCol="0" anchor="ctr"/>
          <a:lstStyle/>
          <a:p>
            <a:pPr algn="ctr" indent="0" marL="0">
              <a:buNone/>
            </a:pPr>
            <a:r>
              <a:rPr lang="en-US" sz="1300" b="1" dirty="0">
                <a:solidFill>
                  <a:schemeClr val="accent2"/>
                </a:solidFill>
              </a:rPr>
              <a:t>Yannis</a:t>
            </a:r>
            <a:endParaRPr lang="en-US" sz="1300" dirty="0"/>
          </a:p>
        </p:txBody>
      </p:sp>
      <p:sp>
        <p:nvSpPr>
          <p:cNvPr id="5" name="Text 3"/>
          <p:cNvSpPr txBox="1"/>
          <p:nvPr/>
        </p:nvSpPr>
        <p:spPr>
          <a:xfrm>
            <a:off x="548640" y="1508760"/>
            <a:ext cx="576072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VALIDATION CROISÉE  ·  sur le train uniquement</a:t>
            </a:r>
            <a:endParaRPr lang="en-US" sz="1200" dirty="0"/>
          </a:p>
        </p:txBody>
      </p:sp>
      <p:sp>
        <p:nvSpPr>
          <p:cNvPr id="6" name="Text 4"/>
          <p:cNvSpPr txBox="1"/>
          <p:nvPr/>
        </p:nvSpPr>
        <p:spPr>
          <a:xfrm>
            <a:off x="548640" y="1965960"/>
            <a:ext cx="868680" cy="548640"/>
          </a:xfrm>
          <a:prstGeom prst="rect">
            <a:avLst/>
          </a:prstGeom>
          <a:noFill/>
          <a:ln/>
        </p:spPr>
        <p:txBody>
          <a:bodyPr wrap="square" lIns="0" tIns="0" rIns="0" bIns="0" rtlCol="0" anchor="ctr"/>
          <a:lstStyle/>
          <a:p>
            <a:pPr indent="0" marL="0">
              <a:buNone/>
            </a:pPr>
            <a:r>
              <a:rPr lang="en-US" sz="1400" b="1" dirty="0">
                <a:solidFill>
                  <a:schemeClr val="bg1"/>
                </a:solidFill>
              </a:rPr>
              <a:t>Tour 1</a:t>
            </a:r>
            <a:endParaRPr lang="en-US" sz="1400" dirty="0"/>
          </a:p>
        </p:txBody>
      </p:sp>
      <p:sp>
        <p:nvSpPr>
          <p:cNvPr id="7" name="part 1"/>
          <p:cNvSpPr/>
          <p:nvPr/>
        </p:nvSpPr>
        <p:spPr>
          <a:xfrm>
            <a:off x="1463040" y="1965960"/>
            <a:ext cx="1508760" cy="548640"/>
          </a:xfrm>
          <a:prstGeom prst="roundRect">
            <a:avLst>
              <a:gd name="adj" fmla="val 11667"/>
            </a:avLst>
          </a:prstGeom>
          <a:solidFill>
            <a:schemeClr val="accent6"/>
          </a:solidFill>
          <a:ln w="12700">
            <a:solidFill>
              <a:schemeClr val="accent3"/>
            </a:solidFill>
            <a:prstDash val="solid"/>
          </a:ln>
        </p:spPr>
        <p:txBody>
          <a:bodyPr wrap="square" lIns="50800" tIns="50800" rIns="50800" bIns="50800" rtlCol="0" anchor="ctr"/>
          <a:lstStyle/>
          <a:p>
            <a:pPr algn="ctr" indent="0" marL="0">
              <a:buNone/>
            </a:pPr>
            <a:r>
              <a:rPr lang="en-US" sz="1300" b="1" dirty="0">
                <a:solidFill>
                  <a:schemeClr val="accent3"/>
                </a:solidFill>
              </a:rPr>
              <a:t>on mesure</a:t>
            </a:r>
            <a:endParaRPr lang="en-US" sz="1300" dirty="0"/>
          </a:p>
        </p:txBody>
      </p:sp>
      <p:sp>
        <p:nvSpPr>
          <p:cNvPr id="8" name="part 2"/>
          <p:cNvSpPr/>
          <p:nvPr/>
        </p:nvSpPr>
        <p:spPr>
          <a:xfrm>
            <a:off x="3063240" y="1965960"/>
            <a:ext cx="1508760" cy="548640"/>
          </a:xfrm>
          <a:prstGeom prst="roundRect">
            <a:avLst>
              <a:gd name="adj" fmla="val 11667"/>
            </a:avLst>
          </a:prstGeom>
          <a:solidFill>
            <a:schemeClr val="tx2"/>
          </a:solidFill>
          <a:ln w="12700">
            <a:solidFill>
              <a:schemeClr val="accent1"/>
            </a:solidFill>
            <a:prstDash val="solid"/>
          </a:ln>
        </p:spPr>
        <p:txBody>
          <a:bodyPr wrap="square" lIns="50800" tIns="50800" rIns="50800" bIns="50800" rtlCol="0" anchor="ctr"/>
          <a:lstStyle/>
          <a:p>
            <a:pPr algn="ctr" indent="0" marL="0">
              <a:buNone/>
            </a:pPr>
            <a:r>
              <a:rPr lang="en-US" sz="1300" dirty="0">
                <a:solidFill>
                  <a:schemeClr val="accent1"/>
                </a:solidFill>
              </a:rPr>
              <a:t>on apprend</a:t>
            </a:r>
            <a:endParaRPr lang="en-US" sz="1300" dirty="0"/>
          </a:p>
        </p:txBody>
      </p:sp>
      <p:sp>
        <p:nvSpPr>
          <p:cNvPr id="9" name="part 3"/>
          <p:cNvSpPr/>
          <p:nvPr/>
        </p:nvSpPr>
        <p:spPr>
          <a:xfrm>
            <a:off x="4663440" y="1965960"/>
            <a:ext cx="1508760" cy="548640"/>
          </a:xfrm>
          <a:prstGeom prst="roundRect">
            <a:avLst>
              <a:gd name="adj" fmla="val 11667"/>
            </a:avLst>
          </a:prstGeom>
          <a:solidFill>
            <a:schemeClr val="tx2"/>
          </a:solidFill>
          <a:ln w="12700">
            <a:solidFill>
              <a:schemeClr val="accent1"/>
            </a:solidFill>
            <a:prstDash val="solid"/>
          </a:ln>
        </p:spPr>
        <p:txBody>
          <a:bodyPr wrap="square" lIns="50800" tIns="50800" rIns="50800" bIns="50800" rtlCol="0" anchor="ctr"/>
          <a:lstStyle/>
          <a:p>
            <a:pPr algn="ctr" indent="0" marL="0">
              <a:buNone/>
            </a:pPr>
            <a:r>
              <a:rPr lang="en-US" sz="1300" dirty="0">
                <a:solidFill>
                  <a:schemeClr val="accent1"/>
                </a:solidFill>
              </a:rPr>
              <a:t>on apprend</a:t>
            </a:r>
            <a:endParaRPr lang="en-US" sz="1300" dirty="0"/>
          </a:p>
        </p:txBody>
      </p:sp>
      <p:sp>
        <p:nvSpPr>
          <p:cNvPr id="10" name="Text 8"/>
          <p:cNvSpPr txBox="1"/>
          <p:nvPr/>
        </p:nvSpPr>
        <p:spPr>
          <a:xfrm>
            <a:off x="548640" y="2743200"/>
            <a:ext cx="868680" cy="548640"/>
          </a:xfrm>
          <a:prstGeom prst="rect">
            <a:avLst/>
          </a:prstGeom>
          <a:noFill/>
          <a:ln/>
        </p:spPr>
        <p:txBody>
          <a:bodyPr wrap="square" lIns="0" tIns="0" rIns="0" bIns="0" rtlCol="0" anchor="ctr"/>
          <a:lstStyle/>
          <a:p>
            <a:pPr indent="0" marL="0">
              <a:buNone/>
            </a:pPr>
            <a:r>
              <a:rPr lang="en-US" sz="1400" b="1" dirty="0">
                <a:solidFill>
                  <a:schemeClr val="bg1"/>
                </a:solidFill>
              </a:rPr>
              <a:t>Tour 2</a:t>
            </a:r>
            <a:endParaRPr lang="en-US" sz="1400" dirty="0"/>
          </a:p>
        </p:txBody>
      </p:sp>
      <p:sp>
        <p:nvSpPr>
          <p:cNvPr id="11" name="part 1"/>
          <p:cNvSpPr/>
          <p:nvPr/>
        </p:nvSpPr>
        <p:spPr>
          <a:xfrm>
            <a:off x="1463040" y="2743200"/>
            <a:ext cx="1508760" cy="548640"/>
          </a:xfrm>
          <a:prstGeom prst="roundRect">
            <a:avLst>
              <a:gd name="adj" fmla="val 11667"/>
            </a:avLst>
          </a:prstGeom>
          <a:solidFill>
            <a:schemeClr val="tx2"/>
          </a:solidFill>
          <a:ln w="12700">
            <a:solidFill>
              <a:schemeClr val="accent1"/>
            </a:solidFill>
            <a:prstDash val="solid"/>
          </a:ln>
        </p:spPr>
        <p:txBody>
          <a:bodyPr wrap="square" lIns="50800" tIns="50800" rIns="50800" bIns="50800" rtlCol="0" anchor="ctr"/>
          <a:lstStyle/>
          <a:p>
            <a:pPr algn="ctr" indent="0" marL="0">
              <a:buNone/>
            </a:pPr>
            <a:r>
              <a:rPr lang="en-US" sz="1300" dirty="0">
                <a:solidFill>
                  <a:schemeClr val="accent1"/>
                </a:solidFill>
              </a:rPr>
              <a:t>on apprend</a:t>
            </a:r>
            <a:endParaRPr lang="en-US" sz="1300" dirty="0"/>
          </a:p>
        </p:txBody>
      </p:sp>
      <p:sp>
        <p:nvSpPr>
          <p:cNvPr id="12" name="part 2"/>
          <p:cNvSpPr/>
          <p:nvPr/>
        </p:nvSpPr>
        <p:spPr>
          <a:xfrm>
            <a:off x="3063240" y="2743200"/>
            <a:ext cx="1508760" cy="548640"/>
          </a:xfrm>
          <a:prstGeom prst="roundRect">
            <a:avLst>
              <a:gd name="adj" fmla="val 11667"/>
            </a:avLst>
          </a:prstGeom>
          <a:solidFill>
            <a:schemeClr val="accent6"/>
          </a:solidFill>
          <a:ln w="12700">
            <a:solidFill>
              <a:schemeClr val="accent3"/>
            </a:solidFill>
            <a:prstDash val="solid"/>
          </a:ln>
        </p:spPr>
        <p:txBody>
          <a:bodyPr wrap="square" lIns="50800" tIns="50800" rIns="50800" bIns="50800" rtlCol="0" anchor="ctr"/>
          <a:lstStyle/>
          <a:p>
            <a:pPr algn="ctr" indent="0" marL="0">
              <a:buNone/>
            </a:pPr>
            <a:r>
              <a:rPr lang="en-US" sz="1300" b="1" dirty="0">
                <a:solidFill>
                  <a:schemeClr val="accent3"/>
                </a:solidFill>
              </a:rPr>
              <a:t>on mesure</a:t>
            </a:r>
            <a:endParaRPr lang="en-US" sz="1300" dirty="0"/>
          </a:p>
        </p:txBody>
      </p:sp>
      <p:sp>
        <p:nvSpPr>
          <p:cNvPr id="13" name="part 3"/>
          <p:cNvSpPr/>
          <p:nvPr/>
        </p:nvSpPr>
        <p:spPr>
          <a:xfrm>
            <a:off x="4663440" y="2743200"/>
            <a:ext cx="1508760" cy="548640"/>
          </a:xfrm>
          <a:prstGeom prst="roundRect">
            <a:avLst>
              <a:gd name="adj" fmla="val 11667"/>
            </a:avLst>
          </a:prstGeom>
          <a:solidFill>
            <a:schemeClr val="tx2"/>
          </a:solidFill>
          <a:ln w="12700">
            <a:solidFill>
              <a:schemeClr val="accent1"/>
            </a:solidFill>
            <a:prstDash val="solid"/>
          </a:ln>
        </p:spPr>
        <p:txBody>
          <a:bodyPr wrap="square" lIns="50800" tIns="50800" rIns="50800" bIns="50800" rtlCol="0" anchor="ctr"/>
          <a:lstStyle/>
          <a:p>
            <a:pPr algn="ctr" indent="0" marL="0">
              <a:buNone/>
            </a:pPr>
            <a:r>
              <a:rPr lang="en-US" sz="1300" dirty="0">
                <a:solidFill>
                  <a:schemeClr val="accent1"/>
                </a:solidFill>
              </a:rPr>
              <a:t>on apprend</a:t>
            </a:r>
            <a:endParaRPr lang="en-US" sz="1300" dirty="0"/>
          </a:p>
        </p:txBody>
      </p:sp>
      <p:sp>
        <p:nvSpPr>
          <p:cNvPr id="14" name="Text 12"/>
          <p:cNvSpPr txBox="1"/>
          <p:nvPr/>
        </p:nvSpPr>
        <p:spPr>
          <a:xfrm>
            <a:off x="548640" y="3520440"/>
            <a:ext cx="868680" cy="548640"/>
          </a:xfrm>
          <a:prstGeom prst="rect">
            <a:avLst/>
          </a:prstGeom>
          <a:noFill/>
          <a:ln/>
        </p:spPr>
        <p:txBody>
          <a:bodyPr wrap="square" lIns="0" tIns="0" rIns="0" bIns="0" rtlCol="0" anchor="ctr"/>
          <a:lstStyle/>
          <a:p>
            <a:pPr indent="0" marL="0">
              <a:buNone/>
            </a:pPr>
            <a:r>
              <a:rPr lang="en-US" sz="1400" b="1" dirty="0">
                <a:solidFill>
                  <a:schemeClr val="bg1"/>
                </a:solidFill>
              </a:rPr>
              <a:t>Tour 3</a:t>
            </a:r>
            <a:endParaRPr lang="en-US" sz="1400" dirty="0"/>
          </a:p>
        </p:txBody>
      </p:sp>
      <p:sp>
        <p:nvSpPr>
          <p:cNvPr id="15" name="part 1"/>
          <p:cNvSpPr/>
          <p:nvPr/>
        </p:nvSpPr>
        <p:spPr>
          <a:xfrm>
            <a:off x="1463040" y="3520440"/>
            <a:ext cx="1508760" cy="548640"/>
          </a:xfrm>
          <a:prstGeom prst="roundRect">
            <a:avLst>
              <a:gd name="adj" fmla="val 11667"/>
            </a:avLst>
          </a:prstGeom>
          <a:solidFill>
            <a:schemeClr val="tx2"/>
          </a:solidFill>
          <a:ln w="12700">
            <a:solidFill>
              <a:schemeClr val="accent1"/>
            </a:solidFill>
            <a:prstDash val="solid"/>
          </a:ln>
        </p:spPr>
        <p:txBody>
          <a:bodyPr wrap="square" lIns="50800" tIns="50800" rIns="50800" bIns="50800" rtlCol="0" anchor="ctr"/>
          <a:lstStyle/>
          <a:p>
            <a:pPr algn="ctr" indent="0" marL="0">
              <a:buNone/>
            </a:pPr>
            <a:r>
              <a:rPr lang="en-US" sz="1300" dirty="0">
                <a:solidFill>
                  <a:schemeClr val="accent1"/>
                </a:solidFill>
              </a:rPr>
              <a:t>on apprend</a:t>
            </a:r>
            <a:endParaRPr lang="en-US" sz="1300" dirty="0"/>
          </a:p>
        </p:txBody>
      </p:sp>
      <p:sp>
        <p:nvSpPr>
          <p:cNvPr id="16" name="part 2"/>
          <p:cNvSpPr/>
          <p:nvPr/>
        </p:nvSpPr>
        <p:spPr>
          <a:xfrm>
            <a:off x="3063240" y="3520440"/>
            <a:ext cx="1508760" cy="548640"/>
          </a:xfrm>
          <a:prstGeom prst="roundRect">
            <a:avLst>
              <a:gd name="adj" fmla="val 11667"/>
            </a:avLst>
          </a:prstGeom>
          <a:solidFill>
            <a:schemeClr val="tx2"/>
          </a:solidFill>
          <a:ln w="12700">
            <a:solidFill>
              <a:schemeClr val="accent1"/>
            </a:solidFill>
            <a:prstDash val="solid"/>
          </a:ln>
        </p:spPr>
        <p:txBody>
          <a:bodyPr wrap="square" lIns="50800" tIns="50800" rIns="50800" bIns="50800" rtlCol="0" anchor="ctr"/>
          <a:lstStyle/>
          <a:p>
            <a:pPr algn="ctr" indent="0" marL="0">
              <a:buNone/>
            </a:pPr>
            <a:r>
              <a:rPr lang="en-US" sz="1300" dirty="0">
                <a:solidFill>
                  <a:schemeClr val="accent1"/>
                </a:solidFill>
              </a:rPr>
              <a:t>on apprend</a:t>
            </a:r>
            <a:endParaRPr lang="en-US" sz="1300" dirty="0"/>
          </a:p>
        </p:txBody>
      </p:sp>
      <p:sp>
        <p:nvSpPr>
          <p:cNvPr id="17" name="part 3"/>
          <p:cNvSpPr/>
          <p:nvPr/>
        </p:nvSpPr>
        <p:spPr>
          <a:xfrm>
            <a:off x="4663440" y="3520440"/>
            <a:ext cx="1508760" cy="548640"/>
          </a:xfrm>
          <a:prstGeom prst="roundRect">
            <a:avLst>
              <a:gd name="adj" fmla="val 11667"/>
            </a:avLst>
          </a:prstGeom>
          <a:solidFill>
            <a:schemeClr val="accent6"/>
          </a:solidFill>
          <a:ln w="12700">
            <a:solidFill>
              <a:schemeClr val="accent3"/>
            </a:solidFill>
            <a:prstDash val="solid"/>
          </a:ln>
        </p:spPr>
        <p:txBody>
          <a:bodyPr wrap="square" lIns="50800" tIns="50800" rIns="50800" bIns="50800" rtlCol="0" anchor="ctr"/>
          <a:lstStyle/>
          <a:p>
            <a:pPr algn="ctr" indent="0" marL="0">
              <a:buNone/>
            </a:pPr>
            <a:r>
              <a:rPr lang="en-US" sz="1300" b="1" dirty="0">
                <a:solidFill>
                  <a:schemeClr val="accent3"/>
                </a:solidFill>
              </a:rPr>
              <a:t>on mesure</a:t>
            </a:r>
            <a:endParaRPr lang="en-US" sz="1300" dirty="0"/>
          </a:p>
        </p:txBody>
      </p:sp>
      <p:sp>
        <p:nvSpPr>
          <p:cNvPr id="18" name="Text 16"/>
          <p:cNvSpPr txBox="1"/>
          <p:nvPr/>
        </p:nvSpPr>
        <p:spPr>
          <a:xfrm>
            <a:off x="1463040" y="4343400"/>
            <a:ext cx="4754880" cy="365760"/>
          </a:xfrm>
          <a:prstGeom prst="rect">
            <a:avLst/>
          </a:prstGeom>
          <a:noFill/>
          <a:ln/>
        </p:spPr>
        <p:txBody>
          <a:bodyPr wrap="square" lIns="0" tIns="0" rIns="0" bIns="0" rtlCol="0" anchor="t"/>
          <a:lstStyle/>
          <a:p>
            <a:pPr indent="0" marL="0">
              <a:buNone/>
            </a:pPr>
            <a:r>
              <a:rPr lang="en-US" sz="1400" i="1" dirty="0">
                <a:solidFill>
                  <a:schemeClr val="bg2"/>
                </a:solidFill>
              </a:rPr>
              <a:t>→ on fait la moyenne des 3 tours</a:t>
            </a:r>
            <a:endParaRPr lang="en-US" sz="1400" dirty="0"/>
          </a:p>
        </p:txBody>
      </p:sp>
      <p:sp>
        <p:nvSpPr>
          <p:cNvPr id="19" name="test caché"/>
          <p:cNvSpPr/>
          <p:nvPr/>
        </p:nvSpPr>
        <p:spPr>
          <a:xfrm>
            <a:off x="548640" y="4937760"/>
            <a:ext cx="5760720" cy="548640"/>
          </a:xfrm>
          <a:prstGeom prst="roundRect">
            <a:avLst>
              <a:gd name="adj" fmla="val 11667"/>
            </a:avLst>
          </a:prstGeom>
          <a:solidFill>
            <a:schemeClr val="tx2"/>
          </a:solidFill>
          <a:ln w="12700">
            <a:solidFill>
              <a:schemeClr val="accent4"/>
            </a:solidFill>
            <a:prstDash val="solid"/>
          </a:ln>
        </p:spPr>
        <p:txBody>
          <a:bodyPr wrap="square" lIns="50800" tIns="50800" rIns="50800" bIns="50800" rtlCol="0" anchor="ctr"/>
          <a:lstStyle/>
          <a:p>
            <a:pPr algn="ctr" indent="0" marL="0">
              <a:buNone/>
            </a:pPr>
            <a:r>
              <a:rPr lang="en-US" sz="1500" b="1" dirty="0">
                <a:solidFill>
                  <a:schemeClr val="accent4"/>
                </a:solidFill>
              </a:rPr>
              <a:t>Le test (20 %) reste caché jusqu'à la fin</a:t>
            </a:r>
            <a:endParaRPr lang="en-US" sz="1500" dirty="0"/>
          </a:p>
        </p:txBody>
      </p:sp>
      <p:sp>
        <p:nvSpPr>
          <p:cNvPr id="20" name="carte MAE"/>
          <p:cNvSpPr/>
          <p:nvPr/>
        </p:nvSpPr>
        <p:spPr>
          <a:xfrm>
            <a:off x="6675120" y="1508760"/>
            <a:ext cx="4965192" cy="1371600"/>
          </a:xfrm>
          <a:prstGeom prst="roundRect">
            <a:avLst>
              <a:gd name="adj" fmla="val 5333"/>
            </a:avLst>
          </a:prstGeom>
          <a:solidFill>
            <a:schemeClr val="tx2"/>
          </a:solidFill>
          <a:ln w="12700">
            <a:solidFill>
              <a:schemeClr val="accent5"/>
            </a:solidFill>
            <a:prstDash val="solid"/>
          </a:ln>
        </p:spPr>
      </p:sp>
      <p:sp>
        <p:nvSpPr>
          <p:cNvPr id="21" name="Text 19"/>
          <p:cNvSpPr txBox="1"/>
          <p:nvPr/>
        </p:nvSpPr>
        <p:spPr>
          <a:xfrm>
            <a:off x="6858000" y="1645920"/>
            <a:ext cx="1188720" cy="548640"/>
          </a:xfrm>
          <a:prstGeom prst="rect">
            <a:avLst/>
          </a:prstGeom>
          <a:noFill/>
          <a:ln/>
        </p:spPr>
        <p:txBody>
          <a:bodyPr wrap="square" lIns="0" tIns="0" rIns="0" bIns="0" rtlCol="0" anchor="ctr"/>
          <a:lstStyle/>
          <a:p>
            <a:pPr indent="0" marL="0">
              <a:buNone/>
            </a:pPr>
            <a:r>
              <a:rPr lang="en-US" sz="2600" b="1" dirty="0">
                <a:solidFill>
                  <a:schemeClr val="accent2"/>
                </a:solidFill>
                <a:latin typeface="Arial" pitchFamily="34" charset="0"/>
                <a:ea typeface="Arial" pitchFamily="34" charset="-122"/>
                <a:cs typeface="Arial" pitchFamily="34" charset="-120"/>
              </a:rPr>
              <a:t>MAE</a:t>
            </a:r>
            <a:endParaRPr lang="en-US" sz="2600" dirty="0"/>
          </a:p>
        </p:txBody>
      </p:sp>
      <p:sp>
        <p:nvSpPr>
          <p:cNvPr id="22" name="Text 20"/>
          <p:cNvSpPr txBox="1"/>
          <p:nvPr/>
        </p:nvSpPr>
        <p:spPr>
          <a:xfrm>
            <a:off x="8092440" y="1645920"/>
            <a:ext cx="3429000" cy="411480"/>
          </a:xfrm>
          <a:prstGeom prst="rect">
            <a:avLst/>
          </a:prstGeom>
          <a:noFill/>
          <a:ln/>
        </p:spPr>
        <p:txBody>
          <a:bodyPr wrap="square" lIns="0" tIns="0" rIns="0" bIns="0" rtlCol="0" anchor="ctr"/>
          <a:lstStyle/>
          <a:p>
            <a:pPr indent="0" marL="0">
              <a:buNone/>
            </a:pPr>
            <a:r>
              <a:rPr lang="en-US" sz="1600" b="1" dirty="0">
                <a:solidFill>
                  <a:schemeClr val="bg1"/>
                </a:solidFill>
              </a:rPr>
              <a:t>erreur moyenne en $</a:t>
            </a:r>
            <a:endParaRPr lang="en-US" sz="1600" dirty="0"/>
          </a:p>
        </p:txBody>
      </p:sp>
      <p:sp>
        <p:nvSpPr>
          <p:cNvPr id="23" name="Text 21"/>
          <p:cNvSpPr txBox="1"/>
          <p:nvPr/>
        </p:nvSpPr>
        <p:spPr>
          <a:xfrm>
            <a:off x="8092440" y="2075688"/>
            <a:ext cx="3429000" cy="365760"/>
          </a:xfrm>
          <a:prstGeom prst="rect">
            <a:avLst/>
          </a:prstGeom>
          <a:noFill/>
          <a:ln/>
        </p:spPr>
        <p:txBody>
          <a:bodyPr wrap="square" lIns="0" tIns="0" rIns="0" bIns="0" rtlCol="0" anchor="t"/>
          <a:lstStyle/>
          <a:p>
            <a:pPr indent="0" marL="0">
              <a:buNone/>
            </a:pPr>
            <a:r>
              <a:rPr lang="en-US" sz="1300" dirty="0">
                <a:solidFill>
                  <a:schemeClr val="bg2"/>
                </a:solidFill>
              </a:rPr>
              <a:t>« en moyenne, on se trompe de … dollars »</a:t>
            </a:r>
            <a:endParaRPr lang="en-US" sz="1300" dirty="0"/>
          </a:p>
        </p:txBody>
      </p:sp>
      <p:sp>
        <p:nvSpPr>
          <p:cNvPr id="24" name="Text 22"/>
          <p:cNvSpPr txBox="1"/>
          <p:nvPr/>
        </p:nvSpPr>
        <p:spPr>
          <a:xfrm>
            <a:off x="8092440" y="2423160"/>
            <a:ext cx="3429000" cy="320040"/>
          </a:xfrm>
          <a:prstGeom prst="rect">
            <a:avLst/>
          </a:prstGeom>
          <a:noFill/>
          <a:ln/>
        </p:spPr>
        <p:txBody>
          <a:bodyPr wrap="square" lIns="0" tIns="0" rIns="0" bIns="0" rtlCol="0" anchor="t"/>
          <a:lstStyle/>
          <a:p>
            <a:pPr indent="0" marL="0">
              <a:buNone/>
            </a:pPr>
            <a:r>
              <a:rPr lang="en-US" sz="1200" b="1" dirty="0">
                <a:solidFill>
                  <a:schemeClr val="accent3"/>
                </a:solidFill>
              </a:rPr>
              <a:t>plus petit = mieux</a:t>
            </a:r>
            <a:endParaRPr lang="en-US" sz="1200" dirty="0"/>
          </a:p>
        </p:txBody>
      </p:sp>
      <p:sp>
        <p:nvSpPr>
          <p:cNvPr id="25" name="carte RMSE"/>
          <p:cNvSpPr/>
          <p:nvPr/>
        </p:nvSpPr>
        <p:spPr>
          <a:xfrm>
            <a:off x="6675120" y="3063240"/>
            <a:ext cx="4965192" cy="1371600"/>
          </a:xfrm>
          <a:prstGeom prst="roundRect">
            <a:avLst>
              <a:gd name="adj" fmla="val 5333"/>
            </a:avLst>
          </a:prstGeom>
          <a:solidFill>
            <a:schemeClr val="tx2"/>
          </a:solidFill>
          <a:ln w="12700">
            <a:solidFill>
              <a:schemeClr val="accent5"/>
            </a:solidFill>
            <a:prstDash val="solid"/>
          </a:ln>
        </p:spPr>
      </p:sp>
      <p:sp>
        <p:nvSpPr>
          <p:cNvPr id="26" name="Text 24"/>
          <p:cNvSpPr txBox="1"/>
          <p:nvPr/>
        </p:nvSpPr>
        <p:spPr>
          <a:xfrm>
            <a:off x="6858000" y="3200400"/>
            <a:ext cx="1188720" cy="548640"/>
          </a:xfrm>
          <a:prstGeom prst="rect">
            <a:avLst/>
          </a:prstGeom>
          <a:noFill/>
          <a:ln/>
        </p:spPr>
        <p:txBody>
          <a:bodyPr wrap="square" lIns="0" tIns="0" rIns="0" bIns="0" rtlCol="0" anchor="ctr"/>
          <a:lstStyle/>
          <a:p>
            <a:pPr indent="0" marL="0">
              <a:buNone/>
            </a:pPr>
            <a:r>
              <a:rPr lang="en-US" sz="2600" b="1" dirty="0">
                <a:solidFill>
                  <a:schemeClr val="accent2"/>
                </a:solidFill>
                <a:latin typeface="Arial" pitchFamily="34" charset="0"/>
                <a:ea typeface="Arial" pitchFamily="34" charset="-122"/>
                <a:cs typeface="Arial" pitchFamily="34" charset="-120"/>
              </a:rPr>
              <a:t>RMSE</a:t>
            </a:r>
            <a:endParaRPr lang="en-US" sz="2600" dirty="0"/>
          </a:p>
        </p:txBody>
      </p:sp>
      <p:sp>
        <p:nvSpPr>
          <p:cNvPr id="27" name="Text 25"/>
          <p:cNvSpPr txBox="1"/>
          <p:nvPr/>
        </p:nvSpPr>
        <p:spPr>
          <a:xfrm>
            <a:off x="8092440" y="3200400"/>
            <a:ext cx="3429000" cy="411480"/>
          </a:xfrm>
          <a:prstGeom prst="rect">
            <a:avLst/>
          </a:prstGeom>
          <a:noFill/>
          <a:ln/>
        </p:spPr>
        <p:txBody>
          <a:bodyPr wrap="square" lIns="0" tIns="0" rIns="0" bIns="0" rtlCol="0" anchor="ctr"/>
          <a:lstStyle/>
          <a:p>
            <a:pPr indent="0" marL="0">
              <a:buNone/>
            </a:pPr>
            <a:r>
              <a:rPr lang="en-US" sz="1600" b="1" dirty="0">
                <a:solidFill>
                  <a:schemeClr val="bg1"/>
                </a:solidFill>
              </a:rPr>
              <a:t>les grosses erreurs pèsent plus</a:t>
            </a:r>
            <a:endParaRPr lang="en-US" sz="1600" dirty="0"/>
          </a:p>
        </p:txBody>
      </p:sp>
      <p:sp>
        <p:nvSpPr>
          <p:cNvPr id="28" name="Text 26"/>
          <p:cNvSpPr txBox="1"/>
          <p:nvPr/>
        </p:nvSpPr>
        <p:spPr>
          <a:xfrm>
            <a:off x="8092440" y="3630168"/>
            <a:ext cx="3429000" cy="365760"/>
          </a:xfrm>
          <a:prstGeom prst="rect">
            <a:avLst/>
          </a:prstGeom>
          <a:noFill/>
          <a:ln/>
        </p:spPr>
        <p:txBody>
          <a:bodyPr wrap="square" lIns="0" tIns="0" rIns="0" bIns="0" rtlCol="0" anchor="t"/>
          <a:lstStyle/>
          <a:p>
            <a:pPr indent="0" marL="0">
              <a:buNone/>
            </a:pPr>
            <a:r>
              <a:rPr lang="en-US" sz="1300" dirty="0">
                <a:solidFill>
                  <a:schemeClr val="bg2"/>
                </a:solidFill>
              </a:rPr>
              <a:t>toujours ≥ MAE</a:t>
            </a:r>
            <a:endParaRPr lang="en-US" sz="1300" dirty="0"/>
          </a:p>
        </p:txBody>
      </p:sp>
      <p:sp>
        <p:nvSpPr>
          <p:cNvPr id="29" name="Text 27"/>
          <p:cNvSpPr txBox="1"/>
          <p:nvPr/>
        </p:nvSpPr>
        <p:spPr>
          <a:xfrm>
            <a:off x="8092440" y="3977640"/>
            <a:ext cx="3429000" cy="320040"/>
          </a:xfrm>
          <a:prstGeom prst="rect">
            <a:avLst/>
          </a:prstGeom>
          <a:noFill/>
          <a:ln/>
        </p:spPr>
        <p:txBody>
          <a:bodyPr wrap="square" lIns="0" tIns="0" rIns="0" bIns="0" rtlCol="0" anchor="t"/>
          <a:lstStyle/>
          <a:p>
            <a:pPr indent="0" marL="0">
              <a:buNone/>
            </a:pPr>
            <a:r>
              <a:rPr lang="en-US" sz="1200" b="1" dirty="0">
                <a:solidFill>
                  <a:schemeClr val="accent3"/>
                </a:solidFill>
              </a:rPr>
              <a:t>plus petit = mieux</a:t>
            </a:r>
            <a:endParaRPr lang="en-US" sz="1200" dirty="0"/>
          </a:p>
        </p:txBody>
      </p:sp>
      <p:sp>
        <p:nvSpPr>
          <p:cNvPr id="30" name="carte R²"/>
          <p:cNvSpPr/>
          <p:nvPr/>
        </p:nvSpPr>
        <p:spPr>
          <a:xfrm>
            <a:off x="6675120" y="4617720"/>
            <a:ext cx="4965192" cy="1371600"/>
          </a:xfrm>
          <a:prstGeom prst="roundRect">
            <a:avLst>
              <a:gd name="adj" fmla="val 5333"/>
            </a:avLst>
          </a:prstGeom>
          <a:solidFill>
            <a:schemeClr val="tx2"/>
          </a:solidFill>
          <a:ln w="12700">
            <a:solidFill>
              <a:schemeClr val="accent5"/>
            </a:solidFill>
            <a:prstDash val="solid"/>
          </a:ln>
        </p:spPr>
      </p:sp>
      <p:sp>
        <p:nvSpPr>
          <p:cNvPr id="31" name="Text 29"/>
          <p:cNvSpPr txBox="1"/>
          <p:nvPr/>
        </p:nvSpPr>
        <p:spPr>
          <a:xfrm>
            <a:off x="6858000" y="4754880"/>
            <a:ext cx="1188720" cy="548640"/>
          </a:xfrm>
          <a:prstGeom prst="rect">
            <a:avLst/>
          </a:prstGeom>
          <a:noFill/>
          <a:ln/>
        </p:spPr>
        <p:txBody>
          <a:bodyPr wrap="square" lIns="0" tIns="0" rIns="0" bIns="0" rtlCol="0" anchor="ctr"/>
          <a:lstStyle/>
          <a:p>
            <a:pPr indent="0" marL="0">
              <a:buNone/>
            </a:pPr>
            <a:r>
              <a:rPr lang="en-US" sz="2600" b="1" dirty="0">
                <a:solidFill>
                  <a:schemeClr val="accent2"/>
                </a:solidFill>
                <a:latin typeface="Arial" pitchFamily="34" charset="0"/>
                <a:ea typeface="Arial" pitchFamily="34" charset="-122"/>
                <a:cs typeface="Arial" pitchFamily="34" charset="-120"/>
              </a:rPr>
              <a:t>R²</a:t>
            </a:r>
            <a:endParaRPr lang="en-US" sz="2600" dirty="0"/>
          </a:p>
        </p:txBody>
      </p:sp>
      <p:sp>
        <p:nvSpPr>
          <p:cNvPr id="32" name="Text 30"/>
          <p:cNvSpPr txBox="1"/>
          <p:nvPr/>
        </p:nvSpPr>
        <p:spPr>
          <a:xfrm>
            <a:off x="8092440" y="4754880"/>
            <a:ext cx="3429000" cy="411480"/>
          </a:xfrm>
          <a:prstGeom prst="rect">
            <a:avLst/>
          </a:prstGeom>
          <a:noFill/>
          <a:ln/>
        </p:spPr>
        <p:txBody>
          <a:bodyPr wrap="square" lIns="0" tIns="0" rIns="0" bIns="0" rtlCol="0" anchor="ctr"/>
          <a:lstStyle/>
          <a:p>
            <a:pPr indent="0" marL="0">
              <a:buNone/>
            </a:pPr>
            <a:r>
              <a:rPr lang="en-US" sz="1600" b="1" dirty="0">
                <a:solidFill>
                  <a:schemeClr val="bg1"/>
                </a:solidFill>
              </a:rPr>
              <a:t>part de la variation des prix expliquée</a:t>
            </a:r>
            <a:endParaRPr lang="en-US" sz="1600" dirty="0"/>
          </a:p>
        </p:txBody>
      </p:sp>
      <p:sp>
        <p:nvSpPr>
          <p:cNvPr id="33" name="Text 31"/>
          <p:cNvSpPr txBox="1"/>
          <p:nvPr/>
        </p:nvSpPr>
        <p:spPr>
          <a:xfrm>
            <a:off x="8092440" y="5184648"/>
            <a:ext cx="3429000" cy="365760"/>
          </a:xfrm>
          <a:prstGeom prst="rect">
            <a:avLst/>
          </a:prstGeom>
          <a:noFill/>
          <a:ln/>
        </p:spPr>
        <p:txBody>
          <a:bodyPr wrap="square" lIns="0" tIns="0" rIns="0" bIns="0" rtlCol="0" anchor="t"/>
          <a:lstStyle/>
          <a:p>
            <a:pPr indent="0" marL="0">
              <a:buNone/>
            </a:pPr>
            <a:r>
              <a:rPr lang="en-US" sz="1300" dirty="0">
                <a:solidFill>
                  <a:schemeClr val="bg2"/>
                </a:solidFill>
              </a:rPr>
              <a:t>1 = parfait · 0 = prix moyen pour tout le monde</a:t>
            </a:r>
            <a:endParaRPr lang="en-US" sz="1300" dirty="0"/>
          </a:p>
        </p:txBody>
      </p:sp>
      <p:sp>
        <p:nvSpPr>
          <p:cNvPr id="34" name="Text 32"/>
          <p:cNvSpPr txBox="1"/>
          <p:nvPr/>
        </p:nvSpPr>
        <p:spPr>
          <a:xfrm>
            <a:off x="8092440" y="5532120"/>
            <a:ext cx="3429000" cy="320040"/>
          </a:xfrm>
          <a:prstGeom prst="rect">
            <a:avLst/>
          </a:prstGeom>
          <a:noFill/>
          <a:ln/>
        </p:spPr>
        <p:txBody>
          <a:bodyPr wrap="square" lIns="0" tIns="0" rIns="0" bIns="0" rtlCol="0" anchor="t"/>
          <a:lstStyle/>
          <a:p>
            <a:pPr indent="0" marL="0">
              <a:buNone/>
            </a:pPr>
            <a:r>
              <a:rPr lang="en-US" sz="1200" b="1" dirty="0">
                <a:solidFill>
                  <a:schemeClr val="accent3"/>
                </a:solidFill>
              </a:rPr>
              <a:t>proche de 1 = mieux</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11  ·  COMPARAISON</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Quel modèle est le meilleur ?</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2"/>
            </a:solidFill>
          </a:ln>
        </p:spPr>
        <p:txBody>
          <a:bodyPr wrap="square" lIns="0" tIns="0" rIns="0" bIns="0" rtlCol="0" anchor="ctr"/>
          <a:lstStyle/>
          <a:p>
            <a:pPr algn="ctr" indent="0" marL="0">
              <a:buNone/>
            </a:pPr>
            <a:r>
              <a:rPr lang="en-US" sz="1300" b="1" dirty="0">
                <a:solidFill>
                  <a:schemeClr val="accent2"/>
                </a:solidFill>
              </a:rPr>
              <a:t>Yannis</a:t>
            </a:r>
            <a:endParaRPr lang="en-US" sz="1300" dirty="0"/>
          </a:p>
        </p:txBody>
      </p:sp>
      <p:sp>
        <p:nvSpPr>
          <p:cNvPr id="5" name="cadre graphique"/>
          <p:cNvSpPr/>
          <p:nvPr/>
        </p:nvSpPr>
        <p:spPr>
          <a:xfrm>
            <a:off x="548640" y="1508760"/>
            <a:ext cx="6035040" cy="4617720"/>
          </a:xfrm>
          <a:prstGeom prst="roundRect">
            <a:avLst>
              <a:gd name="adj" fmla="val 1584"/>
            </a:avLst>
          </a:prstGeom>
          <a:solidFill>
            <a:schemeClr val="tx2"/>
          </a:solidFill>
          <a:ln w="12700">
            <a:solidFill>
              <a:schemeClr val="accent5"/>
            </a:solidFill>
            <a:prstDash val="solid"/>
          </a:ln>
        </p:spPr>
      </p:sp>
      <p:graphicFrame>
        <p:nvGraphicFramePr>
          <p:cNvPr id="6" name="Chart 0" descr=""/>
          <p:cNvGraphicFramePr/>
          <p:nvPr/>
        </p:nvGraphicFramePr>
        <p:xfrm>
          <a:off x="685800" y="1600200"/>
          <a:ext cx="5760720" cy="44348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903720" y="1508760"/>
            <a:ext cx="4754880"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SURAPPRENTISSAGE</a:t>
            </a:r>
            <a:endParaRPr lang="en-US" sz="1200" dirty="0"/>
          </a:p>
        </p:txBody>
      </p:sp>
      <p:graphicFrame>
        <p:nvGraphicFramePr>
          <p:cNvPr id="13" name="tableau surapprentissage"/>
          <p:cNvGraphicFramePr>
            <a:graphicFrameLocks noGrp="1"/>
          </p:cNvGraphicFramePr>
          <p:nvPr>
            <p:extLst>
              <p:ext uri="{D42A27DB-BD31-4B8C-83A1-F6EECF244321}">
                <p14:modId xmlns:p14="http://schemas.microsoft.com/office/powerpoint/2010/main" val="1579011935"/>
              </p:ext>
            </p:extLst>
          </p:nvPr>
        </p:nvGraphicFramePr>
        <p:xfrm>
          <a:off x="6903720" y="1920240"/>
          <a:ext cx="4736592" cy="914400"/>
        </p:xfrm>
        <a:graphic>
          <a:graphicData uri="http://schemas.openxmlformats.org/drawingml/2006/table">
            <a:tbl>
              <a:tblPr/>
              <a:tblGrid>
                <a:gridCol w="1920240"/>
                <a:gridCol w="1408176"/>
                <a:gridCol w="1408176"/>
              </a:tblGrid>
              <a:tr h="502920">
                <a:tc>
                  <a:txBody>
                    <a:bodyPr/>
                    <a:lstStyle/>
                    <a:p>
                      <a:pPr algn="l" indent="0" marL="0">
                        <a:buNone/>
                      </a:pPr>
                      <a:r>
                        <a:rPr lang="en-US" sz="1400" b="1" dirty="0">
                          <a:solidFill>
                            <a:schemeClr val="bg2"/>
                          </a:solidFill>
                        </a:rPr>
                        <a:t>Modèle</a:t>
                      </a:r>
                      <a:endParaRPr lang="en-US" sz="14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2"/>
                          </a:solidFill>
                        </a:rPr>
                        <a:t>R² maisons apprises</a:t>
                      </a:r>
                      <a:endParaRPr lang="en-US" sz="12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2"/>
                          </a:solidFill>
                        </a:rPr>
                        <a:t>R² validation croisée</a:t>
                      </a:r>
                      <a:endParaRPr lang="en-US" sz="12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r>
              <a:tr h="457200">
                <a:tc>
                  <a:txBody>
                    <a:bodyPr/>
                    <a:lstStyle/>
                    <a:p>
                      <a:pPr algn="l" indent="0" marL="0">
                        <a:buNone/>
                      </a:pPr>
                      <a:r>
                        <a:rPr lang="en-US" sz="1400" dirty="0">
                          <a:solidFill>
                            <a:schemeClr val="bg1"/>
                          </a:solidFill>
                        </a:rPr>
                        <a:t>Régression linéaire</a:t>
                      </a:r>
                      <a:endParaRPr lang="en-US" sz="14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1"/>
                          </a:solidFill>
                        </a:rPr>
                        <a:t>0,655</a:t>
                      </a:r>
                      <a:endParaRPr lang="en-US" sz="14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1"/>
                          </a:solidFill>
                        </a:rPr>
                        <a:t>0,652</a:t>
                      </a:r>
                      <a:endParaRPr lang="en-US" sz="14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r>
              <a:tr h="457200">
                <a:tc>
                  <a:txBody>
                    <a:bodyPr/>
                    <a:lstStyle/>
                    <a:p>
                      <a:pPr algn="l" indent="0" marL="0">
                        <a:buNone/>
                      </a:pPr>
                      <a:r>
                        <a:rPr lang="en-US" sz="1400" b="1" dirty="0">
                          <a:solidFill>
                            <a:schemeClr val="accent4"/>
                          </a:solidFill>
                        </a:rPr>
                        <a:t>Arbre de décision</a:t>
                      </a:r>
                      <a:endParaRPr lang="en-US" sz="14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accent4"/>
                          </a:solidFill>
                        </a:rPr>
                        <a:t>0,999</a:t>
                      </a:r>
                      <a:endParaRPr lang="en-US" sz="14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accent4"/>
                          </a:solidFill>
                        </a:rPr>
                        <a:t>0,740</a:t>
                      </a:r>
                      <a:endParaRPr lang="en-US" sz="14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r>
              <a:tr h="457200">
                <a:tc>
                  <a:txBody>
                    <a:bodyPr/>
                    <a:lstStyle/>
                    <a:p>
                      <a:pPr algn="l" indent="0" marL="0">
                        <a:buNone/>
                      </a:pPr>
                      <a:r>
                        <a:rPr lang="en-US" sz="1400" b="1" dirty="0">
                          <a:solidFill>
                            <a:schemeClr val="accent3"/>
                          </a:solidFill>
                        </a:rPr>
                        <a:t>Random Forest</a:t>
                      </a:r>
                      <a:endParaRPr lang="en-US" sz="14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1"/>
                          </a:solidFill>
                        </a:rPr>
                        <a:t>0,982</a:t>
                      </a:r>
                      <a:endParaRPr lang="en-US" sz="14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accent3"/>
                          </a:solidFill>
                        </a:rPr>
                        <a:t>0,855</a:t>
                      </a:r>
                      <a:endParaRPr lang="en-US" sz="1400" dirty="0"/>
                    </a:p>
                  </a:txBody>
                  <a:tcPr marL="91440" marR="91440" marT="45720" marB="45720" anchor="ctr">
                    <a:lnL w="12700" cap="flat" cmpd="sng" algn="ctr">
                      <a:solidFill>
                        <a:srgbClr val="2A3B55"/>
                      </a:solidFill>
                      <a:prstDash val="solid"/>
                      <a:round/>
                      <a:headEnd type="none" w="med" len="med"/>
                      <a:tailEnd type="none" w="med" len="med"/>
                    </a:lnL>
                    <a:lnR w="12700" cap="flat" cmpd="sng" algn="ctr">
                      <a:solidFill>
                        <a:srgbClr val="2A3B55"/>
                      </a:solidFill>
                      <a:prstDash val="solid"/>
                      <a:round/>
                      <a:headEnd type="none" w="med" len="med"/>
                      <a:tailEnd type="none" w="med" len="med"/>
                    </a:lnR>
                    <a:lnT w="12700" cap="flat" cmpd="sng" algn="ctr">
                      <a:solidFill>
                        <a:srgbClr val="2A3B55"/>
                      </a:solidFill>
                      <a:prstDash val="solid"/>
                      <a:round/>
                      <a:headEnd type="none" w="med" len="med"/>
                      <a:tailEnd type="none" w="med" len="med"/>
                    </a:lnT>
                    <a:lnB w="12700" cap="flat" cmpd="sng" algn="ctr">
                      <a:solidFill>
                        <a:srgbClr val="2A3B55"/>
                      </a:solidFill>
                      <a:prstDash val="solid"/>
                      <a:round/>
                      <a:headEnd type="none" w="med" len="med"/>
                      <a:tailEnd type="none" w="med" len="med"/>
                    </a:lnB>
                    <a:solidFill>
                      <a:schemeClr val="tx2"/>
                    </a:solidFill>
                  </a:tcPr>
                </a:tc>
              </a:tr>
            </a:tbl>
          </a:graphicData>
        </a:graphic>
      </p:graphicFrame>
      <p:sp>
        <p:nvSpPr>
          <p:cNvPr id="9" name="carte gagnant"/>
          <p:cNvSpPr/>
          <p:nvPr/>
        </p:nvSpPr>
        <p:spPr>
          <a:xfrm>
            <a:off x="6903720" y="4023360"/>
            <a:ext cx="4736592" cy="2103120"/>
          </a:xfrm>
          <a:prstGeom prst="roundRect">
            <a:avLst>
              <a:gd name="adj" fmla="val 3478"/>
            </a:avLst>
          </a:prstGeom>
          <a:solidFill>
            <a:schemeClr val="tx2"/>
          </a:solidFill>
          <a:ln w="12700">
            <a:solidFill>
              <a:schemeClr val="accent3"/>
            </a:solidFill>
            <a:prstDash val="solid"/>
          </a:ln>
        </p:spPr>
      </p:sp>
      <p:sp>
        <p:nvSpPr>
          <p:cNvPr id="10" name="gagnant cercle"/>
          <p:cNvSpPr/>
          <p:nvPr/>
        </p:nvSpPr>
        <p:spPr>
          <a:xfrm>
            <a:off x="7132320" y="4251960"/>
            <a:ext cx="731520" cy="731520"/>
          </a:xfrm>
          <a:prstGeom prst="ellipse">
            <a:avLst/>
          </a:prstGeom>
          <a:solidFill>
            <a:schemeClr val="accent6"/>
          </a:solidFill>
          <a:ln w="12700">
            <a:solidFill>
              <a:schemeClr val="accent5"/>
            </a:solidFill>
            <a:prstDash val="solid"/>
          </a:ln>
        </p:spPr>
      </p:sp>
      <p:pic>
        <p:nvPicPr>
          <p:cNvPr id="11" name="gagnant icône" descr="gagnant">    </p:cNvPr>
          <p:cNvPicPr>
            <a:picLocks noChangeAspect="1"/>
          </p:cNvPicPr>
          <p:nvPr/>
        </p:nvPicPr>
        <p:blipFill>
          <a:blip r:embed="rId2"/>
          <a:stretch>
            <a:fillRect/>
          </a:stretch>
        </p:blipFill>
        <p:spPr>
          <a:xfrm>
            <a:off x="7322515" y="4442155"/>
            <a:ext cx="351130" cy="351130"/>
          </a:xfrm>
          <a:prstGeom prst="rect">
            <a:avLst/>
          </a:prstGeom>
        </p:spPr>
      </p:pic>
      <p:sp>
        <p:nvSpPr>
          <p:cNvPr id="12" name="Text 7"/>
          <p:cNvSpPr txBox="1"/>
          <p:nvPr/>
        </p:nvSpPr>
        <p:spPr>
          <a:xfrm>
            <a:off x="8046720" y="4297680"/>
            <a:ext cx="3474720" cy="640080"/>
          </a:xfrm>
          <a:prstGeom prst="rect">
            <a:avLst/>
          </a:prstGeom>
          <a:noFill/>
          <a:ln/>
        </p:spPr>
        <p:txBody>
          <a:bodyPr wrap="square" lIns="0" tIns="0" rIns="0" bIns="0" rtlCol="0" anchor="ctr"/>
          <a:lstStyle/>
          <a:p>
            <a:pPr indent="0" marL="0">
              <a:buNone/>
            </a:pPr>
            <a:r>
              <a:rPr lang="en-US" sz="1900" b="1" dirty="0">
                <a:solidFill>
                  <a:schemeClr val="accent3"/>
                </a:solidFill>
              </a:rPr>
              <a:t>La Random Forest gagne</a:t>
            </a:r>
            <a:endParaRPr lang="en-US" sz="1900" dirty="0"/>
          </a:p>
        </p:txBody>
      </p:sp>
      <p:sp>
        <p:nvSpPr>
          <p:cNvPr id="13" name="Text 8"/>
          <p:cNvSpPr txBox="1"/>
          <p:nvPr/>
        </p:nvSpPr>
        <p:spPr>
          <a:xfrm>
            <a:off x="7132320" y="5120640"/>
            <a:ext cx="4343400" cy="914400"/>
          </a:xfrm>
          <a:prstGeom prst="rect">
            <a:avLst/>
          </a:prstGeom>
          <a:noFill/>
          <a:ln/>
        </p:spPr>
        <p:txBody>
          <a:bodyPr wrap="square" lIns="0" tIns="0" rIns="0" bIns="0" rtlCol="0" anchor="t"/>
          <a:lstStyle/>
          <a:p>
            <a:pPr indent="0" marL="0">
              <a:buNone/>
            </a:pPr>
            <a:r>
              <a:rPr lang="en-US" sz="1400" dirty="0">
                <a:solidFill>
                  <a:schemeClr val="bg1"/>
                </a:solidFill>
              </a:rPr>
              <a:t>Meilleure sur MAE, RMSE et R², et beaucoup moins de surapprentissage que l'arbre seul.</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12  ·  GRID SEARCH</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Régler la Random Forest</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3"/>
            </a:solidFill>
          </a:ln>
        </p:spPr>
        <p:txBody>
          <a:bodyPr wrap="square" lIns="0" tIns="0" rIns="0" bIns="0" rtlCol="0" anchor="ctr"/>
          <a:lstStyle/>
          <a:p>
            <a:pPr algn="ctr" indent="0" marL="0">
              <a:buNone/>
            </a:pPr>
            <a:r>
              <a:rPr lang="en-US" sz="1300" b="1" dirty="0">
                <a:solidFill>
                  <a:schemeClr val="accent3"/>
                </a:solidFill>
              </a:rPr>
              <a:t>Lisa</a:t>
            </a:r>
            <a:endParaRPr lang="en-US" sz="1300" dirty="0"/>
          </a:p>
        </p:txBody>
      </p:sp>
      <p:sp>
        <p:nvSpPr>
          <p:cNvPr id="5" name="Text 3"/>
          <p:cNvSpPr txBox="1"/>
          <p:nvPr/>
        </p:nvSpPr>
        <p:spPr>
          <a:xfrm>
            <a:off x="548640" y="1508760"/>
            <a:ext cx="557784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LA GRILLE  ·  2 × 3 × 2 = 12 COMBINAISONS</a:t>
            </a:r>
            <a:endParaRPr lang="en-US" sz="1200" dirty="0"/>
          </a:p>
        </p:txBody>
      </p:sp>
      <p:sp>
        <p:nvSpPr>
          <p:cNvPr id="6" name="paramètre n_estimators"/>
          <p:cNvSpPr/>
          <p:nvPr/>
        </p:nvSpPr>
        <p:spPr>
          <a:xfrm>
            <a:off x="548640" y="1920240"/>
            <a:ext cx="5577840" cy="731520"/>
          </a:xfrm>
          <a:prstGeom prst="roundRect">
            <a:avLst>
              <a:gd name="adj" fmla="val 10000"/>
            </a:avLst>
          </a:prstGeom>
          <a:solidFill>
            <a:schemeClr val="tx2"/>
          </a:solidFill>
          <a:ln w="12700">
            <a:solidFill>
              <a:schemeClr val="accent5"/>
            </a:solidFill>
            <a:prstDash val="solid"/>
          </a:ln>
        </p:spPr>
      </p:sp>
      <p:sp>
        <p:nvSpPr>
          <p:cNvPr id="7" name="Text 5"/>
          <p:cNvSpPr txBox="1"/>
          <p:nvPr/>
        </p:nvSpPr>
        <p:spPr>
          <a:xfrm>
            <a:off x="731520" y="1965960"/>
            <a:ext cx="2286000" cy="347472"/>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n_estimators</a:t>
            </a:r>
            <a:endParaRPr lang="en-US" sz="1300" dirty="0"/>
          </a:p>
        </p:txBody>
      </p:sp>
      <p:sp>
        <p:nvSpPr>
          <p:cNvPr id="8" name="Text 6"/>
          <p:cNvSpPr txBox="1"/>
          <p:nvPr/>
        </p:nvSpPr>
        <p:spPr>
          <a:xfrm>
            <a:off x="731520" y="2304288"/>
            <a:ext cx="2286000" cy="292608"/>
          </a:xfrm>
          <a:prstGeom prst="rect">
            <a:avLst/>
          </a:prstGeom>
          <a:noFill/>
          <a:ln/>
        </p:spPr>
        <p:txBody>
          <a:bodyPr wrap="square" lIns="0" tIns="0" rIns="0" bIns="0" rtlCol="0" anchor="t"/>
          <a:lstStyle/>
          <a:p>
            <a:pPr indent="0" marL="0">
              <a:buNone/>
            </a:pPr>
            <a:r>
              <a:rPr lang="en-US" sz="1200" dirty="0">
                <a:solidFill>
                  <a:schemeClr val="bg2"/>
                </a:solidFill>
              </a:rPr>
              <a:t>nombre d'arbres</a:t>
            </a:r>
            <a:endParaRPr lang="en-US" sz="1200" dirty="0"/>
          </a:p>
        </p:txBody>
      </p:sp>
      <p:sp>
        <p:nvSpPr>
          <p:cNvPr id="9" name="Text 7"/>
          <p:cNvSpPr txBox="1"/>
          <p:nvPr/>
        </p:nvSpPr>
        <p:spPr>
          <a:xfrm>
            <a:off x="3017520" y="1920240"/>
            <a:ext cx="1828800" cy="731520"/>
          </a:xfrm>
          <a:prstGeom prst="rect">
            <a:avLst/>
          </a:prstGeom>
          <a:noFill/>
          <a:ln/>
        </p:spPr>
        <p:txBody>
          <a:bodyPr wrap="square" lIns="0" tIns="0" rIns="0" bIns="0" rtlCol="0" anchor="ctr"/>
          <a:lstStyle/>
          <a:p>
            <a:pPr indent="0" marL="0">
              <a:buNone/>
            </a:pPr>
            <a:r>
              <a:rPr lang="en-US" sz="1400" dirty="0">
                <a:solidFill>
                  <a:schemeClr val="bg1"/>
                </a:solidFill>
              </a:rPr>
              <a:t>100 · 200</a:t>
            </a:r>
            <a:endParaRPr lang="en-US" sz="1400" dirty="0"/>
          </a:p>
        </p:txBody>
      </p:sp>
      <p:sp>
        <p:nvSpPr>
          <p:cNvPr id="10" name="meilleur n_estimators"/>
          <p:cNvSpPr/>
          <p:nvPr/>
        </p:nvSpPr>
        <p:spPr>
          <a:xfrm>
            <a:off x="5029200" y="2057400"/>
            <a:ext cx="914400" cy="457200"/>
          </a:xfrm>
          <a:prstGeom prst="roundRect">
            <a:avLst>
              <a:gd name="adj" fmla="val 14000"/>
            </a:avLst>
          </a:prstGeom>
          <a:solidFill>
            <a:schemeClr val="tx2"/>
          </a:solidFill>
          <a:ln w="12700">
            <a:solidFill>
              <a:schemeClr val="accent3"/>
            </a:solidFill>
            <a:prstDash val="solid"/>
          </a:ln>
        </p:spPr>
        <p:txBody>
          <a:bodyPr wrap="square" lIns="50800" tIns="50800" rIns="50800" bIns="50800" rtlCol="0" anchor="ctr"/>
          <a:lstStyle/>
          <a:p>
            <a:pPr algn="ctr" indent="0" marL="0">
              <a:buNone/>
            </a:pPr>
            <a:r>
              <a:rPr lang="en-US" sz="1600" b="1" dirty="0">
                <a:solidFill>
                  <a:schemeClr val="accent3"/>
                </a:solidFill>
              </a:rPr>
              <a:t>200</a:t>
            </a:r>
            <a:endParaRPr lang="en-US" sz="1600" dirty="0"/>
          </a:p>
        </p:txBody>
      </p:sp>
      <p:sp>
        <p:nvSpPr>
          <p:cNvPr id="11" name="paramètre max_depth"/>
          <p:cNvSpPr/>
          <p:nvPr/>
        </p:nvSpPr>
        <p:spPr>
          <a:xfrm>
            <a:off x="548640" y="2788920"/>
            <a:ext cx="5577840" cy="731520"/>
          </a:xfrm>
          <a:prstGeom prst="roundRect">
            <a:avLst>
              <a:gd name="adj" fmla="val 10000"/>
            </a:avLst>
          </a:prstGeom>
          <a:solidFill>
            <a:schemeClr val="tx2"/>
          </a:solidFill>
          <a:ln w="12700">
            <a:solidFill>
              <a:schemeClr val="accent5"/>
            </a:solidFill>
            <a:prstDash val="solid"/>
          </a:ln>
        </p:spPr>
      </p:sp>
      <p:sp>
        <p:nvSpPr>
          <p:cNvPr id="12" name="Text 10"/>
          <p:cNvSpPr txBox="1"/>
          <p:nvPr/>
        </p:nvSpPr>
        <p:spPr>
          <a:xfrm>
            <a:off x="731520" y="2834640"/>
            <a:ext cx="2286000" cy="347472"/>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max_depth</a:t>
            </a:r>
            <a:endParaRPr lang="en-US" sz="1300" dirty="0"/>
          </a:p>
        </p:txBody>
      </p:sp>
      <p:sp>
        <p:nvSpPr>
          <p:cNvPr id="13" name="Text 11"/>
          <p:cNvSpPr txBox="1"/>
          <p:nvPr/>
        </p:nvSpPr>
        <p:spPr>
          <a:xfrm>
            <a:off x="731520" y="3172968"/>
            <a:ext cx="2286000" cy="292608"/>
          </a:xfrm>
          <a:prstGeom prst="rect">
            <a:avLst/>
          </a:prstGeom>
          <a:noFill/>
          <a:ln/>
        </p:spPr>
        <p:txBody>
          <a:bodyPr wrap="square" lIns="0" tIns="0" rIns="0" bIns="0" rtlCol="0" anchor="t"/>
          <a:lstStyle/>
          <a:p>
            <a:pPr indent="0" marL="0">
              <a:buNone/>
            </a:pPr>
            <a:r>
              <a:rPr lang="en-US" sz="1200" dirty="0">
                <a:solidFill>
                  <a:schemeClr val="bg2"/>
                </a:solidFill>
              </a:rPr>
              <a:t>profondeur max</a:t>
            </a:r>
            <a:endParaRPr lang="en-US" sz="1200" dirty="0"/>
          </a:p>
        </p:txBody>
      </p:sp>
      <p:sp>
        <p:nvSpPr>
          <p:cNvPr id="14" name="Text 12"/>
          <p:cNvSpPr txBox="1"/>
          <p:nvPr/>
        </p:nvSpPr>
        <p:spPr>
          <a:xfrm>
            <a:off x="3017520" y="2788920"/>
            <a:ext cx="1828800" cy="731520"/>
          </a:xfrm>
          <a:prstGeom prst="rect">
            <a:avLst/>
          </a:prstGeom>
          <a:noFill/>
          <a:ln/>
        </p:spPr>
        <p:txBody>
          <a:bodyPr wrap="square" lIns="0" tIns="0" rIns="0" bIns="0" rtlCol="0" anchor="ctr"/>
          <a:lstStyle/>
          <a:p>
            <a:pPr indent="0" marL="0">
              <a:buNone/>
            </a:pPr>
            <a:r>
              <a:rPr lang="en-US" sz="1400" dirty="0">
                <a:solidFill>
                  <a:schemeClr val="bg1"/>
                </a:solidFill>
              </a:rPr>
              <a:t>10 · 15 · sans limite</a:t>
            </a:r>
            <a:endParaRPr lang="en-US" sz="1400" dirty="0"/>
          </a:p>
        </p:txBody>
      </p:sp>
      <p:sp>
        <p:nvSpPr>
          <p:cNvPr id="15" name="meilleur max_depth"/>
          <p:cNvSpPr/>
          <p:nvPr/>
        </p:nvSpPr>
        <p:spPr>
          <a:xfrm>
            <a:off x="5029200" y="2926080"/>
            <a:ext cx="914400" cy="457200"/>
          </a:xfrm>
          <a:prstGeom prst="roundRect">
            <a:avLst>
              <a:gd name="adj" fmla="val 14000"/>
            </a:avLst>
          </a:prstGeom>
          <a:solidFill>
            <a:schemeClr val="tx2"/>
          </a:solidFill>
          <a:ln w="12700">
            <a:solidFill>
              <a:schemeClr val="accent3"/>
            </a:solidFill>
            <a:prstDash val="solid"/>
          </a:ln>
        </p:spPr>
        <p:txBody>
          <a:bodyPr wrap="square" lIns="50800" tIns="50800" rIns="50800" bIns="50800" rtlCol="0" anchor="ctr"/>
          <a:lstStyle/>
          <a:p>
            <a:pPr algn="ctr" indent="0" marL="0">
              <a:buNone/>
            </a:pPr>
            <a:r>
              <a:rPr lang="en-US" sz="1600" b="1" dirty="0">
                <a:solidFill>
                  <a:schemeClr val="accent3"/>
                </a:solidFill>
              </a:rPr>
              <a:t>15</a:t>
            </a:r>
            <a:endParaRPr lang="en-US" sz="1600" dirty="0"/>
          </a:p>
        </p:txBody>
      </p:sp>
      <p:sp>
        <p:nvSpPr>
          <p:cNvPr id="16" name="paramètre min_samples_split"/>
          <p:cNvSpPr/>
          <p:nvPr/>
        </p:nvSpPr>
        <p:spPr>
          <a:xfrm>
            <a:off x="548640" y="3657600"/>
            <a:ext cx="5577840" cy="731520"/>
          </a:xfrm>
          <a:prstGeom prst="roundRect">
            <a:avLst>
              <a:gd name="adj" fmla="val 10000"/>
            </a:avLst>
          </a:prstGeom>
          <a:solidFill>
            <a:schemeClr val="tx2"/>
          </a:solidFill>
          <a:ln w="12700">
            <a:solidFill>
              <a:schemeClr val="accent5"/>
            </a:solidFill>
            <a:prstDash val="solid"/>
          </a:ln>
        </p:spPr>
      </p:sp>
      <p:sp>
        <p:nvSpPr>
          <p:cNvPr id="17" name="Text 15"/>
          <p:cNvSpPr txBox="1"/>
          <p:nvPr/>
        </p:nvSpPr>
        <p:spPr>
          <a:xfrm>
            <a:off x="731520" y="3703320"/>
            <a:ext cx="2286000" cy="347472"/>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min_samples_split</a:t>
            </a:r>
            <a:endParaRPr lang="en-US" sz="1300" dirty="0"/>
          </a:p>
        </p:txBody>
      </p:sp>
      <p:sp>
        <p:nvSpPr>
          <p:cNvPr id="18" name="Text 16"/>
          <p:cNvSpPr txBox="1"/>
          <p:nvPr/>
        </p:nvSpPr>
        <p:spPr>
          <a:xfrm>
            <a:off x="731520" y="4041648"/>
            <a:ext cx="2286000" cy="292608"/>
          </a:xfrm>
          <a:prstGeom prst="rect">
            <a:avLst/>
          </a:prstGeom>
          <a:noFill/>
          <a:ln/>
        </p:spPr>
        <p:txBody>
          <a:bodyPr wrap="square" lIns="0" tIns="0" rIns="0" bIns="0" rtlCol="0" anchor="t"/>
          <a:lstStyle/>
          <a:p>
            <a:pPr indent="0" marL="0">
              <a:buNone/>
            </a:pPr>
            <a:r>
              <a:rPr lang="en-US" sz="1200" dirty="0">
                <a:solidFill>
                  <a:schemeClr val="bg2"/>
                </a:solidFill>
              </a:rPr>
              <a:t>taille min. pour couper</a:t>
            </a:r>
            <a:endParaRPr lang="en-US" sz="1200" dirty="0"/>
          </a:p>
        </p:txBody>
      </p:sp>
      <p:sp>
        <p:nvSpPr>
          <p:cNvPr id="19" name="Text 17"/>
          <p:cNvSpPr txBox="1"/>
          <p:nvPr/>
        </p:nvSpPr>
        <p:spPr>
          <a:xfrm>
            <a:off x="3017520" y="3657600"/>
            <a:ext cx="1828800" cy="731520"/>
          </a:xfrm>
          <a:prstGeom prst="rect">
            <a:avLst/>
          </a:prstGeom>
          <a:noFill/>
          <a:ln/>
        </p:spPr>
        <p:txBody>
          <a:bodyPr wrap="square" lIns="0" tIns="0" rIns="0" bIns="0" rtlCol="0" anchor="ctr"/>
          <a:lstStyle/>
          <a:p>
            <a:pPr indent="0" marL="0">
              <a:buNone/>
            </a:pPr>
            <a:r>
              <a:rPr lang="en-US" sz="1400" dirty="0">
                <a:solidFill>
                  <a:schemeClr val="bg1"/>
                </a:solidFill>
              </a:rPr>
              <a:t>2 · 10</a:t>
            </a:r>
            <a:endParaRPr lang="en-US" sz="1400" dirty="0"/>
          </a:p>
        </p:txBody>
      </p:sp>
      <p:sp>
        <p:nvSpPr>
          <p:cNvPr id="20" name="meilleur min_samples_split"/>
          <p:cNvSpPr/>
          <p:nvPr/>
        </p:nvSpPr>
        <p:spPr>
          <a:xfrm>
            <a:off x="5029200" y="3794760"/>
            <a:ext cx="914400" cy="457200"/>
          </a:xfrm>
          <a:prstGeom prst="roundRect">
            <a:avLst>
              <a:gd name="adj" fmla="val 14000"/>
            </a:avLst>
          </a:prstGeom>
          <a:solidFill>
            <a:schemeClr val="tx2"/>
          </a:solidFill>
          <a:ln w="12700">
            <a:solidFill>
              <a:schemeClr val="accent3"/>
            </a:solidFill>
            <a:prstDash val="solid"/>
          </a:ln>
        </p:spPr>
        <p:txBody>
          <a:bodyPr wrap="square" lIns="50800" tIns="50800" rIns="50800" bIns="50800" rtlCol="0" anchor="ctr"/>
          <a:lstStyle/>
          <a:p>
            <a:pPr algn="ctr" indent="0" marL="0">
              <a:buNone/>
            </a:pPr>
            <a:r>
              <a:rPr lang="en-US" sz="1600" b="1" dirty="0">
                <a:solidFill>
                  <a:schemeClr val="accent3"/>
                </a:solidFill>
              </a:rPr>
              <a:t>2</a:t>
            </a:r>
            <a:endParaRPr lang="en-US" sz="1600" dirty="0"/>
          </a:p>
        </p:txBody>
      </p:sp>
      <p:sp>
        <p:nvSpPr>
          <p:cNvPr id="21" name="étape grid 1"/>
          <p:cNvSpPr/>
          <p:nvPr/>
        </p:nvSpPr>
        <p:spPr>
          <a:xfrm>
            <a:off x="548640" y="4617720"/>
            <a:ext cx="1280160" cy="868680"/>
          </a:xfrm>
          <a:prstGeom prst="roundRect">
            <a:avLst>
              <a:gd name="adj" fmla="val 7368"/>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200" dirty="0">
                <a:solidFill>
                  <a:schemeClr val="bg1"/>
                </a:solidFill>
              </a:rPr>
              <a:t>12 combinaisons</a:t>
            </a:r>
            <a:endParaRPr lang="en-US" sz="1200" dirty="0"/>
          </a:p>
        </p:txBody>
      </p:sp>
      <p:sp>
        <p:nvSpPr>
          <p:cNvPr id="22" name="flèche"/>
          <p:cNvSpPr/>
          <p:nvPr/>
        </p:nvSpPr>
        <p:spPr>
          <a:xfrm>
            <a:off x="1828800" y="5047488"/>
            <a:ext cx="155448" cy="0"/>
          </a:xfrm>
          <a:prstGeom prst="line">
            <a:avLst/>
          </a:prstGeom>
          <a:noFill/>
          <a:ln w="22225">
            <a:solidFill>
              <a:schemeClr val="accent1"/>
            </a:solidFill>
            <a:prstDash val="solid"/>
            <a:tailEnd type="triangle"/>
          </a:ln>
        </p:spPr>
      </p:sp>
      <p:sp>
        <p:nvSpPr>
          <p:cNvPr id="23" name="étape grid 2"/>
          <p:cNvSpPr/>
          <p:nvPr/>
        </p:nvSpPr>
        <p:spPr>
          <a:xfrm>
            <a:off x="1984248" y="4617720"/>
            <a:ext cx="1280160" cy="868680"/>
          </a:xfrm>
          <a:prstGeom prst="roundRect">
            <a:avLst>
              <a:gd name="adj" fmla="val 7368"/>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200" dirty="0">
                <a:solidFill>
                  <a:schemeClr val="bg1"/>
                </a:solidFill>
              </a:rPr>
              <a:t>× 3 tours de validation croisée</a:t>
            </a:r>
            <a:endParaRPr lang="en-US" sz="1200" dirty="0"/>
          </a:p>
        </p:txBody>
      </p:sp>
      <p:sp>
        <p:nvSpPr>
          <p:cNvPr id="24" name="flèche"/>
          <p:cNvSpPr/>
          <p:nvPr/>
        </p:nvSpPr>
        <p:spPr>
          <a:xfrm>
            <a:off x="3264408" y="5047488"/>
            <a:ext cx="155448" cy="0"/>
          </a:xfrm>
          <a:prstGeom prst="line">
            <a:avLst/>
          </a:prstGeom>
          <a:noFill/>
          <a:ln w="22225">
            <a:solidFill>
              <a:schemeClr val="accent1"/>
            </a:solidFill>
            <a:prstDash val="solid"/>
            <a:tailEnd type="triangle"/>
          </a:ln>
        </p:spPr>
      </p:sp>
      <p:sp>
        <p:nvSpPr>
          <p:cNvPr id="25" name="étape grid 3"/>
          <p:cNvSpPr/>
          <p:nvPr/>
        </p:nvSpPr>
        <p:spPr>
          <a:xfrm>
            <a:off x="3419856" y="4617720"/>
            <a:ext cx="1280160" cy="868680"/>
          </a:xfrm>
          <a:prstGeom prst="roundRect">
            <a:avLst>
              <a:gd name="adj" fmla="val 7368"/>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200" dirty="0">
                <a:solidFill>
                  <a:schemeClr val="bg1"/>
                </a:solidFill>
              </a:rPr>
              <a:t>= 36 entraînements</a:t>
            </a:r>
            <a:endParaRPr lang="en-US" sz="1200" dirty="0"/>
          </a:p>
        </p:txBody>
      </p:sp>
      <p:sp>
        <p:nvSpPr>
          <p:cNvPr id="26" name="flèche"/>
          <p:cNvSpPr/>
          <p:nvPr/>
        </p:nvSpPr>
        <p:spPr>
          <a:xfrm>
            <a:off x="4700016" y="5047488"/>
            <a:ext cx="155448" cy="0"/>
          </a:xfrm>
          <a:prstGeom prst="line">
            <a:avLst/>
          </a:prstGeom>
          <a:noFill/>
          <a:ln w="22225">
            <a:solidFill>
              <a:schemeClr val="accent1"/>
            </a:solidFill>
            <a:prstDash val="solid"/>
            <a:tailEnd type="triangle"/>
          </a:ln>
        </p:spPr>
      </p:sp>
      <p:sp>
        <p:nvSpPr>
          <p:cNvPr id="27" name="étape grid 4"/>
          <p:cNvSpPr/>
          <p:nvPr/>
        </p:nvSpPr>
        <p:spPr>
          <a:xfrm>
            <a:off x="4855464" y="4617720"/>
            <a:ext cx="1280160" cy="868680"/>
          </a:xfrm>
          <a:prstGeom prst="roundRect">
            <a:avLst>
              <a:gd name="adj" fmla="val 7368"/>
            </a:avLst>
          </a:prstGeom>
          <a:solidFill>
            <a:schemeClr val="tx2"/>
          </a:solidFill>
          <a:ln w="12700">
            <a:solidFill>
              <a:schemeClr val="accent3"/>
            </a:solidFill>
            <a:prstDash val="solid"/>
          </a:ln>
        </p:spPr>
        <p:txBody>
          <a:bodyPr wrap="square" lIns="50800" tIns="50800" rIns="50800" bIns="50800" rtlCol="0" anchor="ctr"/>
          <a:lstStyle/>
          <a:p>
            <a:pPr algn="ctr" indent="0" marL="0">
              <a:buNone/>
            </a:pPr>
            <a:r>
              <a:rPr lang="en-US" sz="1200" b="1" dirty="0">
                <a:solidFill>
                  <a:schemeClr val="accent3"/>
                </a:solidFill>
              </a:rPr>
              <a:t>meilleure combinaison</a:t>
            </a:r>
            <a:endParaRPr lang="en-US" sz="1200" dirty="0"/>
          </a:p>
        </p:txBody>
      </p:sp>
      <p:sp>
        <p:nvSpPr>
          <p:cNvPr id="28" name="Text 26"/>
          <p:cNvSpPr txBox="1"/>
          <p:nvPr/>
        </p:nvSpPr>
        <p:spPr>
          <a:xfrm>
            <a:off x="548640" y="5669280"/>
            <a:ext cx="5577840" cy="365760"/>
          </a:xfrm>
          <a:prstGeom prst="rect">
            <a:avLst/>
          </a:prstGeom>
          <a:noFill/>
          <a:ln/>
        </p:spPr>
        <p:txBody>
          <a:bodyPr wrap="square" lIns="0" tIns="0" rIns="0" bIns="0" rtlCol="0" anchor="t"/>
          <a:lstStyle/>
          <a:p>
            <a:pPr indent="0" marL="0">
              <a:buNone/>
            </a:pPr>
            <a:r>
              <a:rPr lang="en-US" sz="1300" i="1" dirty="0">
                <a:solidFill>
                  <a:schemeClr val="accent4"/>
                </a:solidFill>
              </a:rPr>
              <a:t>Tout se fait sur le train : le test n'est toujours pas utilisé.</a:t>
            </a:r>
            <a:endParaRPr lang="en-US" sz="1300" dirty="0"/>
          </a:p>
        </p:txBody>
      </p:sp>
      <p:sp>
        <p:nvSpPr>
          <p:cNvPr id="29" name="cadre graphique grid"/>
          <p:cNvSpPr/>
          <p:nvPr/>
        </p:nvSpPr>
        <p:spPr>
          <a:xfrm>
            <a:off x="6400800" y="1508760"/>
            <a:ext cx="5239512" cy="4617720"/>
          </a:xfrm>
          <a:prstGeom prst="roundRect">
            <a:avLst>
              <a:gd name="adj" fmla="val 1584"/>
            </a:avLst>
          </a:prstGeom>
          <a:solidFill>
            <a:schemeClr val="tx2"/>
          </a:solidFill>
          <a:ln w="12700">
            <a:solidFill>
              <a:schemeClr val="accent5"/>
            </a:solidFill>
            <a:prstDash val="solid"/>
          </a:ln>
        </p:spPr>
      </p:sp>
      <p:graphicFrame>
        <p:nvGraphicFramePr>
          <p:cNvPr id="30" name="Chart 0" descr=""/>
          <p:cNvGraphicFramePr/>
          <p:nvPr/>
        </p:nvGraphicFramePr>
        <p:xfrm>
          <a:off x="6492240" y="1600200"/>
          <a:ext cx="5056632" cy="3794760"/>
        </p:xfrm>
        <a:graphic xmlns:a="http://schemas.openxmlformats.org/drawingml/2006/main">
          <a:graphicData uri="http://schemas.openxmlformats.org/drawingml/2006/chart">
            <c:chart xmlns:c="http://schemas.openxmlformats.org/drawingml/2006/chart" r:id="rId1"/>
          </a:graphicData>
        </a:graphic>
      </p:graphicFrame>
      <p:sp>
        <p:nvSpPr>
          <p:cNvPr id="31" name="Text 28"/>
          <p:cNvSpPr txBox="1"/>
          <p:nvPr/>
        </p:nvSpPr>
        <p:spPr>
          <a:xfrm>
            <a:off x="6583680" y="5486400"/>
            <a:ext cx="4937760" cy="548640"/>
          </a:xfrm>
          <a:prstGeom prst="rect">
            <a:avLst/>
          </a:prstGeom>
          <a:noFill/>
          <a:ln/>
        </p:spPr>
        <p:txBody>
          <a:bodyPr wrap="square" lIns="0" tIns="0" rIns="0" bIns="0" rtlCol="0" anchor="ctr"/>
          <a:lstStyle/>
          <a:p>
            <a:pPr algn="ctr" indent="0" marL="0">
              <a:buNone/>
            </a:pPr>
            <a:r>
              <a:rPr lang="en-US" sz="1400" b="1" dirty="0">
                <a:solidFill>
                  <a:schemeClr val="accent3"/>
                </a:solidFill>
              </a:rPr>
              <a:t>Gain très petit : ≈ 500 $ de MAE en moins (R² 0,855 → 0,856)</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13  ·  RÉSULTAT FINAL</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Le test final, fait une seule fois</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3"/>
            </a:solidFill>
          </a:ln>
        </p:spPr>
        <p:txBody>
          <a:bodyPr wrap="square" lIns="0" tIns="0" rIns="0" bIns="0" rtlCol="0" anchor="ctr"/>
          <a:lstStyle/>
          <a:p>
            <a:pPr algn="ctr" indent="0" marL="0">
              <a:buNone/>
            </a:pPr>
            <a:r>
              <a:rPr lang="en-US" sz="1300" b="1" dirty="0">
                <a:solidFill>
                  <a:schemeClr val="accent3"/>
                </a:solidFill>
              </a:rPr>
              <a:t>Lisa</a:t>
            </a:r>
            <a:endParaRPr lang="en-US" sz="1300" dirty="0"/>
          </a:p>
        </p:txBody>
      </p:sp>
      <p:sp>
        <p:nvSpPr>
          <p:cNvPr id="5" name="carte chiffre"/>
          <p:cNvSpPr/>
          <p:nvPr/>
        </p:nvSpPr>
        <p:spPr>
          <a:xfrm>
            <a:off x="548640" y="1508760"/>
            <a:ext cx="3566160" cy="1600200"/>
          </a:xfrm>
          <a:prstGeom prst="roundRect">
            <a:avLst>
              <a:gd name="adj" fmla="val 4571"/>
            </a:avLst>
          </a:prstGeom>
          <a:solidFill>
            <a:schemeClr val="tx2"/>
          </a:solidFill>
          <a:ln w="12700">
            <a:solidFill>
              <a:schemeClr val="accent5"/>
            </a:solidFill>
            <a:prstDash val="solid"/>
          </a:ln>
        </p:spPr>
      </p:sp>
      <p:sp>
        <p:nvSpPr>
          <p:cNvPr id="6" name="Text 4"/>
          <p:cNvSpPr txBox="1"/>
          <p:nvPr/>
        </p:nvSpPr>
        <p:spPr>
          <a:xfrm>
            <a:off x="777240" y="1691640"/>
            <a:ext cx="3108960" cy="800100"/>
          </a:xfrm>
          <a:prstGeom prst="rect">
            <a:avLst/>
          </a:prstGeom>
          <a:noFill/>
          <a:ln/>
        </p:spPr>
        <p:txBody>
          <a:bodyPr wrap="square" lIns="0" tIns="0" rIns="0" bIns="0" rtlCol="0" anchor="ctr"/>
          <a:lstStyle/>
          <a:p>
            <a:pPr indent="0" marL="0">
              <a:buNone/>
            </a:pPr>
            <a:r>
              <a:rPr lang="en-US" sz="3400" b="1" dirty="0">
                <a:solidFill>
                  <a:schemeClr val="accent3"/>
                </a:solidFill>
                <a:latin typeface="Arial" pitchFamily="34" charset="0"/>
                <a:ea typeface="Arial" pitchFamily="34" charset="-122"/>
                <a:cs typeface="Arial" pitchFamily="34" charset="-120"/>
              </a:rPr>
              <a:t>0,877</a:t>
            </a:r>
            <a:endParaRPr lang="en-US" sz="3400" dirty="0"/>
          </a:p>
        </p:txBody>
      </p:sp>
      <p:sp>
        <p:nvSpPr>
          <p:cNvPr id="7" name="Text 5"/>
          <p:cNvSpPr txBox="1"/>
          <p:nvPr/>
        </p:nvSpPr>
        <p:spPr>
          <a:xfrm>
            <a:off x="777240" y="2491740"/>
            <a:ext cx="3108960" cy="525780"/>
          </a:xfrm>
          <a:prstGeom prst="rect">
            <a:avLst/>
          </a:prstGeom>
          <a:noFill/>
          <a:ln/>
        </p:spPr>
        <p:txBody>
          <a:bodyPr wrap="square" lIns="0" tIns="0" rIns="0" bIns="0" rtlCol="0" anchor="t"/>
          <a:lstStyle/>
          <a:p>
            <a:pPr indent="0" marL="0">
              <a:buNone/>
            </a:pPr>
            <a:r>
              <a:rPr lang="en-US" sz="1300" dirty="0">
                <a:solidFill>
                  <a:schemeClr val="bg2"/>
                </a:solidFill>
              </a:rPr>
              <a:t>R² : part de la variation des prix expliquée</a:t>
            </a:r>
            <a:endParaRPr lang="en-US" sz="1300" dirty="0"/>
          </a:p>
        </p:txBody>
      </p:sp>
      <p:sp>
        <p:nvSpPr>
          <p:cNvPr id="8" name="carte chiffre"/>
          <p:cNvSpPr/>
          <p:nvPr/>
        </p:nvSpPr>
        <p:spPr>
          <a:xfrm>
            <a:off x="4315968" y="1508760"/>
            <a:ext cx="3566160" cy="1600200"/>
          </a:xfrm>
          <a:prstGeom prst="roundRect">
            <a:avLst>
              <a:gd name="adj" fmla="val 4571"/>
            </a:avLst>
          </a:prstGeom>
          <a:solidFill>
            <a:schemeClr val="tx2"/>
          </a:solidFill>
          <a:ln w="12700">
            <a:solidFill>
              <a:schemeClr val="accent5"/>
            </a:solidFill>
            <a:prstDash val="solid"/>
          </a:ln>
        </p:spPr>
      </p:sp>
      <p:sp>
        <p:nvSpPr>
          <p:cNvPr id="9" name="Text 7"/>
          <p:cNvSpPr txBox="1"/>
          <p:nvPr/>
        </p:nvSpPr>
        <p:spPr>
          <a:xfrm>
            <a:off x="4544568" y="1691640"/>
            <a:ext cx="3108960" cy="800100"/>
          </a:xfrm>
          <a:prstGeom prst="rect">
            <a:avLst/>
          </a:prstGeom>
          <a:noFill/>
          <a:ln/>
        </p:spPr>
        <p:txBody>
          <a:bodyPr wrap="square" lIns="0" tIns="0" rIns="0" bIns="0" rtlCol="0" anchor="ctr"/>
          <a:lstStyle/>
          <a:p>
            <a:pPr indent="0" marL="0">
              <a:buNone/>
            </a:pPr>
            <a:r>
              <a:rPr lang="en-US" sz="3400" b="1" dirty="0">
                <a:solidFill>
                  <a:schemeClr val="accent2"/>
                </a:solidFill>
                <a:latin typeface="Arial" pitchFamily="34" charset="0"/>
                <a:ea typeface="Arial" pitchFamily="34" charset="-122"/>
                <a:cs typeface="Arial" pitchFamily="34" charset="-120"/>
              </a:rPr>
              <a:t>71 718 $</a:t>
            </a:r>
            <a:endParaRPr lang="en-US" sz="3400" dirty="0"/>
          </a:p>
        </p:txBody>
      </p:sp>
      <p:sp>
        <p:nvSpPr>
          <p:cNvPr id="10" name="Text 8"/>
          <p:cNvSpPr txBox="1"/>
          <p:nvPr/>
        </p:nvSpPr>
        <p:spPr>
          <a:xfrm>
            <a:off x="4544568" y="2491740"/>
            <a:ext cx="3108960" cy="525780"/>
          </a:xfrm>
          <a:prstGeom prst="rect">
            <a:avLst/>
          </a:prstGeom>
          <a:noFill/>
          <a:ln/>
        </p:spPr>
        <p:txBody>
          <a:bodyPr wrap="square" lIns="0" tIns="0" rIns="0" bIns="0" rtlCol="0" anchor="t"/>
          <a:lstStyle/>
          <a:p>
            <a:pPr indent="0" marL="0">
              <a:buNone/>
            </a:pPr>
            <a:r>
              <a:rPr lang="en-US" sz="1300" dirty="0">
                <a:solidFill>
                  <a:schemeClr val="bg2"/>
                </a:solidFill>
              </a:rPr>
              <a:t>MAE : erreur moyenne (≈ 16 % du prix médian)</a:t>
            </a:r>
            <a:endParaRPr lang="en-US" sz="1300" dirty="0"/>
          </a:p>
        </p:txBody>
      </p:sp>
      <p:sp>
        <p:nvSpPr>
          <p:cNvPr id="11" name="carte chiffre"/>
          <p:cNvSpPr/>
          <p:nvPr/>
        </p:nvSpPr>
        <p:spPr>
          <a:xfrm>
            <a:off x="8083296" y="1508760"/>
            <a:ext cx="3557016" cy="1600200"/>
          </a:xfrm>
          <a:prstGeom prst="roundRect">
            <a:avLst>
              <a:gd name="adj" fmla="val 4571"/>
            </a:avLst>
          </a:prstGeom>
          <a:solidFill>
            <a:schemeClr val="tx2"/>
          </a:solidFill>
          <a:ln w="12700">
            <a:solidFill>
              <a:schemeClr val="accent5"/>
            </a:solidFill>
            <a:prstDash val="solid"/>
          </a:ln>
        </p:spPr>
      </p:sp>
      <p:sp>
        <p:nvSpPr>
          <p:cNvPr id="12" name="Text 10"/>
          <p:cNvSpPr txBox="1"/>
          <p:nvPr/>
        </p:nvSpPr>
        <p:spPr>
          <a:xfrm>
            <a:off x="8311896" y="1691640"/>
            <a:ext cx="3099816" cy="800100"/>
          </a:xfrm>
          <a:prstGeom prst="rect">
            <a:avLst/>
          </a:prstGeom>
          <a:noFill/>
          <a:ln/>
        </p:spPr>
        <p:txBody>
          <a:bodyPr wrap="square" lIns="0" tIns="0" rIns="0" bIns="0" rtlCol="0" anchor="ctr"/>
          <a:lstStyle/>
          <a:p>
            <a:pPr indent="0" marL="0">
              <a:buNone/>
            </a:pPr>
            <a:r>
              <a:rPr lang="en-US" sz="3400" b="1" dirty="0">
                <a:solidFill>
                  <a:schemeClr val="accent2"/>
                </a:solidFill>
                <a:latin typeface="Arial" pitchFamily="34" charset="0"/>
                <a:ea typeface="Arial" pitchFamily="34" charset="-122"/>
                <a:cs typeface="Arial" pitchFamily="34" charset="-120"/>
              </a:rPr>
              <a:t>126 924 $</a:t>
            </a:r>
            <a:endParaRPr lang="en-US" sz="3400" dirty="0"/>
          </a:p>
        </p:txBody>
      </p:sp>
      <p:sp>
        <p:nvSpPr>
          <p:cNvPr id="13" name="Text 11"/>
          <p:cNvSpPr txBox="1"/>
          <p:nvPr/>
        </p:nvSpPr>
        <p:spPr>
          <a:xfrm>
            <a:off x="8311896" y="2491740"/>
            <a:ext cx="3099816" cy="525780"/>
          </a:xfrm>
          <a:prstGeom prst="rect">
            <a:avLst/>
          </a:prstGeom>
          <a:noFill/>
          <a:ln/>
        </p:spPr>
        <p:txBody>
          <a:bodyPr wrap="square" lIns="0" tIns="0" rIns="0" bIns="0" rtlCol="0" anchor="t"/>
          <a:lstStyle/>
          <a:p>
            <a:pPr indent="0" marL="0">
              <a:buNone/>
            </a:pPr>
            <a:r>
              <a:rPr lang="en-US" sz="1300" dirty="0">
                <a:solidFill>
                  <a:schemeClr val="bg2"/>
                </a:solidFill>
              </a:rPr>
              <a:t>RMSE : les grosses erreurs pèsent plus</a:t>
            </a:r>
            <a:endParaRPr lang="en-US" sz="1300" dirty="0"/>
          </a:p>
        </p:txBody>
      </p:sp>
      <p:sp>
        <p:nvSpPr>
          <p:cNvPr id="14" name="cadre importance"/>
          <p:cNvSpPr/>
          <p:nvPr/>
        </p:nvSpPr>
        <p:spPr>
          <a:xfrm>
            <a:off x="548640" y="3337560"/>
            <a:ext cx="5760720" cy="2788920"/>
          </a:xfrm>
          <a:prstGeom prst="roundRect">
            <a:avLst>
              <a:gd name="adj" fmla="val 2623"/>
            </a:avLst>
          </a:prstGeom>
          <a:solidFill>
            <a:schemeClr val="tx2"/>
          </a:solidFill>
          <a:ln w="12700">
            <a:solidFill>
              <a:schemeClr val="accent5"/>
            </a:solidFill>
            <a:prstDash val="solid"/>
          </a:ln>
        </p:spPr>
      </p:sp>
      <p:graphicFrame>
        <p:nvGraphicFramePr>
          <p:cNvPr id="15" name="Chart 0" descr=""/>
          <p:cNvGraphicFramePr/>
          <p:nvPr/>
        </p:nvGraphicFramePr>
        <p:xfrm>
          <a:off x="640080" y="3383280"/>
          <a:ext cx="5577840" cy="2697480"/>
        </p:xfrm>
        <a:graphic xmlns:a="http://schemas.openxmlformats.org/drawingml/2006/main">
          <a:graphicData uri="http://schemas.openxmlformats.org/drawingml/2006/chart">
            <c:chart xmlns:c="http://schemas.openxmlformats.org/drawingml/2006/chart" r:id="rId1"/>
          </a:graphicData>
        </a:graphic>
      </p:graphicFrame>
      <p:sp>
        <p:nvSpPr>
          <p:cNvPr id="16" name="carte attention R²"/>
          <p:cNvSpPr/>
          <p:nvPr/>
        </p:nvSpPr>
        <p:spPr>
          <a:xfrm>
            <a:off x="6537960" y="3337560"/>
            <a:ext cx="5102352" cy="1600200"/>
          </a:xfrm>
          <a:prstGeom prst="roundRect">
            <a:avLst>
              <a:gd name="adj" fmla="val 4571"/>
            </a:avLst>
          </a:prstGeom>
          <a:solidFill>
            <a:schemeClr val="tx2"/>
          </a:solidFill>
          <a:ln w="12700">
            <a:solidFill>
              <a:schemeClr val="accent4"/>
            </a:solidFill>
            <a:prstDash val="solid"/>
          </a:ln>
        </p:spPr>
      </p:sp>
      <p:sp>
        <p:nvSpPr>
          <p:cNvPr id="17" name="attention cercle"/>
          <p:cNvSpPr/>
          <p:nvPr/>
        </p:nvSpPr>
        <p:spPr>
          <a:xfrm>
            <a:off x="6720840" y="3520440"/>
            <a:ext cx="594360" cy="594360"/>
          </a:xfrm>
          <a:prstGeom prst="ellipse">
            <a:avLst/>
          </a:prstGeom>
          <a:solidFill>
            <a:schemeClr val="accent6"/>
          </a:solidFill>
          <a:ln w="12700">
            <a:solidFill>
              <a:schemeClr val="accent5"/>
            </a:solidFill>
            <a:prstDash val="solid"/>
          </a:ln>
        </p:spPr>
      </p:sp>
      <p:pic>
        <p:nvPicPr>
          <p:cNvPr id="18" name="attention icône" descr="attention">    </p:cNvPr>
          <p:cNvPicPr>
            <a:picLocks noChangeAspect="1"/>
          </p:cNvPicPr>
          <p:nvPr/>
        </p:nvPicPr>
        <p:blipFill>
          <a:blip r:embed="rId2"/>
          <a:stretch>
            <a:fillRect/>
          </a:stretch>
        </p:blipFill>
        <p:spPr>
          <a:xfrm>
            <a:off x="6875374" y="3674974"/>
            <a:ext cx="285293" cy="285293"/>
          </a:xfrm>
          <a:prstGeom prst="rect">
            <a:avLst/>
          </a:prstGeom>
        </p:spPr>
      </p:pic>
      <p:sp>
        <p:nvSpPr>
          <p:cNvPr id="19" name="Text 15"/>
          <p:cNvSpPr txBox="1"/>
          <p:nvPr/>
        </p:nvSpPr>
        <p:spPr>
          <a:xfrm>
            <a:off x="7452360" y="3474720"/>
            <a:ext cx="4069080" cy="1371600"/>
          </a:xfrm>
          <a:prstGeom prst="rect">
            <a:avLst/>
          </a:prstGeom>
          <a:noFill/>
          <a:ln/>
        </p:spPr>
        <p:txBody>
          <a:bodyPr wrap="square" lIns="0" tIns="0" rIns="0" bIns="0" rtlCol="0" anchor="ctr"/>
          <a:lstStyle/>
          <a:p>
            <a:pPr indent="0" marL="0">
              <a:spcAft>
                <a:spcPts val="600"/>
              </a:spcAft>
              <a:buNone/>
            </a:pPr>
            <a:r>
              <a:rPr lang="en-US" sz="1400" b="1" dirty="0">
                <a:solidFill>
                  <a:schemeClr val="accent3"/>
                </a:solidFill>
              </a:rPr>
              <a:t>Dire : </a:t>
            </a:r>
            <a:pPr indent="0" marL="0">
              <a:spcAft>
                <a:spcPts val="600"/>
              </a:spcAft>
              <a:buNone/>
            </a:pPr>
            <a:r>
              <a:rPr lang="en-US" sz="1400" dirty="0">
                <a:solidFill>
                  <a:schemeClr val="bg1"/>
                </a:solidFill>
              </a:rPr>
              <a:t>« le modèle explique 87,7 % de la variation des prix »</a:t>
            </a:r>
            <a:endParaRPr lang="en-US" sz="1400" dirty="0"/>
          </a:p>
          <a:p>
            <a:pPr indent="0" marL="0">
              <a:spcAft>
                <a:spcPts val="600"/>
              </a:spcAft>
              <a:buNone/>
            </a:pPr>
            <a:r>
              <a:rPr lang="en-US" sz="1400" b="1" dirty="0">
                <a:solidFill>
                  <a:schemeClr val="accent4"/>
                </a:solidFill>
              </a:rPr>
              <a:t>Ne pas dire : </a:t>
            </a:r>
            <a:pPr indent="0" marL="0">
              <a:spcAft>
                <a:spcPts val="600"/>
              </a:spcAft>
              <a:buNone/>
            </a:pPr>
            <a:r>
              <a:rPr lang="en-US" sz="1400" dirty="0">
                <a:solidFill>
                  <a:schemeClr val="bg1"/>
                </a:solidFill>
              </a:rPr>
              <a:t>« 87,7 % des prix sont justes »</a:t>
            </a:r>
            <a:endParaRPr lang="en-US" sz="1400" dirty="0"/>
          </a:p>
        </p:txBody>
      </p:sp>
      <p:sp>
        <p:nvSpPr>
          <p:cNvPr id="20" name="carte cohérence"/>
          <p:cNvSpPr/>
          <p:nvPr/>
        </p:nvSpPr>
        <p:spPr>
          <a:xfrm>
            <a:off x="6537960" y="5120640"/>
            <a:ext cx="5102352" cy="1005840"/>
          </a:xfrm>
          <a:prstGeom prst="roundRect">
            <a:avLst>
              <a:gd name="adj" fmla="val 7273"/>
            </a:avLst>
          </a:prstGeom>
          <a:solidFill>
            <a:schemeClr val="tx2"/>
          </a:solidFill>
          <a:ln w="12700">
            <a:solidFill>
              <a:schemeClr val="accent3"/>
            </a:solidFill>
            <a:prstDash val="solid"/>
          </a:ln>
        </p:spPr>
      </p:sp>
      <p:sp>
        <p:nvSpPr>
          <p:cNvPr id="21" name="Text 17"/>
          <p:cNvSpPr txBox="1"/>
          <p:nvPr/>
        </p:nvSpPr>
        <p:spPr>
          <a:xfrm>
            <a:off x="6766560" y="5120640"/>
            <a:ext cx="4754880" cy="1005840"/>
          </a:xfrm>
          <a:prstGeom prst="rect">
            <a:avLst/>
          </a:prstGeom>
          <a:noFill/>
          <a:ln/>
        </p:spPr>
        <p:txBody>
          <a:bodyPr wrap="square" lIns="0" tIns="0" rIns="0" bIns="0" rtlCol="0" anchor="ctr"/>
          <a:lstStyle/>
          <a:p>
            <a:pPr indent="0" marL="0">
              <a:buNone/>
            </a:pPr>
            <a:r>
              <a:rPr lang="en-US" sz="1600" b="1" dirty="0">
                <a:solidFill>
                  <a:schemeClr val="bg1"/>
                </a:solidFill>
              </a:rPr>
              <a:t>Validation croisée 0,856  ≈  test 0,877</a:t>
            </a:r>
            <a:endParaRPr lang="en-US" sz="1600" dirty="0"/>
          </a:p>
          <a:p>
            <a:pPr indent="0" marL="0">
              <a:buNone/>
            </a:pPr>
            <a:r>
              <a:rPr lang="en-US" sz="1300" dirty="0">
                <a:solidFill>
                  <a:schemeClr val="bg2"/>
                </a:solidFill>
              </a:rPr>
              <a:t>pas de mauvaise surprise sur des maisons nouvelles</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14  ·  APPLICATION</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Flask : du formulaire au prix</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3"/>
            </a:solidFill>
          </a:ln>
        </p:spPr>
        <p:txBody>
          <a:bodyPr wrap="square" lIns="0" tIns="0" rIns="0" bIns="0" rtlCol="0" anchor="ctr"/>
          <a:lstStyle/>
          <a:p>
            <a:pPr algn="ctr" indent="0" marL="0">
              <a:buNone/>
            </a:pPr>
            <a:r>
              <a:rPr lang="en-US" sz="1300" b="1" dirty="0">
                <a:solidFill>
                  <a:schemeClr val="accent3"/>
                </a:solidFill>
              </a:rPr>
              <a:t>Lisa</a:t>
            </a:r>
            <a:endParaRPr lang="en-US" sz="1300" dirty="0"/>
          </a:p>
        </p:txBody>
      </p:sp>
      <p:sp>
        <p:nvSpPr>
          <p:cNvPr id="5" name="cadre capture flask"/>
          <p:cNvSpPr/>
          <p:nvPr/>
        </p:nvSpPr>
        <p:spPr>
          <a:xfrm>
            <a:off x="548640" y="1463040"/>
            <a:ext cx="4617720" cy="4663440"/>
          </a:xfrm>
          <a:prstGeom prst="roundRect">
            <a:avLst>
              <a:gd name="adj" fmla="val 1584"/>
            </a:avLst>
          </a:prstGeom>
          <a:solidFill>
            <a:schemeClr val="tx2"/>
          </a:solidFill>
          <a:ln w="12700">
            <a:solidFill>
              <a:schemeClr val="accent5"/>
            </a:solidFill>
            <a:prstDash val="solid"/>
          </a:ln>
        </p:spPr>
      </p:sp>
      <p:pic>
        <p:nvPicPr>
          <p:cNvPr id="6" name="capture application" descr="Application Flask : prix estimé de 375 210 $">    </p:cNvPr>
          <p:cNvPicPr>
            <a:picLocks noChangeAspect="1"/>
          </p:cNvPicPr>
          <p:nvPr/>
        </p:nvPicPr>
        <p:blipFill>
          <a:blip r:embed="rId1"/>
          <a:stretch>
            <a:fillRect/>
          </a:stretch>
        </p:blipFill>
        <p:spPr>
          <a:xfrm>
            <a:off x="762074" y="1572768"/>
            <a:ext cx="4190852" cy="4434840"/>
          </a:xfrm>
          <a:prstGeom prst="rect">
            <a:avLst/>
          </a:prstGeom>
        </p:spPr>
      </p:pic>
      <p:sp>
        <p:nvSpPr>
          <p:cNvPr id="7" name="étape flask 1"/>
          <p:cNvSpPr/>
          <p:nvPr/>
        </p:nvSpPr>
        <p:spPr>
          <a:xfrm>
            <a:off x="5486400" y="1463040"/>
            <a:ext cx="6153912" cy="658368"/>
          </a:xfrm>
          <a:prstGeom prst="roundRect">
            <a:avLst>
              <a:gd name="adj" fmla="val 11111"/>
            </a:avLst>
          </a:prstGeom>
          <a:solidFill>
            <a:schemeClr val="tx2"/>
          </a:solidFill>
          <a:ln w="12700">
            <a:solidFill>
              <a:schemeClr val="accent5"/>
            </a:solidFill>
            <a:prstDash val="solid"/>
          </a:ln>
        </p:spPr>
      </p:sp>
      <p:sp>
        <p:nvSpPr>
          <p:cNvPr id="8" name="Text 5"/>
          <p:cNvSpPr txBox="1"/>
          <p:nvPr/>
        </p:nvSpPr>
        <p:spPr>
          <a:xfrm>
            <a:off x="6172200" y="1499616"/>
            <a:ext cx="2377440" cy="585216"/>
          </a:xfrm>
          <a:prstGeom prst="rect">
            <a:avLst/>
          </a:prstGeom>
          <a:noFill/>
          <a:ln/>
        </p:spPr>
        <p:txBody>
          <a:bodyPr wrap="square" lIns="0" tIns="0" rIns="0" bIns="0" rtlCol="0" anchor="ctr"/>
          <a:lstStyle/>
          <a:p>
            <a:pPr indent="0" marL="0">
              <a:buNone/>
            </a:pPr>
            <a:r>
              <a:rPr lang="en-US" sz="1500" b="1" dirty="0">
                <a:solidFill>
                  <a:schemeClr val="bg1"/>
                </a:solidFill>
              </a:rPr>
              <a:t>Utilisateur</a:t>
            </a:r>
            <a:endParaRPr lang="en-US" sz="1500" dirty="0"/>
          </a:p>
        </p:txBody>
      </p:sp>
      <p:sp>
        <p:nvSpPr>
          <p:cNvPr id="9" name="Text 6"/>
          <p:cNvSpPr txBox="1"/>
          <p:nvPr/>
        </p:nvSpPr>
        <p:spPr>
          <a:xfrm>
            <a:off x="8549640" y="1499616"/>
            <a:ext cx="3017520" cy="585216"/>
          </a:xfrm>
          <a:prstGeom prst="rect">
            <a:avLst/>
          </a:prstGeom>
          <a:noFill/>
          <a:ln/>
        </p:spPr>
        <p:txBody>
          <a:bodyPr wrap="square" lIns="0" tIns="0" rIns="0" bIns="0" rtlCol="0" anchor="ctr"/>
          <a:lstStyle/>
          <a:p>
            <a:pPr indent="0" marL="0">
              <a:buNone/>
            </a:pPr>
            <a:r>
              <a:rPr lang="en-US" sz="1200" dirty="0">
                <a:solidFill>
                  <a:schemeClr val="bg2"/>
                </a:solidFill>
              </a:rPr>
              <a:t>remplit les 8 champs et clique sur « Estimer »</a:t>
            </a:r>
            <a:endParaRPr lang="en-US" sz="1200" dirty="0"/>
          </a:p>
        </p:txBody>
      </p:sp>
      <p:sp>
        <p:nvSpPr>
          <p:cNvPr id="10" name="flèche"/>
          <p:cNvSpPr/>
          <p:nvPr/>
        </p:nvSpPr>
        <p:spPr>
          <a:xfrm>
            <a:off x="5833872" y="2121408"/>
            <a:ext cx="0" cy="128016"/>
          </a:xfrm>
          <a:prstGeom prst="line">
            <a:avLst/>
          </a:prstGeom>
          <a:noFill/>
          <a:ln w="15875">
            <a:solidFill>
              <a:schemeClr val="bg2"/>
            </a:solidFill>
            <a:prstDash val="solid"/>
            <a:tailEnd type="triangle"/>
          </a:ln>
        </p:spPr>
      </p:sp>
      <p:sp>
        <p:nvSpPr>
          <p:cNvPr id="11" name="étape flask 2"/>
          <p:cNvSpPr/>
          <p:nvPr/>
        </p:nvSpPr>
        <p:spPr>
          <a:xfrm>
            <a:off x="5486400" y="2249424"/>
            <a:ext cx="6153912" cy="658368"/>
          </a:xfrm>
          <a:prstGeom prst="roundRect">
            <a:avLst>
              <a:gd name="adj" fmla="val 11111"/>
            </a:avLst>
          </a:prstGeom>
          <a:solidFill>
            <a:schemeClr val="tx2"/>
          </a:solidFill>
          <a:ln w="12700">
            <a:solidFill>
              <a:schemeClr val="accent5"/>
            </a:solidFill>
            <a:prstDash val="solid"/>
          </a:ln>
        </p:spPr>
      </p:sp>
      <p:sp>
        <p:nvSpPr>
          <p:cNvPr id="12" name="Text 9"/>
          <p:cNvSpPr txBox="1"/>
          <p:nvPr/>
        </p:nvSpPr>
        <p:spPr>
          <a:xfrm>
            <a:off x="6172200" y="2286000"/>
            <a:ext cx="2377440" cy="585216"/>
          </a:xfrm>
          <a:prstGeom prst="rect">
            <a:avLst/>
          </a:prstGeom>
          <a:noFill/>
          <a:ln/>
        </p:spPr>
        <p:txBody>
          <a:bodyPr wrap="square" lIns="0" tIns="0" rIns="0" bIns="0" rtlCol="0" anchor="ctr"/>
          <a:lstStyle/>
          <a:p>
            <a:pPr indent="0" marL="0">
              <a:buNone/>
            </a:pPr>
            <a:r>
              <a:rPr lang="en-US" sz="1500" b="1" dirty="0">
                <a:solidFill>
                  <a:schemeClr val="accent2"/>
                </a:solidFill>
              </a:rPr>
              <a:t>Formulaire HTML</a:t>
            </a:r>
            <a:endParaRPr lang="en-US" sz="1500" dirty="0"/>
          </a:p>
        </p:txBody>
      </p:sp>
      <p:sp>
        <p:nvSpPr>
          <p:cNvPr id="13" name="Text 10"/>
          <p:cNvSpPr txBox="1"/>
          <p:nvPr/>
        </p:nvSpPr>
        <p:spPr>
          <a:xfrm>
            <a:off x="8549640" y="2286000"/>
            <a:ext cx="3017520" cy="585216"/>
          </a:xfrm>
          <a:prstGeom prst="rect">
            <a:avLst/>
          </a:prstGeom>
          <a:noFill/>
          <a:ln/>
        </p:spPr>
        <p:txBody>
          <a:bodyPr wrap="square" lIns="0" tIns="0" rIns="0" bIns="0" rtlCol="0" anchor="ctr"/>
          <a:lstStyle/>
          <a:p>
            <a:pPr indent="0" marL="0">
              <a:buNone/>
            </a:pPr>
            <a:r>
              <a:rPr lang="en-US" sz="1200" dirty="0">
                <a:solidFill>
                  <a:schemeClr val="bg2"/>
                </a:solidFill>
              </a:rPr>
              <a:t>templates/index.html envoie les valeurs (POST)</a:t>
            </a:r>
            <a:endParaRPr lang="en-US" sz="1200" dirty="0"/>
          </a:p>
        </p:txBody>
      </p:sp>
      <p:sp>
        <p:nvSpPr>
          <p:cNvPr id="14" name="flèche"/>
          <p:cNvSpPr/>
          <p:nvPr/>
        </p:nvSpPr>
        <p:spPr>
          <a:xfrm>
            <a:off x="5833872" y="2907792"/>
            <a:ext cx="0" cy="128016"/>
          </a:xfrm>
          <a:prstGeom prst="line">
            <a:avLst/>
          </a:prstGeom>
          <a:noFill/>
          <a:ln w="15875">
            <a:solidFill>
              <a:schemeClr val="bg2"/>
            </a:solidFill>
            <a:prstDash val="solid"/>
            <a:tailEnd type="triangle"/>
          </a:ln>
        </p:spPr>
      </p:sp>
      <p:sp>
        <p:nvSpPr>
          <p:cNvPr id="15" name="étape flask 3"/>
          <p:cNvSpPr/>
          <p:nvPr/>
        </p:nvSpPr>
        <p:spPr>
          <a:xfrm>
            <a:off x="5486400" y="3035808"/>
            <a:ext cx="6153912" cy="658368"/>
          </a:xfrm>
          <a:prstGeom prst="roundRect">
            <a:avLst>
              <a:gd name="adj" fmla="val 11111"/>
            </a:avLst>
          </a:prstGeom>
          <a:solidFill>
            <a:schemeClr val="tx2"/>
          </a:solidFill>
          <a:ln w="12700">
            <a:solidFill>
              <a:schemeClr val="accent5"/>
            </a:solidFill>
            <a:prstDash val="solid"/>
          </a:ln>
        </p:spPr>
      </p:sp>
      <p:sp>
        <p:nvSpPr>
          <p:cNvPr id="16" name="Text 13"/>
          <p:cNvSpPr txBox="1"/>
          <p:nvPr/>
        </p:nvSpPr>
        <p:spPr>
          <a:xfrm>
            <a:off x="6172200" y="3072384"/>
            <a:ext cx="2377440" cy="585216"/>
          </a:xfrm>
          <a:prstGeom prst="rect">
            <a:avLst/>
          </a:prstGeom>
          <a:noFill/>
          <a:ln/>
        </p:spPr>
        <p:txBody>
          <a:bodyPr wrap="square" lIns="0" tIns="0" rIns="0" bIns="0" rtlCol="0" anchor="ctr"/>
          <a:lstStyle/>
          <a:p>
            <a:pPr indent="0" marL="0">
              <a:buNone/>
            </a:pPr>
            <a:r>
              <a:rPr lang="en-US" sz="1500" b="1" dirty="0">
                <a:solidFill>
                  <a:schemeClr val="accent2"/>
                </a:solidFill>
              </a:rPr>
              <a:t>app.py · Flask</a:t>
            </a:r>
            <a:endParaRPr lang="en-US" sz="1500" dirty="0"/>
          </a:p>
        </p:txBody>
      </p:sp>
      <p:sp>
        <p:nvSpPr>
          <p:cNvPr id="17" name="Text 14"/>
          <p:cNvSpPr txBox="1"/>
          <p:nvPr/>
        </p:nvSpPr>
        <p:spPr>
          <a:xfrm>
            <a:off x="8549640" y="3072384"/>
            <a:ext cx="3017520" cy="585216"/>
          </a:xfrm>
          <a:prstGeom prst="rect">
            <a:avLst/>
          </a:prstGeom>
          <a:noFill/>
          <a:ln/>
        </p:spPr>
        <p:txBody>
          <a:bodyPr wrap="square" lIns="0" tIns="0" rIns="0" bIns="0" rtlCol="0" anchor="ctr"/>
          <a:lstStyle/>
          <a:p>
            <a:pPr indent="0" marL="0">
              <a:buNone/>
            </a:pPr>
            <a:r>
              <a:rPr lang="en-US" sz="1200" dirty="0">
                <a:solidFill>
                  <a:schemeClr val="bg2"/>
                </a:solidFill>
              </a:rPr>
              <a:t>récupère les 8 valeurs avec request.form</a:t>
            </a:r>
            <a:endParaRPr lang="en-US" sz="1200" dirty="0"/>
          </a:p>
        </p:txBody>
      </p:sp>
      <p:sp>
        <p:nvSpPr>
          <p:cNvPr id="18" name="flèche"/>
          <p:cNvSpPr/>
          <p:nvPr/>
        </p:nvSpPr>
        <p:spPr>
          <a:xfrm>
            <a:off x="5833872" y="3694176"/>
            <a:ext cx="0" cy="128016"/>
          </a:xfrm>
          <a:prstGeom prst="line">
            <a:avLst/>
          </a:prstGeom>
          <a:noFill/>
          <a:ln w="15875">
            <a:solidFill>
              <a:schemeClr val="bg2"/>
            </a:solidFill>
            <a:prstDash val="solid"/>
            <a:tailEnd type="triangle"/>
          </a:ln>
        </p:spPr>
      </p:sp>
      <p:sp>
        <p:nvSpPr>
          <p:cNvPr id="19" name="étape flask 4"/>
          <p:cNvSpPr/>
          <p:nvPr/>
        </p:nvSpPr>
        <p:spPr>
          <a:xfrm>
            <a:off x="5486400" y="3822192"/>
            <a:ext cx="6153912" cy="658368"/>
          </a:xfrm>
          <a:prstGeom prst="roundRect">
            <a:avLst>
              <a:gd name="adj" fmla="val 11111"/>
            </a:avLst>
          </a:prstGeom>
          <a:solidFill>
            <a:schemeClr val="tx2"/>
          </a:solidFill>
          <a:ln w="12700">
            <a:solidFill>
              <a:schemeClr val="accent5"/>
            </a:solidFill>
            <a:prstDash val="solid"/>
          </a:ln>
        </p:spPr>
      </p:sp>
      <p:sp>
        <p:nvSpPr>
          <p:cNvPr id="20" name="Text 17"/>
          <p:cNvSpPr txBox="1"/>
          <p:nvPr/>
        </p:nvSpPr>
        <p:spPr>
          <a:xfrm>
            <a:off x="6172200" y="3858768"/>
            <a:ext cx="2377440" cy="585216"/>
          </a:xfrm>
          <a:prstGeom prst="rect">
            <a:avLst/>
          </a:prstGeom>
          <a:noFill/>
          <a:ln/>
        </p:spPr>
        <p:txBody>
          <a:bodyPr wrap="square" lIns="0" tIns="0" rIns="0" bIns="0" rtlCol="0" anchor="ctr"/>
          <a:lstStyle/>
          <a:p>
            <a:pPr indent="0" marL="0">
              <a:buNone/>
            </a:pPr>
            <a:r>
              <a:rPr lang="en-US" sz="1500" b="1" dirty="0">
                <a:solidFill>
                  <a:schemeClr val="accent1"/>
                </a:solidFill>
              </a:rPr>
              <a:t>DataFrame pandas</a:t>
            </a:r>
            <a:endParaRPr lang="en-US" sz="1500" dirty="0"/>
          </a:p>
        </p:txBody>
      </p:sp>
      <p:sp>
        <p:nvSpPr>
          <p:cNvPr id="21" name="Text 18"/>
          <p:cNvSpPr txBox="1"/>
          <p:nvPr/>
        </p:nvSpPr>
        <p:spPr>
          <a:xfrm>
            <a:off x="8549640" y="3858768"/>
            <a:ext cx="3017520" cy="585216"/>
          </a:xfrm>
          <a:prstGeom prst="rect">
            <a:avLst/>
          </a:prstGeom>
          <a:noFill/>
          <a:ln/>
        </p:spPr>
        <p:txBody>
          <a:bodyPr wrap="square" lIns="0" tIns="0" rIns="0" bIns="0" rtlCol="0" anchor="ctr"/>
          <a:lstStyle/>
          <a:p>
            <a:pPr indent="0" marL="0">
              <a:buNone/>
            </a:pPr>
            <a:r>
              <a:rPr lang="en-US" sz="1200" dirty="0">
                <a:solidFill>
                  <a:schemeClr val="bg2"/>
                </a:solidFill>
              </a:rPr>
              <a:t>1 ligne, 8 colonnes, même ordre qu'à l'entraînement</a:t>
            </a:r>
            <a:endParaRPr lang="en-US" sz="1200" dirty="0"/>
          </a:p>
        </p:txBody>
      </p:sp>
      <p:sp>
        <p:nvSpPr>
          <p:cNvPr id="22" name="flèche"/>
          <p:cNvSpPr/>
          <p:nvPr/>
        </p:nvSpPr>
        <p:spPr>
          <a:xfrm>
            <a:off x="5833872" y="4480560"/>
            <a:ext cx="0" cy="128016"/>
          </a:xfrm>
          <a:prstGeom prst="line">
            <a:avLst/>
          </a:prstGeom>
          <a:noFill/>
          <a:ln w="15875">
            <a:solidFill>
              <a:schemeClr val="bg2"/>
            </a:solidFill>
            <a:prstDash val="solid"/>
            <a:tailEnd type="triangle"/>
          </a:ln>
        </p:spPr>
      </p:sp>
      <p:sp>
        <p:nvSpPr>
          <p:cNvPr id="23" name="étape flask 5"/>
          <p:cNvSpPr/>
          <p:nvPr/>
        </p:nvSpPr>
        <p:spPr>
          <a:xfrm>
            <a:off x="5486400" y="4608576"/>
            <a:ext cx="6153912" cy="658368"/>
          </a:xfrm>
          <a:prstGeom prst="roundRect">
            <a:avLst>
              <a:gd name="adj" fmla="val 11111"/>
            </a:avLst>
          </a:prstGeom>
          <a:solidFill>
            <a:schemeClr val="tx2"/>
          </a:solidFill>
          <a:ln w="12700">
            <a:solidFill>
              <a:schemeClr val="accent3"/>
            </a:solidFill>
            <a:prstDash val="solid"/>
          </a:ln>
        </p:spPr>
      </p:sp>
      <p:sp>
        <p:nvSpPr>
          <p:cNvPr id="24" name="Text 21"/>
          <p:cNvSpPr txBox="1"/>
          <p:nvPr/>
        </p:nvSpPr>
        <p:spPr>
          <a:xfrm>
            <a:off x="6172200" y="4645152"/>
            <a:ext cx="2377440" cy="585216"/>
          </a:xfrm>
          <a:prstGeom prst="rect">
            <a:avLst/>
          </a:prstGeom>
          <a:noFill/>
          <a:ln/>
        </p:spPr>
        <p:txBody>
          <a:bodyPr wrap="square" lIns="0" tIns="0" rIns="0" bIns="0" rtlCol="0" anchor="ctr"/>
          <a:lstStyle/>
          <a:p>
            <a:pPr indent="0" marL="0">
              <a:buNone/>
            </a:pPr>
            <a:r>
              <a:rPr lang="en-US" sz="1500" b="1" dirty="0">
                <a:solidFill>
                  <a:schemeClr val="accent3"/>
                </a:solidFill>
                <a:latin typeface="Courier New" pitchFamily="34" charset="0"/>
                <a:ea typeface="Courier New" pitchFamily="34" charset="-122"/>
                <a:cs typeface="Courier New" pitchFamily="34" charset="-120"/>
              </a:rPr>
              <a:t>model.pkl</a:t>
            </a:r>
            <a:endParaRPr lang="en-US" sz="1500" dirty="0"/>
          </a:p>
        </p:txBody>
      </p:sp>
      <p:sp>
        <p:nvSpPr>
          <p:cNvPr id="25" name="Text 22"/>
          <p:cNvSpPr txBox="1"/>
          <p:nvPr/>
        </p:nvSpPr>
        <p:spPr>
          <a:xfrm>
            <a:off x="8549640" y="4645152"/>
            <a:ext cx="3017520" cy="585216"/>
          </a:xfrm>
          <a:prstGeom prst="rect">
            <a:avLst/>
          </a:prstGeom>
          <a:noFill/>
          <a:ln/>
        </p:spPr>
        <p:txBody>
          <a:bodyPr wrap="square" lIns="0" tIns="0" rIns="0" bIns="0" rtlCol="0" anchor="ctr"/>
          <a:lstStyle/>
          <a:p>
            <a:pPr indent="0" marL="0">
              <a:buNone/>
            </a:pPr>
            <a:r>
              <a:rPr lang="en-US" sz="1200" dirty="0">
                <a:solidFill>
                  <a:schemeClr val="bg2"/>
                </a:solidFill>
              </a:rPr>
              <a:t>predict() · Random Forest chargée une fois au démarrage</a:t>
            </a:r>
            <a:endParaRPr lang="en-US" sz="1200" dirty="0"/>
          </a:p>
        </p:txBody>
      </p:sp>
      <p:sp>
        <p:nvSpPr>
          <p:cNvPr id="26" name="flèche"/>
          <p:cNvSpPr/>
          <p:nvPr/>
        </p:nvSpPr>
        <p:spPr>
          <a:xfrm>
            <a:off x="5833872" y="5266944"/>
            <a:ext cx="0" cy="128016"/>
          </a:xfrm>
          <a:prstGeom prst="line">
            <a:avLst/>
          </a:prstGeom>
          <a:noFill/>
          <a:ln w="15875">
            <a:solidFill>
              <a:schemeClr val="bg2"/>
            </a:solidFill>
            <a:prstDash val="solid"/>
            <a:tailEnd type="triangle"/>
          </a:ln>
        </p:spPr>
      </p:sp>
      <p:sp>
        <p:nvSpPr>
          <p:cNvPr id="27" name="étape flask 6"/>
          <p:cNvSpPr/>
          <p:nvPr/>
        </p:nvSpPr>
        <p:spPr>
          <a:xfrm>
            <a:off x="5486400" y="5394960"/>
            <a:ext cx="6153912" cy="658368"/>
          </a:xfrm>
          <a:prstGeom prst="roundRect">
            <a:avLst>
              <a:gd name="adj" fmla="val 11111"/>
            </a:avLst>
          </a:prstGeom>
          <a:solidFill>
            <a:schemeClr val="tx2"/>
          </a:solidFill>
          <a:ln w="12700">
            <a:solidFill>
              <a:schemeClr val="accent3"/>
            </a:solidFill>
            <a:prstDash val="solid"/>
          </a:ln>
        </p:spPr>
      </p:sp>
      <p:sp>
        <p:nvSpPr>
          <p:cNvPr id="28" name="Text 25"/>
          <p:cNvSpPr txBox="1"/>
          <p:nvPr/>
        </p:nvSpPr>
        <p:spPr>
          <a:xfrm>
            <a:off x="6172200" y="5431536"/>
            <a:ext cx="2377440" cy="585216"/>
          </a:xfrm>
          <a:prstGeom prst="rect">
            <a:avLst/>
          </a:prstGeom>
          <a:noFill/>
          <a:ln/>
        </p:spPr>
        <p:txBody>
          <a:bodyPr wrap="square" lIns="0" tIns="0" rIns="0" bIns="0" rtlCol="0" anchor="ctr"/>
          <a:lstStyle/>
          <a:p>
            <a:pPr indent="0" marL="0">
              <a:buNone/>
            </a:pPr>
            <a:r>
              <a:rPr lang="en-US" sz="1500" b="1" dirty="0">
                <a:solidFill>
                  <a:schemeClr val="accent3"/>
                </a:solidFill>
              </a:rPr>
              <a:t>Prix estimé</a:t>
            </a:r>
            <a:endParaRPr lang="en-US" sz="1500" dirty="0"/>
          </a:p>
        </p:txBody>
      </p:sp>
      <p:sp>
        <p:nvSpPr>
          <p:cNvPr id="29" name="Text 26"/>
          <p:cNvSpPr txBox="1"/>
          <p:nvPr/>
        </p:nvSpPr>
        <p:spPr>
          <a:xfrm>
            <a:off x="8549640" y="5431536"/>
            <a:ext cx="3017520" cy="585216"/>
          </a:xfrm>
          <a:prstGeom prst="rect">
            <a:avLst/>
          </a:prstGeom>
          <a:noFill/>
          <a:ln/>
        </p:spPr>
        <p:txBody>
          <a:bodyPr wrap="square" lIns="0" tIns="0" rIns="0" bIns="0" rtlCol="0" anchor="ctr"/>
          <a:lstStyle/>
          <a:p>
            <a:pPr indent="0" marL="0">
              <a:buNone/>
            </a:pPr>
            <a:r>
              <a:rPr lang="en-US" sz="1200" dirty="0">
                <a:solidFill>
                  <a:schemeClr val="bg2"/>
                </a:solidFill>
              </a:rPr>
              <a:t>affiché dans la page : 375 210 $</a:t>
            </a:r>
            <a:endParaRPr lang="en-US" sz="1200" dirty="0"/>
          </a:p>
        </p:txBody>
      </p:sp>
      <p:sp>
        <p:nvSpPr>
          <p:cNvPr id="30" name="Utilisateur cercle"/>
          <p:cNvSpPr/>
          <p:nvPr/>
        </p:nvSpPr>
        <p:spPr>
          <a:xfrm>
            <a:off x="5605272" y="1563624"/>
            <a:ext cx="457200" cy="457200"/>
          </a:xfrm>
          <a:prstGeom prst="ellipse">
            <a:avLst/>
          </a:prstGeom>
          <a:solidFill>
            <a:schemeClr val="accent6"/>
          </a:solidFill>
          <a:ln w="12700">
            <a:solidFill>
              <a:schemeClr val="accent5"/>
            </a:solidFill>
            <a:prstDash val="solid"/>
          </a:ln>
        </p:spPr>
      </p:sp>
      <p:pic>
        <p:nvPicPr>
          <p:cNvPr id="31" name="Utilisateur icône" descr="Utilisateur">    </p:cNvPr>
          <p:cNvPicPr>
            <a:picLocks noChangeAspect="1"/>
          </p:cNvPicPr>
          <p:nvPr/>
        </p:nvPicPr>
        <p:blipFill>
          <a:blip r:embed="rId2"/>
          <a:stretch>
            <a:fillRect/>
          </a:stretch>
        </p:blipFill>
        <p:spPr>
          <a:xfrm>
            <a:off x="5724144" y="1682496"/>
            <a:ext cx="219456" cy="219456"/>
          </a:xfrm>
          <a:prstGeom prst="rect">
            <a:avLst/>
          </a:prstGeom>
        </p:spPr>
      </p:pic>
      <p:sp>
        <p:nvSpPr>
          <p:cNvPr id="32" name="Formulaire HTML cercle"/>
          <p:cNvSpPr/>
          <p:nvPr/>
        </p:nvSpPr>
        <p:spPr>
          <a:xfrm>
            <a:off x="5605272" y="2350008"/>
            <a:ext cx="457200" cy="457200"/>
          </a:xfrm>
          <a:prstGeom prst="ellipse">
            <a:avLst/>
          </a:prstGeom>
          <a:solidFill>
            <a:schemeClr val="accent6"/>
          </a:solidFill>
          <a:ln w="12700">
            <a:solidFill>
              <a:schemeClr val="accent5"/>
            </a:solidFill>
            <a:prstDash val="solid"/>
          </a:ln>
        </p:spPr>
      </p:sp>
      <p:pic>
        <p:nvPicPr>
          <p:cNvPr id="33" name="Formulaire HTML icône" descr="Formulaire HTML">    </p:cNvPr>
          <p:cNvPicPr>
            <a:picLocks noChangeAspect="1"/>
          </p:cNvPicPr>
          <p:nvPr/>
        </p:nvPicPr>
        <p:blipFill>
          <a:blip r:embed="rId3"/>
          <a:stretch>
            <a:fillRect/>
          </a:stretch>
        </p:blipFill>
        <p:spPr>
          <a:xfrm>
            <a:off x="5724144" y="2468880"/>
            <a:ext cx="219456" cy="219456"/>
          </a:xfrm>
          <a:prstGeom prst="rect">
            <a:avLst/>
          </a:prstGeom>
        </p:spPr>
      </p:pic>
      <p:sp>
        <p:nvSpPr>
          <p:cNvPr id="34" name="app.py · Flask cercle"/>
          <p:cNvSpPr/>
          <p:nvPr/>
        </p:nvSpPr>
        <p:spPr>
          <a:xfrm>
            <a:off x="5605272" y="3136392"/>
            <a:ext cx="457200" cy="457200"/>
          </a:xfrm>
          <a:prstGeom prst="ellipse">
            <a:avLst/>
          </a:prstGeom>
          <a:solidFill>
            <a:schemeClr val="accent6"/>
          </a:solidFill>
          <a:ln w="12700">
            <a:solidFill>
              <a:schemeClr val="accent5"/>
            </a:solidFill>
            <a:prstDash val="solid"/>
          </a:ln>
        </p:spPr>
      </p:sp>
      <p:pic>
        <p:nvPicPr>
          <p:cNvPr id="35" name="app.py · Flask icône" descr="app.py · Flask">    </p:cNvPr>
          <p:cNvPicPr>
            <a:picLocks noChangeAspect="1"/>
          </p:cNvPicPr>
          <p:nvPr/>
        </p:nvPicPr>
        <p:blipFill>
          <a:blip r:embed="rId4"/>
          <a:stretch>
            <a:fillRect/>
          </a:stretch>
        </p:blipFill>
        <p:spPr>
          <a:xfrm>
            <a:off x="5724144" y="3255264"/>
            <a:ext cx="219456" cy="219456"/>
          </a:xfrm>
          <a:prstGeom prst="rect">
            <a:avLst/>
          </a:prstGeom>
        </p:spPr>
      </p:pic>
      <p:sp>
        <p:nvSpPr>
          <p:cNvPr id="36" name="DataFrame pandas cercle"/>
          <p:cNvSpPr/>
          <p:nvPr/>
        </p:nvSpPr>
        <p:spPr>
          <a:xfrm>
            <a:off x="5605272" y="3922776"/>
            <a:ext cx="457200" cy="457200"/>
          </a:xfrm>
          <a:prstGeom prst="ellipse">
            <a:avLst/>
          </a:prstGeom>
          <a:solidFill>
            <a:schemeClr val="accent6"/>
          </a:solidFill>
          <a:ln w="12700">
            <a:solidFill>
              <a:schemeClr val="accent5"/>
            </a:solidFill>
            <a:prstDash val="solid"/>
          </a:ln>
        </p:spPr>
      </p:sp>
      <p:pic>
        <p:nvPicPr>
          <p:cNvPr id="37" name="DataFrame pandas icône" descr="DataFrame pandas">    </p:cNvPr>
          <p:cNvPicPr>
            <a:picLocks noChangeAspect="1"/>
          </p:cNvPicPr>
          <p:nvPr/>
        </p:nvPicPr>
        <p:blipFill>
          <a:blip r:embed="rId5"/>
          <a:stretch>
            <a:fillRect/>
          </a:stretch>
        </p:blipFill>
        <p:spPr>
          <a:xfrm>
            <a:off x="5724144" y="4041648"/>
            <a:ext cx="219456" cy="219456"/>
          </a:xfrm>
          <a:prstGeom prst="rect">
            <a:avLst/>
          </a:prstGeom>
        </p:spPr>
      </p:pic>
      <p:sp>
        <p:nvSpPr>
          <p:cNvPr id="38" name="model.pkl cercle"/>
          <p:cNvSpPr/>
          <p:nvPr/>
        </p:nvSpPr>
        <p:spPr>
          <a:xfrm>
            <a:off x="5605272" y="4709160"/>
            <a:ext cx="457200" cy="457200"/>
          </a:xfrm>
          <a:prstGeom prst="ellipse">
            <a:avLst/>
          </a:prstGeom>
          <a:solidFill>
            <a:schemeClr val="accent6"/>
          </a:solidFill>
          <a:ln w="12700">
            <a:solidFill>
              <a:schemeClr val="accent5"/>
            </a:solidFill>
            <a:prstDash val="solid"/>
          </a:ln>
        </p:spPr>
      </p:sp>
      <p:pic>
        <p:nvPicPr>
          <p:cNvPr id="39" name="model.pkl icône" descr="model.pkl">    </p:cNvPr>
          <p:cNvPicPr>
            <a:picLocks noChangeAspect="1"/>
          </p:cNvPicPr>
          <p:nvPr/>
        </p:nvPicPr>
        <p:blipFill>
          <a:blip r:embed="rId6"/>
          <a:stretch>
            <a:fillRect/>
          </a:stretch>
        </p:blipFill>
        <p:spPr>
          <a:xfrm>
            <a:off x="5724144" y="4828032"/>
            <a:ext cx="219456" cy="219456"/>
          </a:xfrm>
          <a:prstGeom prst="rect">
            <a:avLst/>
          </a:prstGeom>
        </p:spPr>
      </p:pic>
      <p:sp>
        <p:nvSpPr>
          <p:cNvPr id="40" name="Prix estimé cercle"/>
          <p:cNvSpPr/>
          <p:nvPr/>
        </p:nvSpPr>
        <p:spPr>
          <a:xfrm>
            <a:off x="5605272" y="5495544"/>
            <a:ext cx="457200" cy="457200"/>
          </a:xfrm>
          <a:prstGeom prst="ellipse">
            <a:avLst/>
          </a:prstGeom>
          <a:solidFill>
            <a:schemeClr val="accent6"/>
          </a:solidFill>
          <a:ln w="12700">
            <a:solidFill>
              <a:schemeClr val="accent5"/>
            </a:solidFill>
            <a:prstDash val="solid"/>
          </a:ln>
        </p:spPr>
      </p:sp>
      <p:pic>
        <p:nvPicPr>
          <p:cNvPr id="41" name="Prix estimé icône" descr="Prix estimé">    </p:cNvPr>
          <p:cNvPicPr>
            <a:picLocks noChangeAspect="1"/>
          </p:cNvPicPr>
          <p:nvPr/>
        </p:nvPicPr>
        <p:blipFill>
          <a:blip r:embed="rId7"/>
          <a:stretch>
            <a:fillRect/>
          </a:stretch>
        </p:blipFill>
        <p:spPr>
          <a:xfrm>
            <a:off x="5724144" y="5614416"/>
            <a:ext cx="219456" cy="219456"/>
          </a:xfrm>
          <a:prstGeom prst="rect">
            <a:avLst/>
          </a:prstGeom>
        </p:spPr>
      </p:pic>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15  ·  DOCKER</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Flask tourne dans Docker</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3"/>
            </a:solidFill>
          </a:ln>
        </p:spPr>
        <p:txBody>
          <a:bodyPr wrap="square" lIns="0" tIns="0" rIns="0" bIns="0" rtlCol="0" anchor="ctr"/>
          <a:lstStyle/>
          <a:p>
            <a:pPr algn="ctr" indent="0" marL="0">
              <a:buNone/>
            </a:pPr>
            <a:r>
              <a:rPr lang="en-US" sz="1300" b="1" dirty="0">
                <a:solidFill>
                  <a:schemeClr val="accent3"/>
                </a:solidFill>
              </a:rPr>
              <a:t>Lisa</a:t>
            </a:r>
            <a:endParaRPr lang="en-US" sz="1300" dirty="0"/>
          </a:p>
        </p:txBody>
      </p:sp>
      <p:sp>
        <p:nvSpPr>
          <p:cNvPr id="5" name="cadre Dockerfile"/>
          <p:cNvSpPr/>
          <p:nvPr/>
        </p:nvSpPr>
        <p:spPr>
          <a:xfrm>
            <a:off x="548640" y="1463040"/>
            <a:ext cx="4434840" cy="3794760"/>
          </a:xfrm>
          <a:prstGeom prst="roundRect">
            <a:avLst>
              <a:gd name="adj" fmla="val 1928"/>
            </a:avLst>
          </a:prstGeom>
          <a:solidFill>
            <a:srgbClr val="0A0F17"/>
          </a:solidFill>
          <a:ln w="12700">
            <a:solidFill>
              <a:schemeClr val="accent5"/>
            </a:solidFill>
            <a:prstDash val="solid"/>
          </a:ln>
        </p:spPr>
      </p:sp>
      <p:sp>
        <p:nvSpPr>
          <p:cNvPr id="6" name="Text 4"/>
          <p:cNvSpPr txBox="1"/>
          <p:nvPr/>
        </p:nvSpPr>
        <p:spPr>
          <a:xfrm>
            <a:off x="777240" y="1572768"/>
            <a:ext cx="3931920" cy="32004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Dockerfile</a:t>
            </a:r>
            <a:endParaRPr lang="en-US" sz="1300" dirty="0"/>
          </a:p>
        </p:txBody>
      </p:sp>
      <p:sp>
        <p:nvSpPr>
          <p:cNvPr id="7" name="Text 5"/>
          <p:cNvSpPr txBox="1"/>
          <p:nvPr/>
        </p:nvSpPr>
        <p:spPr>
          <a:xfrm>
            <a:off x="777240" y="1965960"/>
            <a:ext cx="4114800" cy="3154680"/>
          </a:xfrm>
          <a:prstGeom prst="rect">
            <a:avLst/>
          </a:prstGeom>
          <a:noFill/>
          <a:ln/>
        </p:spPr>
        <p:txBody>
          <a:bodyPr wrap="square" lIns="0" tIns="0" rIns="0" bIns="0" rtlCol="0" anchor="t"/>
          <a:lstStyle/>
          <a:p>
            <a:pPr indent="0" marL="0">
              <a:spcAft>
                <a:spcPts val="600"/>
              </a:spcAft>
              <a:buNone/>
            </a:pPr>
            <a:r>
              <a:rPr lang="en-US" sz="1400" dirty="0">
                <a:solidFill>
                  <a:schemeClr val="bg1"/>
                </a:solidFill>
                <a:latin typeface="Courier New" pitchFamily="34" charset="0"/>
                <a:ea typeface="Courier New" pitchFamily="34" charset="-122"/>
                <a:cs typeface="Courier New" pitchFamily="34" charset="-120"/>
              </a:rPr>
              <a:t>FROM python:3.12-slim</a:t>
            </a:r>
            <a:endParaRPr lang="en-US" sz="1400" dirty="0"/>
          </a:p>
          <a:p>
            <a:pPr indent="0" marL="0">
              <a:spcAft>
                <a:spcPts val="600"/>
              </a:spcAft>
              <a:buNone/>
            </a:pPr>
            <a:r>
              <a:rPr lang="en-US" sz="1400" dirty="0">
                <a:solidFill>
                  <a:schemeClr val="bg1"/>
                </a:solidFill>
                <a:latin typeface="Courier New" pitchFamily="34" charset="0"/>
                <a:ea typeface="Courier New" pitchFamily="34" charset="-122"/>
                <a:cs typeface="Courier New" pitchFamily="34" charset="-120"/>
              </a:rPr>
              <a:t>WORKDIR /app</a:t>
            </a:r>
            <a:endParaRPr lang="en-US" sz="1400" dirty="0"/>
          </a:p>
          <a:p>
            <a:pPr indent="0" marL="0">
              <a:spcAft>
                <a:spcPts val="600"/>
              </a:spcAft>
              <a:buNone/>
            </a:pPr>
            <a:r>
              <a:rPr lang="en-US" sz="1400" dirty="0">
                <a:solidFill>
                  <a:schemeClr val="bg1"/>
                </a:solidFill>
                <a:latin typeface="Courier New" pitchFamily="34" charset="0"/>
                <a:ea typeface="Courier New" pitchFamily="34" charset="-122"/>
                <a:cs typeface="Courier New" pitchFamily="34" charset="-120"/>
              </a:rPr>
              <a:t>COPY requirements.txt .</a:t>
            </a:r>
            <a:endParaRPr lang="en-US" sz="1400" dirty="0"/>
          </a:p>
          <a:p>
            <a:pPr indent="0" marL="0">
              <a:spcAft>
                <a:spcPts val="600"/>
              </a:spcAft>
              <a:buNone/>
            </a:pPr>
            <a:r>
              <a:rPr lang="en-US" sz="1400" dirty="0">
                <a:solidFill>
                  <a:schemeClr val="bg1"/>
                </a:solidFill>
                <a:latin typeface="Courier New" pitchFamily="34" charset="0"/>
                <a:ea typeface="Courier New" pitchFamily="34" charset="-122"/>
                <a:cs typeface="Courier New" pitchFamily="34" charset="-120"/>
              </a:rPr>
              <a:t>RUN pip install -r requirements.txt</a:t>
            </a:r>
            <a:endParaRPr lang="en-US" sz="1400" dirty="0"/>
          </a:p>
          <a:p>
            <a:pPr indent="0" marL="0">
              <a:spcAft>
                <a:spcPts val="600"/>
              </a:spcAft>
              <a:buNone/>
            </a:pPr>
            <a:r>
              <a:rPr lang="en-US" sz="1400" dirty="0">
                <a:solidFill>
                  <a:schemeClr val="bg1"/>
                </a:solidFill>
                <a:latin typeface="Courier New" pitchFamily="34" charset="0"/>
                <a:ea typeface="Courier New" pitchFamily="34" charset="-122"/>
                <a:cs typeface="Courier New" pitchFamily="34" charset="-120"/>
              </a:rPr>
              <a:t>COPY app.py model.pkl ./</a:t>
            </a:r>
            <a:endParaRPr lang="en-US" sz="1400" dirty="0"/>
          </a:p>
          <a:p>
            <a:pPr indent="0" marL="0">
              <a:spcAft>
                <a:spcPts val="600"/>
              </a:spcAft>
              <a:buNone/>
            </a:pPr>
            <a:r>
              <a:rPr lang="en-US" sz="1400" dirty="0">
                <a:solidFill>
                  <a:schemeClr val="bg1"/>
                </a:solidFill>
                <a:latin typeface="Courier New" pitchFamily="34" charset="0"/>
                <a:ea typeface="Courier New" pitchFamily="34" charset="-122"/>
                <a:cs typeface="Courier New" pitchFamily="34" charset="-120"/>
              </a:rPr>
              <a:t>COPY templates ./templates</a:t>
            </a:r>
            <a:endParaRPr lang="en-US" sz="1400" dirty="0"/>
          </a:p>
          <a:p>
            <a:pPr indent="0" marL="0">
              <a:spcAft>
                <a:spcPts val="600"/>
              </a:spcAft>
              <a:buNone/>
            </a:pPr>
            <a:r>
              <a:rPr lang="en-US" sz="1400" dirty="0">
                <a:solidFill>
                  <a:schemeClr val="bg1"/>
                </a:solidFill>
                <a:latin typeface="Courier New" pitchFamily="34" charset="0"/>
                <a:ea typeface="Courier New" pitchFamily="34" charset="-122"/>
                <a:cs typeface="Courier New" pitchFamily="34" charset="-120"/>
              </a:rPr>
              <a:t>COPY static ./static</a:t>
            </a:r>
            <a:endParaRPr lang="en-US" sz="1400" dirty="0"/>
          </a:p>
          <a:p>
            <a:pPr indent="0" marL="0">
              <a:spcAft>
                <a:spcPts val="600"/>
              </a:spcAft>
              <a:buNone/>
            </a:pPr>
            <a:r>
              <a:rPr lang="en-US" sz="1400" dirty="0">
                <a:solidFill>
                  <a:schemeClr val="bg1"/>
                </a:solidFill>
                <a:latin typeface="Courier New" pitchFamily="34" charset="0"/>
                <a:ea typeface="Courier New" pitchFamily="34" charset="-122"/>
                <a:cs typeface="Courier New" pitchFamily="34" charset="-120"/>
              </a:rPr>
              <a:t>EXPOSE 5000</a:t>
            </a:r>
            <a:endParaRPr lang="en-US" sz="1400" dirty="0"/>
          </a:p>
          <a:p>
            <a:pPr indent="0" marL="0">
              <a:spcAft>
                <a:spcPts val="600"/>
              </a:spcAft>
              <a:buNone/>
            </a:pPr>
            <a:r>
              <a:rPr lang="en-US" sz="1400" dirty="0">
                <a:solidFill>
                  <a:schemeClr val="bg1"/>
                </a:solidFill>
                <a:latin typeface="Courier New" pitchFamily="34" charset="0"/>
                <a:ea typeface="Courier New" pitchFamily="34" charset="-122"/>
                <a:cs typeface="Courier New" pitchFamily="34" charset="-120"/>
              </a:rPr>
              <a:t>CMD ["python", "app.py"]</a:t>
            </a:r>
            <a:endParaRPr lang="en-US" sz="1400" dirty="0"/>
          </a:p>
        </p:txBody>
      </p:sp>
      <p:sp>
        <p:nvSpPr>
          <p:cNvPr id="8" name="flèche"/>
          <p:cNvSpPr/>
          <p:nvPr/>
        </p:nvSpPr>
        <p:spPr>
          <a:xfrm>
            <a:off x="5029200" y="3355848"/>
            <a:ext cx="457200" cy="0"/>
          </a:xfrm>
          <a:prstGeom prst="line">
            <a:avLst/>
          </a:prstGeom>
          <a:noFill/>
          <a:ln w="22225">
            <a:solidFill>
              <a:schemeClr val="bg2"/>
            </a:solidFill>
            <a:prstDash val="solid"/>
            <a:tailEnd type="triangle"/>
          </a:ln>
        </p:spPr>
      </p:sp>
      <p:sp>
        <p:nvSpPr>
          <p:cNvPr id="9" name="conteneur"/>
          <p:cNvSpPr/>
          <p:nvPr/>
        </p:nvSpPr>
        <p:spPr>
          <a:xfrm>
            <a:off x="5532120" y="1463040"/>
            <a:ext cx="6108192" cy="3794760"/>
          </a:xfrm>
          <a:prstGeom prst="roundRect">
            <a:avLst>
              <a:gd name="adj" fmla="val 1928"/>
            </a:avLst>
          </a:prstGeom>
          <a:solidFill>
            <a:schemeClr val="accent6"/>
          </a:solidFill>
          <a:ln w="15875">
            <a:solidFill>
              <a:schemeClr val="bg2"/>
            </a:solidFill>
            <a:prstDash val="dash"/>
          </a:ln>
        </p:spPr>
      </p:sp>
      <p:sp>
        <p:nvSpPr>
          <p:cNvPr id="10" name="Docker cercle"/>
          <p:cNvSpPr/>
          <p:nvPr/>
        </p:nvSpPr>
        <p:spPr>
          <a:xfrm>
            <a:off x="5715000" y="1572768"/>
            <a:ext cx="457200" cy="457200"/>
          </a:xfrm>
          <a:prstGeom prst="ellipse">
            <a:avLst/>
          </a:prstGeom>
          <a:solidFill>
            <a:schemeClr val="accent6"/>
          </a:solidFill>
          <a:ln w="12700">
            <a:solidFill>
              <a:schemeClr val="accent5"/>
            </a:solidFill>
            <a:prstDash val="solid"/>
          </a:ln>
        </p:spPr>
      </p:sp>
      <p:pic>
        <p:nvPicPr>
          <p:cNvPr id="11" name="Docker icône" descr="Docker">    </p:cNvPr>
          <p:cNvPicPr>
            <a:picLocks noChangeAspect="1"/>
          </p:cNvPicPr>
          <p:nvPr/>
        </p:nvPicPr>
        <p:blipFill>
          <a:blip r:embed="rId1"/>
          <a:stretch>
            <a:fillRect/>
          </a:stretch>
        </p:blipFill>
        <p:spPr>
          <a:xfrm>
            <a:off x="5833872" y="1691640"/>
            <a:ext cx="219456" cy="219456"/>
          </a:xfrm>
          <a:prstGeom prst="rect">
            <a:avLst/>
          </a:prstGeom>
        </p:spPr>
      </p:pic>
      <p:sp>
        <p:nvSpPr>
          <p:cNvPr id="12" name="Text 9"/>
          <p:cNvSpPr txBox="1"/>
          <p:nvPr/>
        </p:nvSpPr>
        <p:spPr>
          <a:xfrm>
            <a:off x="6263640" y="1618488"/>
            <a:ext cx="3200400" cy="365760"/>
          </a:xfrm>
          <a:prstGeom prst="rect">
            <a:avLst/>
          </a:prstGeom>
          <a:noFill/>
          <a:ln/>
        </p:spPr>
        <p:txBody>
          <a:bodyPr wrap="square" lIns="0" tIns="0" rIns="0" bIns="0" rtlCol="0" anchor="ctr"/>
          <a:lstStyle/>
          <a:p>
            <a:pPr indent="0" marL="0">
              <a:buNone/>
            </a:pPr>
            <a:r>
              <a:rPr lang="en-US" sz="1300" b="1" spc="100" kern="0" dirty="0">
                <a:solidFill>
                  <a:schemeClr val="bg1"/>
                </a:solidFill>
              </a:rPr>
              <a:t>CONTENEUR DOCKER</a:t>
            </a:r>
            <a:endParaRPr lang="en-US" sz="1300" dirty="0"/>
          </a:p>
        </p:txBody>
      </p:sp>
      <p:sp>
        <p:nvSpPr>
          <p:cNvPr id="13" name="couche python"/>
          <p:cNvSpPr/>
          <p:nvPr/>
        </p:nvSpPr>
        <p:spPr>
          <a:xfrm>
            <a:off x="5715000" y="2194560"/>
            <a:ext cx="5742432" cy="685800"/>
          </a:xfrm>
          <a:prstGeom prst="roundRect">
            <a:avLst>
              <a:gd name="adj" fmla="val 9333"/>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500" b="1" dirty="0">
                <a:solidFill>
                  <a:schemeClr val="bg1"/>
                </a:solidFill>
              </a:rPr>
              <a:t>Python 3.12</a:t>
            </a:r>
            <a:endParaRPr lang="en-US" sz="1500" dirty="0"/>
          </a:p>
          <a:p>
            <a:pPr algn="ctr" indent="0" marL="0">
              <a:buNone/>
            </a:pPr>
            <a:r>
              <a:rPr lang="en-US" sz="1500" dirty="0">
                <a:solidFill>
                  <a:schemeClr val="bg2"/>
                </a:solidFill>
                <a:latin typeface="Courier New" pitchFamily="34" charset="0"/>
                <a:ea typeface="Courier New" pitchFamily="34" charset="-122"/>
                <a:cs typeface="Courier New" pitchFamily="34" charset="-120"/>
              </a:rPr>
              <a:t>image python:3.12-slim</a:t>
            </a:r>
            <a:endParaRPr lang="en-US" sz="1500" dirty="0"/>
          </a:p>
        </p:txBody>
      </p:sp>
      <p:sp>
        <p:nvSpPr>
          <p:cNvPr id="14" name="couche librairies"/>
          <p:cNvSpPr/>
          <p:nvPr/>
        </p:nvSpPr>
        <p:spPr>
          <a:xfrm>
            <a:off x="5715000" y="3017520"/>
            <a:ext cx="5742432" cy="685800"/>
          </a:xfrm>
          <a:prstGeom prst="roundRect">
            <a:avLst>
              <a:gd name="adj" fmla="val 9333"/>
            </a:avLst>
          </a:prstGeom>
          <a:solidFill>
            <a:schemeClr val="tx2"/>
          </a:solidFill>
          <a:ln w="12700">
            <a:solidFill>
              <a:schemeClr val="accent5"/>
            </a:solidFill>
            <a:prstDash val="solid"/>
          </a:ln>
        </p:spPr>
        <p:txBody>
          <a:bodyPr wrap="square" lIns="50800" tIns="50800" rIns="50800" bIns="50800" rtlCol="0" anchor="ctr"/>
          <a:lstStyle/>
          <a:p>
            <a:pPr algn="ctr" indent="0" marL="0">
              <a:buNone/>
            </a:pPr>
            <a:r>
              <a:rPr lang="en-US" sz="1500" b="1" dirty="0">
                <a:solidFill>
                  <a:schemeClr val="bg1"/>
                </a:solidFill>
              </a:rPr>
              <a:t>Librairies : flask · pandas · scikit-learn · joblib</a:t>
            </a:r>
            <a:endParaRPr lang="en-US" sz="1500" dirty="0"/>
          </a:p>
          <a:p>
            <a:pPr algn="ctr" indent="0" marL="0">
              <a:buNone/>
            </a:pPr>
            <a:r>
              <a:rPr lang="en-US" sz="1500" dirty="0">
                <a:solidFill>
                  <a:schemeClr val="bg2"/>
                </a:solidFill>
                <a:latin typeface="Courier New" pitchFamily="34" charset="0"/>
                <a:ea typeface="Courier New" pitchFamily="34" charset="-122"/>
                <a:cs typeface="Courier New" pitchFamily="34" charset="-120"/>
              </a:rPr>
              <a:t>requirements.txt</a:t>
            </a:r>
            <a:endParaRPr lang="en-US" sz="1500" dirty="0"/>
          </a:p>
        </p:txBody>
      </p:sp>
      <p:sp>
        <p:nvSpPr>
          <p:cNvPr id="15" name="application flask"/>
          <p:cNvSpPr/>
          <p:nvPr/>
        </p:nvSpPr>
        <p:spPr>
          <a:xfrm>
            <a:off x="5715000" y="3840480"/>
            <a:ext cx="5742432" cy="1234440"/>
          </a:xfrm>
          <a:prstGeom prst="roundRect">
            <a:avLst>
              <a:gd name="adj" fmla="val 5926"/>
            </a:avLst>
          </a:prstGeom>
          <a:solidFill>
            <a:schemeClr val="tx2"/>
          </a:solidFill>
          <a:ln w="19050">
            <a:solidFill>
              <a:schemeClr val="accent2"/>
            </a:solidFill>
            <a:prstDash val="solid"/>
          </a:ln>
        </p:spPr>
      </p:sp>
      <p:sp>
        <p:nvSpPr>
          <p:cNvPr id="16" name="Text 13"/>
          <p:cNvSpPr txBox="1"/>
          <p:nvPr/>
        </p:nvSpPr>
        <p:spPr>
          <a:xfrm>
            <a:off x="5897880" y="3886200"/>
            <a:ext cx="2743200" cy="320040"/>
          </a:xfrm>
          <a:prstGeom prst="rect">
            <a:avLst/>
          </a:prstGeom>
          <a:noFill/>
          <a:ln/>
        </p:spPr>
        <p:txBody>
          <a:bodyPr wrap="square" lIns="0" tIns="0" rIns="0" bIns="0" rtlCol="0" anchor="ctr"/>
          <a:lstStyle/>
          <a:p>
            <a:pPr indent="0" marL="0">
              <a:buNone/>
            </a:pPr>
            <a:r>
              <a:rPr lang="en-US" sz="1200" b="1" spc="100" kern="0" dirty="0">
                <a:solidFill>
                  <a:schemeClr val="accent2"/>
                </a:solidFill>
              </a:rPr>
              <a:t>APPLICATION FLASK</a:t>
            </a:r>
            <a:endParaRPr lang="en-US" sz="1200" dirty="0"/>
          </a:p>
        </p:txBody>
      </p:sp>
      <p:sp>
        <p:nvSpPr>
          <p:cNvPr id="17" name="Text 14"/>
          <p:cNvSpPr txBox="1"/>
          <p:nvPr/>
        </p:nvSpPr>
        <p:spPr>
          <a:xfrm>
            <a:off x="5897880" y="4251960"/>
            <a:ext cx="5394960" cy="36576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app.py  ·  model.pkl  ·  templates/  ·  static/</a:t>
            </a:r>
            <a:endParaRPr lang="en-US" sz="1400" dirty="0"/>
          </a:p>
        </p:txBody>
      </p:sp>
      <p:sp>
        <p:nvSpPr>
          <p:cNvPr id="18" name="Text 15"/>
          <p:cNvSpPr txBox="1"/>
          <p:nvPr/>
        </p:nvSpPr>
        <p:spPr>
          <a:xfrm>
            <a:off x="5897880" y="4617720"/>
            <a:ext cx="5394960" cy="365760"/>
          </a:xfrm>
          <a:prstGeom prst="rect">
            <a:avLst/>
          </a:prstGeom>
          <a:noFill/>
          <a:ln/>
        </p:spPr>
        <p:txBody>
          <a:bodyPr wrap="square" lIns="0" tIns="0" rIns="0" bIns="0" rtlCol="0" anchor="ctr"/>
          <a:lstStyle/>
          <a:p>
            <a:pPr indent="0" marL="0">
              <a:buNone/>
            </a:pPr>
            <a:r>
              <a:rPr lang="en-US" sz="1300" dirty="0">
                <a:solidFill>
                  <a:schemeClr val="accent3"/>
                </a:solidFill>
              </a:rPr>
              <a:t>port 5000  →  http://localhost:5000</a:t>
            </a:r>
            <a:endParaRPr lang="en-US" sz="1300" dirty="0"/>
          </a:p>
        </p:txBody>
      </p:sp>
      <p:sp>
        <p:nvSpPr>
          <p:cNvPr id="19" name="message clé"/>
          <p:cNvSpPr/>
          <p:nvPr/>
        </p:nvSpPr>
        <p:spPr>
          <a:xfrm>
            <a:off x="548640" y="5486400"/>
            <a:ext cx="11091672" cy="640080"/>
          </a:xfrm>
          <a:prstGeom prst="roundRect">
            <a:avLst>
              <a:gd name="adj" fmla="val 10000"/>
            </a:avLst>
          </a:prstGeom>
          <a:solidFill>
            <a:schemeClr val="tx2"/>
          </a:solidFill>
          <a:ln w="12700">
            <a:solidFill>
              <a:schemeClr val="accent3"/>
            </a:solidFill>
            <a:prstDash val="solid"/>
          </a:ln>
        </p:spPr>
        <p:txBody>
          <a:bodyPr wrap="square" lIns="50800" tIns="50800" rIns="50800" bIns="50800" rtlCol="0" anchor="ctr"/>
          <a:lstStyle/>
          <a:p>
            <a:pPr algn="ctr" indent="0" marL="0">
              <a:buNone/>
            </a:pPr>
            <a:r>
              <a:rPr lang="en-US" sz="1600" b="1" dirty="0">
                <a:solidFill>
                  <a:schemeClr val="accent2"/>
                </a:solidFill>
              </a:rPr>
              <a:t>Flask </a:t>
            </a:r>
            <a:pPr algn="ctr" indent="0" marL="0">
              <a:buNone/>
            </a:pPr>
            <a:r>
              <a:rPr lang="en-US" sz="1600" dirty="0">
                <a:solidFill>
                  <a:schemeClr val="bg1"/>
                </a:solidFill>
              </a:rPr>
              <a:t>= l'application web          </a:t>
            </a:r>
            <a:pPr algn="ctr" indent="0" marL="0">
              <a:buNone/>
            </a:pPr>
            <a:r>
              <a:rPr lang="en-US" sz="1600" b="1" dirty="0">
                <a:solidFill>
                  <a:schemeClr val="bg1"/>
                </a:solidFill>
              </a:rPr>
              <a:t>Docker </a:t>
            </a:r>
            <a:pPr algn="ctr" indent="0" marL="0">
              <a:buNone/>
            </a:pPr>
            <a:r>
              <a:rPr lang="en-US" sz="1600" dirty="0">
                <a:solidFill>
                  <a:schemeClr val="bg1"/>
                </a:solidFill>
              </a:rPr>
              <a:t>= la boîte qui contient l'application et tout son environnement</a:t>
            </a:r>
            <a:endParaRPr lang="en-US" sz="16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16  ·  CONCLUSION</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Oui, on peut estimer le prix d'une maison</a:t>
            </a:r>
            <a:endParaRPr lang="en-US" sz="3400" dirty="0"/>
          </a:p>
        </p:txBody>
      </p:sp>
      <p:sp>
        <p:nvSpPr>
          <p:cNvPr id="4" name="intervenant"/>
          <p:cNvSpPr/>
          <p:nvPr/>
        </p:nvSpPr>
        <p:spPr>
          <a:xfrm>
            <a:off x="10241280" y="457200"/>
            <a:ext cx="1399032" cy="384048"/>
          </a:xfrm>
          <a:prstGeom prst="roundRect">
            <a:avLst>
              <a:gd name="adj" fmla="val 50000"/>
            </a:avLst>
          </a:prstGeom>
          <a:solidFill>
            <a:schemeClr val="tx2"/>
          </a:solidFill>
          <a:ln w="15875">
            <a:solidFill>
              <a:schemeClr val="accent3"/>
            </a:solidFill>
          </a:ln>
        </p:spPr>
        <p:txBody>
          <a:bodyPr wrap="square" lIns="0" tIns="0" rIns="0" bIns="0" rtlCol="0" anchor="ctr"/>
          <a:lstStyle/>
          <a:p>
            <a:pPr algn="ctr" indent="0" marL="0">
              <a:buNone/>
            </a:pPr>
            <a:r>
              <a:rPr lang="en-US" sz="1300" b="1" dirty="0">
                <a:solidFill>
                  <a:schemeClr val="accent3"/>
                </a:solidFill>
              </a:rPr>
              <a:t>Lisa</a:t>
            </a:r>
            <a:endParaRPr lang="en-US" sz="1300" dirty="0"/>
          </a:p>
        </p:txBody>
      </p:sp>
      <p:sp>
        <p:nvSpPr>
          <p:cNvPr id="5" name="carte chiffre"/>
          <p:cNvSpPr/>
          <p:nvPr/>
        </p:nvSpPr>
        <p:spPr>
          <a:xfrm>
            <a:off x="548640" y="1508760"/>
            <a:ext cx="3566160" cy="1691640"/>
          </a:xfrm>
          <a:prstGeom prst="roundRect">
            <a:avLst>
              <a:gd name="adj" fmla="val 4324"/>
            </a:avLst>
          </a:prstGeom>
          <a:solidFill>
            <a:schemeClr val="tx2"/>
          </a:solidFill>
          <a:ln w="12700">
            <a:solidFill>
              <a:schemeClr val="accent5"/>
            </a:solidFill>
            <a:prstDash val="solid"/>
          </a:ln>
        </p:spPr>
      </p:sp>
      <p:sp>
        <p:nvSpPr>
          <p:cNvPr id="6" name="Text 4"/>
          <p:cNvSpPr txBox="1"/>
          <p:nvPr/>
        </p:nvSpPr>
        <p:spPr>
          <a:xfrm>
            <a:off x="777240" y="1691640"/>
            <a:ext cx="3108960" cy="845820"/>
          </a:xfrm>
          <a:prstGeom prst="rect">
            <a:avLst/>
          </a:prstGeom>
          <a:noFill/>
          <a:ln/>
        </p:spPr>
        <p:txBody>
          <a:bodyPr wrap="square" lIns="0" tIns="0" rIns="0" bIns="0" rtlCol="0" anchor="ctr"/>
          <a:lstStyle/>
          <a:p>
            <a:pPr indent="0" marL="0">
              <a:buNone/>
            </a:pPr>
            <a:r>
              <a:rPr lang="en-US" sz="3400" b="1" dirty="0">
                <a:solidFill>
                  <a:schemeClr val="accent3"/>
                </a:solidFill>
                <a:latin typeface="Arial" pitchFamily="34" charset="0"/>
                <a:ea typeface="Arial" pitchFamily="34" charset="-122"/>
                <a:cs typeface="Arial" pitchFamily="34" charset="-120"/>
              </a:rPr>
              <a:t>≈ 87,7 %</a:t>
            </a:r>
            <a:endParaRPr lang="en-US" sz="3400" dirty="0"/>
          </a:p>
        </p:txBody>
      </p:sp>
      <p:sp>
        <p:nvSpPr>
          <p:cNvPr id="7" name="Text 5"/>
          <p:cNvSpPr txBox="1"/>
          <p:nvPr/>
        </p:nvSpPr>
        <p:spPr>
          <a:xfrm>
            <a:off x="777240" y="2537460"/>
            <a:ext cx="3108960" cy="571500"/>
          </a:xfrm>
          <a:prstGeom prst="rect">
            <a:avLst/>
          </a:prstGeom>
          <a:noFill/>
          <a:ln/>
        </p:spPr>
        <p:txBody>
          <a:bodyPr wrap="square" lIns="0" tIns="0" rIns="0" bIns="0" rtlCol="0" anchor="t"/>
          <a:lstStyle/>
          <a:p>
            <a:pPr indent="0" marL="0">
              <a:buNone/>
            </a:pPr>
            <a:r>
              <a:rPr lang="en-US" sz="1300" dirty="0">
                <a:solidFill>
                  <a:schemeClr val="bg2"/>
                </a:solidFill>
              </a:rPr>
              <a:t>de la variation des prix expliquée sur des maisons jamais vues</a:t>
            </a:r>
            <a:endParaRPr lang="en-US" sz="1300" dirty="0"/>
          </a:p>
        </p:txBody>
      </p:sp>
      <p:sp>
        <p:nvSpPr>
          <p:cNvPr id="8" name="carte chiffre"/>
          <p:cNvSpPr/>
          <p:nvPr/>
        </p:nvSpPr>
        <p:spPr>
          <a:xfrm>
            <a:off x="4315968" y="1508760"/>
            <a:ext cx="3566160" cy="1691640"/>
          </a:xfrm>
          <a:prstGeom prst="roundRect">
            <a:avLst>
              <a:gd name="adj" fmla="val 4324"/>
            </a:avLst>
          </a:prstGeom>
          <a:solidFill>
            <a:schemeClr val="tx2"/>
          </a:solidFill>
          <a:ln w="12700">
            <a:solidFill>
              <a:schemeClr val="accent5"/>
            </a:solidFill>
            <a:prstDash val="solid"/>
          </a:ln>
        </p:spPr>
      </p:sp>
      <p:sp>
        <p:nvSpPr>
          <p:cNvPr id="9" name="Text 7"/>
          <p:cNvSpPr txBox="1"/>
          <p:nvPr/>
        </p:nvSpPr>
        <p:spPr>
          <a:xfrm>
            <a:off x="4544568" y="1691640"/>
            <a:ext cx="3108960" cy="845820"/>
          </a:xfrm>
          <a:prstGeom prst="rect">
            <a:avLst/>
          </a:prstGeom>
          <a:noFill/>
          <a:ln/>
        </p:spPr>
        <p:txBody>
          <a:bodyPr wrap="square" lIns="0" tIns="0" rIns="0" bIns="0" rtlCol="0" anchor="ctr"/>
          <a:lstStyle/>
          <a:p>
            <a:pPr indent="0" marL="0">
              <a:buNone/>
            </a:pPr>
            <a:r>
              <a:rPr lang="en-US" sz="3400" b="1" dirty="0">
                <a:solidFill>
                  <a:schemeClr val="accent2"/>
                </a:solidFill>
                <a:latin typeface="Arial" pitchFamily="34" charset="0"/>
                <a:ea typeface="Arial" pitchFamily="34" charset="-122"/>
                <a:cs typeface="Arial" pitchFamily="34" charset="-120"/>
              </a:rPr>
              <a:t>≈ 72 000 $</a:t>
            </a:r>
            <a:endParaRPr lang="en-US" sz="3400" dirty="0"/>
          </a:p>
        </p:txBody>
      </p:sp>
      <p:sp>
        <p:nvSpPr>
          <p:cNvPr id="10" name="Text 8"/>
          <p:cNvSpPr txBox="1"/>
          <p:nvPr/>
        </p:nvSpPr>
        <p:spPr>
          <a:xfrm>
            <a:off x="4544568" y="2537460"/>
            <a:ext cx="3108960" cy="571500"/>
          </a:xfrm>
          <a:prstGeom prst="rect">
            <a:avLst/>
          </a:prstGeom>
          <a:noFill/>
          <a:ln/>
        </p:spPr>
        <p:txBody>
          <a:bodyPr wrap="square" lIns="0" tIns="0" rIns="0" bIns="0" rtlCol="0" anchor="t"/>
          <a:lstStyle/>
          <a:p>
            <a:pPr indent="0" marL="0">
              <a:buNone/>
            </a:pPr>
            <a:r>
              <a:rPr lang="en-US" sz="1300" dirty="0">
                <a:solidFill>
                  <a:schemeClr val="bg2"/>
                </a:solidFill>
              </a:rPr>
              <a:t>d'erreur moyenne : une estimation, pas un prix exact</a:t>
            </a:r>
            <a:endParaRPr lang="en-US" sz="1300" dirty="0"/>
          </a:p>
        </p:txBody>
      </p:sp>
      <p:sp>
        <p:nvSpPr>
          <p:cNvPr id="11" name="carte chiffre"/>
          <p:cNvSpPr/>
          <p:nvPr/>
        </p:nvSpPr>
        <p:spPr>
          <a:xfrm>
            <a:off x="8083296" y="1508760"/>
            <a:ext cx="3557016" cy="1691640"/>
          </a:xfrm>
          <a:prstGeom prst="roundRect">
            <a:avLst>
              <a:gd name="adj" fmla="val 4324"/>
            </a:avLst>
          </a:prstGeom>
          <a:solidFill>
            <a:schemeClr val="tx2"/>
          </a:solidFill>
          <a:ln w="12700">
            <a:solidFill>
              <a:schemeClr val="accent5"/>
            </a:solidFill>
            <a:prstDash val="solid"/>
          </a:ln>
        </p:spPr>
      </p:sp>
      <p:sp>
        <p:nvSpPr>
          <p:cNvPr id="12" name="Text 10"/>
          <p:cNvSpPr txBox="1"/>
          <p:nvPr/>
        </p:nvSpPr>
        <p:spPr>
          <a:xfrm>
            <a:off x="8311896" y="1691640"/>
            <a:ext cx="3099816" cy="845820"/>
          </a:xfrm>
          <a:prstGeom prst="rect">
            <a:avLst/>
          </a:prstGeom>
          <a:noFill/>
          <a:ln/>
        </p:spPr>
        <p:txBody>
          <a:bodyPr wrap="square" lIns="0" tIns="0" rIns="0" bIns="0" rtlCol="0" anchor="ctr"/>
          <a:lstStyle/>
          <a:p>
            <a:pPr indent="0" marL="0">
              <a:buNone/>
            </a:pPr>
            <a:r>
              <a:rPr lang="en-US" sz="3400" b="1" dirty="0">
                <a:solidFill>
                  <a:schemeClr val="accent1"/>
                </a:solidFill>
                <a:latin typeface="Arial" pitchFamily="34" charset="0"/>
                <a:ea typeface="Arial" pitchFamily="34" charset="-122"/>
                <a:cs typeface="Arial" pitchFamily="34" charset="-120"/>
              </a:rPr>
              <a:t>3 facteurs</a:t>
            </a:r>
            <a:endParaRPr lang="en-US" sz="3400" dirty="0"/>
          </a:p>
        </p:txBody>
      </p:sp>
      <p:sp>
        <p:nvSpPr>
          <p:cNvPr id="13" name="Text 11"/>
          <p:cNvSpPr txBox="1"/>
          <p:nvPr/>
        </p:nvSpPr>
        <p:spPr>
          <a:xfrm>
            <a:off x="8311896" y="2537460"/>
            <a:ext cx="3099816" cy="571500"/>
          </a:xfrm>
          <a:prstGeom prst="rect">
            <a:avLst/>
          </a:prstGeom>
          <a:noFill/>
          <a:ln/>
        </p:spPr>
        <p:txBody>
          <a:bodyPr wrap="square" lIns="0" tIns="0" rIns="0" bIns="0" rtlCol="0" anchor="t"/>
          <a:lstStyle/>
          <a:p>
            <a:pPr indent="0" marL="0">
              <a:buNone/>
            </a:pPr>
            <a:r>
              <a:rPr lang="en-US" sz="1300" dirty="0">
                <a:solidFill>
                  <a:schemeClr val="bg2"/>
                </a:solidFill>
              </a:rPr>
              <a:t>surface, qualité de construction et emplacement</a:t>
            </a:r>
            <a:endParaRPr lang="en-US" sz="1300" dirty="0"/>
          </a:p>
        </p:txBody>
      </p:sp>
      <p:sp>
        <p:nvSpPr>
          <p:cNvPr id="14" name="carte limites"/>
          <p:cNvSpPr/>
          <p:nvPr/>
        </p:nvSpPr>
        <p:spPr>
          <a:xfrm>
            <a:off x="548640" y="3474720"/>
            <a:ext cx="5440680" cy="2011680"/>
          </a:xfrm>
          <a:prstGeom prst="roundRect">
            <a:avLst>
              <a:gd name="adj" fmla="val 3636"/>
            </a:avLst>
          </a:prstGeom>
          <a:solidFill>
            <a:schemeClr val="tx2"/>
          </a:solidFill>
          <a:ln w="12700">
            <a:solidFill>
              <a:schemeClr val="accent4"/>
            </a:solidFill>
            <a:prstDash val="solid"/>
          </a:ln>
        </p:spPr>
      </p:sp>
      <p:sp>
        <p:nvSpPr>
          <p:cNvPr id="15" name="Text 13"/>
          <p:cNvSpPr txBox="1"/>
          <p:nvPr/>
        </p:nvSpPr>
        <p:spPr>
          <a:xfrm>
            <a:off x="777240" y="3584448"/>
            <a:ext cx="4572000" cy="320040"/>
          </a:xfrm>
          <a:prstGeom prst="rect">
            <a:avLst/>
          </a:prstGeom>
          <a:noFill/>
          <a:ln/>
        </p:spPr>
        <p:txBody>
          <a:bodyPr wrap="square" lIns="0" tIns="0" rIns="0" bIns="0" rtlCol="0" anchor="t"/>
          <a:lstStyle/>
          <a:p>
            <a:pPr indent="0" marL="0">
              <a:buNone/>
            </a:pPr>
            <a:r>
              <a:rPr lang="en-US" sz="1300" b="1" spc="200" kern="0" dirty="0">
                <a:solidFill>
                  <a:schemeClr val="accent4"/>
                </a:solidFill>
              </a:rPr>
              <a:t>LIMITES</a:t>
            </a:r>
            <a:endParaRPr lang="en-US" sz="1300" dirty="0"/>
          </a:p>
        </p:txBody>
      </p:sp>
      <p:sp>
        <p:nvSpPr>
          <p:cNvPr id="16" name="Text 14"/>
          <p:cNvSpPr txBox="1"/>
          <p:nvPr/>
        </p:nvSpPr>
        <p:spPr>
          <a:xfrm>
            <a:off x="777240" y="3977640"/>
            <a:ext cx="5029200" cy="14173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bg1"/>
                </a:solidFill>
              </a:rPr>
              <a:t>Ventes de 2014-2015, région de Seattle uniquement</a:t>
            </a:r>
            <a:endParaRPr lang="en-US" sz="1500" dirty="0"/>
          </a:p>
          <a:p>
            <a:pPr marL="342900" indent="-342900">
              <a:spcAft>
                <a:spcPts val="500"/>
              </a:spcAft>
              <a:buSzPct val="100000"/>
              <a:buChar char="•"/>
            </a:pPr>
            <a:r>
              <a:rPr lang="en-US" sz="1500" dirty="0">
                <a:solidFill>
                  <a:schemeClr val="bg1"/>
                </a:solidFill>
              </a:rPr>
              <a:t>Quelques grosses erreurs (RMSE ≫ MAE)</a:t>
            </a:r>
            <a:endParaRPr lang="en-US" sz="1500" dirty="0"/>
          </a:p>
          <a:p>
            <a:pPr marL="342900" indent="-342900">
              <a:spcAft>
                <a:spcPts val="500"/>
              </a:spcAft>
              <a:buSzPct val="100000"/>
              <a:buChar char="•"/>
            </a:pPr>
            <a:r>
              <a:rPr lang="en-US" sz="1500" dirty="0">
                <a:solidFill>
                  <a:schemeClr val="bg1"/>
                </a:solidFill>
              </a:rPr>
              <a:t>Il faut connaître latitude et longitude</a:t>
            </a:r>
            <a:endParaRPr lang="en-US" sz="1500" dirty="0"/>
          </a:p>
        </p:txBody>
      </p:sp>
      <p:sp>
        <p:nvSpPr>
          <p:cNvPr id="17" name="carte pistes"/>
          <p:cNvSpPr/>
          <p:nvPr/>
        </p:nvSpPr>
        <p:spPr>
          <a:xfrm>
            <a:off x="6199632" y="3474720"/>
            <a:ext cx="5440680" cy="2011680"/>
          </a:xfrm>
          <a:prstGeom prst="roundRect">
            <a:avLst>
              <a:gd name="adj" fmla="val 3636"/>
            </a:avLst>
          </a:prstGeom>
          <a:solidFill>
            <a:schemeClr val="tx2"/>
          </a:solidFill>
          <a:ln w="12700">
            <a:solidFill>
              <a:schemeClr val="accent1"/>
            </a:solidFill>
            <a:prstDash val="solid"/>
          </a:ln>
        </p:spPr>
      </p:sp>
      <p:sp>
        <p:nvSpPr>
          <p:cNvPr id="18" name="Text 16"/>
          <p:cNvSpPr txBox="1"/>
          <p:nvPr/>
        </p:nvSpPr>
        <p:spPr>
          <a:xfrm>
            <a:off x="6428232" y="3584448"/>
            <a:ext cx="45720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PISTES D'AMÉLIORATION</a:t>
            </a:r>
            <a:endParaRPr lang="en-US" sz="1300" dirty="0"/>
          </a:p>
        </p:txBody>
      </p:sp>
      <p:sp>
        <p:nvSpPr>
          <p:cNvPr id="19" name="Text 17"/>
          <p:cNvSpPr txBox="1"/>
          <p:nvPr/>
        </p:nvSpPr>
        <p:spPr>
          <a:xfrm>
            <a:off x="6428232" y="3977640"/>
            <a:ext cx="5029200" cy="14173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bg1"/>
                </a:solidFill>
              </a:rPr>
              <a:t>Données plus récentes, effet de la date</a:t>
            </a:r>
            <a:endParaRPr lang="en-US" sz="1500" dirty="0"/>
          </a:p>
          <a:p>
            <a:pPr marL="342900" indent="-342900">
              <a:spcAft>
                <a:spcPts val="500"/>
              </a:spcAft>
              <a:buSzPct val="100000"/>
              <a:buChar char="•"/>
            </a:pPr>
            <a:r>
              <a:rPr lang="en-US" sz="1500" dirty="0">
                <a:solidFill>
                  <a:schemeClr val="bg1"/>
                </a:solidFill>
              </a:rPr>
              <a:t>Saisir une adresse au lieu des coordonnées</a:t>
            </a:r>
            <a:endParaRPr lang="en-US" sz="1500" dirty="0"/>
          </a:p>
          <a:p>
            <a:pPr marL="342900" indent="-342900">
              <a:spcAft>
                <a:spcPts val="500"/>
              </a:spcAft>
              <a:buSzPct val="100000"/>
              <a:buChar char="•"/>
            </a:pPr>
            <a:r>
              <a:rPr lang="en-US" sz="1500" dirty="0">
                <a:solidFill>
                  <a:schemeClr val="bg1"/>
                </a:solidFill>
              </a:rPr>
              <a:t>Tester d'autres modèles (gradient boosting)</a:t>
            </a:r>
            <a:endParaRPr lang="en-US" sz="1500" dirty="0"/>
          </a:p>
        </p:txBody>
      </p:sp>
      <p:sp>
        <p:nvSpPr>
          <p:cNvPr id="20" name="Text 18"/>
          <p:cNvSpPr txBox="1"/>
          <p:nvPr/>
        </p:nvSpPr>
        <p:spPr>
          <a:xfrm>
            <a:off x="548640" y="5669280"/>
            <a:ext cx="11091672" cy="502920"/>
          </a:xfrm>
          <a:prstGeom prst="rect">
            <a:avLst/>
          </a:prstGeom>
          <a:noFill/>
          <a:ln/>
        </p:spPr>
        <p:txBody>
          <a:bodyPr wrap="square" lIns="0" tIns="0" rIns="0" bIns="0" rtlCol="0" anchor="ctr"/>
          <a:lstStyle/>
          <a:p>
            <a:pPr algn="ctr" indent="0" marL="0">
              <a:buNone/>
            </a:pPr>
            <a:r>
              <a:rPr lang="en-US" sz="2400" b="1" dirty="0">
                <a:solidFill>
                  <a:schemeClr val="bg1"/>
                </a:solidFill>
                <a:latin typeface="Arial" pitchFamily="34" charset="0"/>
                <a:ea typeface="Arial" pitchFamily="34" charset="-122"/>
                <a:cs typeface="Arial" pitchFamily="34" charset="-120"/>
              </a:rPr>
              <a:t>Merci !  Des questions ?</a:t>
            </a:r>
            <a:endParaRPr lang="en-US" sz="2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ANNEXE A</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Où se trouve quoi dans le projet ?</a:t>
            </a:r>
            <a:endParaRPr lang="en-US" sz="3400" dirty="0"/>
          </a:p>
        </p:txBody>
      </p:sp>
      <p:sp>
        <p:nvSpPr>
          <p:cNvPr id="4" name="fichier apartment_hunter.ipynb"/>
          <p:cNvSpPr/>
          <p:nvPr/>
        </p:nvSpPr>
        <p:spPr>
          <a:xfrm>
            <a:off x="548640" y="1508760"/>
            <a:ext cx="5431536" cy="1005840"/>
          </a:xfrm>
          <a:prstGeom prst="roundRect">
            <a:avLst>
              <a:gd name="adj" fmla="val 7273"/>
            </a:avLst>
          </a:prstGeom>
          <a:solidFill>
            <a:schemeClr val="tx2"/>
          </a:solidFill>
          <a:ln w="12700">
            <a:solidFill>
              <a:schemeClr val="accent5"/>
            </a:solidFill>
            <a:prstDash val="solid"/>
          </a:ln>
        </p:spPr>
      </p:sp>
      <p:sp>
        <p:nvSpPr>
          <p:cNvPr id="5" name="apartment_hunter.ipynb cercle"/>
          <p:cNvSpPr/>
          <p:nvPr/>
        </p:nvSpPr>
        <p:spPr>
          <a:xfrm>
            <a:off x="731520" y="1691640"/>
            <a:ext cx="640080" cy="640080"/>
          </a:xfrm>
          <a:prstGeom prst="ellipse">
            <a:avLst/>
          </a:prstGeom>
          <a:solidFill>
            <a:schemeClr val="accent6"/>
          </a:solidFill>
          <a:ln w="12700">
            <a:solidFill>
              <a:schemeClr val="accent5"/>
            </a:solidFill>
            <a:prstDash val="solid"/>
          </a:ln>
        </p:spPr>
      </p:sp>
      <p:pic>
        <p:nvPicPr>
          <p:cNvPr id="6" name="apartment_hunter.ipynb icône" descr="apartment_hunter.ipynb">    </p:cNvPr>
          <p:cNvPicPr>
            <a:picLocks noChangeAspect="1"/>
          </p:cNvPicPr>
          <p:nvPr/>
        </p:nvPicPr>
        <p:blipFill>
          <a:blip r:embed="rId1"/>
          <a:stretch>
            <a:fillRect/>
          </a:stretch>
        </p:blipFill>
        <p:spPr>
          <a:xfrm>
            <a:off x="897941" y="1858061"/>
            <a:ext cx="307238" cy="307238"/>
          </a:xfrm>
          <a:prstGeom prst="rect">
            <a:avLst/>
          </a:prstGeom>
        </p:spPr>
      </p:pic>
      <p:sp>
        <p:nvSpPr>
          <p:cNvPr id="7" name="Text 4"/>
          <p:cNvSpPr txBox="1"/>
          <p:nvPr/>
        </p:nvSpPr>
        <p:spPr>
          <a:xfrm>
            <a:off x="1554480" y="1618488"/>
            <a:ext cx="4297680" cy="384048"/>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apartment_hunter.ipynb</a:t>
            </a:r>
            <a:endParaRPr lang="en-US" sz="1500" dirty="0"/>
          </a:p>
        </p:txBody>
      </p:sp>
      <p:sp>
        <p:nvSpPr>
          <p:cNvPr id="8" name="Text 5"/>
          <p:cNvSpPr txBox="1"/>
          <p:nvPr/>
        </p:nvSpPr>
        <p:spPr>
          <a:xfrm>
            <a:off x="1554480" y="2011680"/>
            <a:ext cx="4297680" cy="384048"/>
          </a:xfrm>
          <a:prstGeom prst="rect">
            <a:avLst/>
          </a:prstGeom>
          <a:noFill/>
          <a:ln/>
        </p:spPr>
        <p:txBody>
          <a:bodyPr wrap="square" lIns="0" tIns="0" rIns="0" bIns="0" rtlCol="0" anchor="ctr"/>
          <a:lstStyle/>
          <a:p>
            <a:pPr indent="0" marL="0">
              <a:buNone/>
            </a:pPr>
            <a:r>
              <a:rPr lang="en-US" sz="1400" dirty="0">
                <a:solidFill>
                  <a:schemeClr val="bg1"/>
                </a:solidFill>
              </a:rPr>
              <a:t>nettoyage, graphiques, sélection, modèles, évaluation</a:t>
            </a:r>
            <a:endParaRPr lang="en-US" sz="1400" dirty="0"/>
          </a:p>
        </p:txBody>
      </p:sp>
      <p:sp>
        <p:nvSpPr>
          <p:cNvPr id="9" name="fichier data/kc_house_data.csv"/>
          <p:cNvSpPr/>
          <p:nvPr/>
        </p:nvSpPr>
        <p:spPr>
          <a:xfrm>
            <a:off x="6208776" y="1508760"/>
            <a:ext cx="5431536" cy="1005840"/>
          </a:xfrm>
          <a:prstGeom prst="roundRect">
            <a:avLst>
              <a:gd name="adj" fmla="val 7273"/>
            </a:avLst>
          </a:prstGeom>
          <a:solidFill>
            <a:schemeClr val="tx2"/>
          </a:solidFill>
          <a:ln w="12700">
            <a:solidFill>
              <a:schemeClr val="accent5"/>
            </a:solidFill>
            <a:prstDash val="solid"/>
          </a:ln>
        </p:spPr>
      </p:sp>
      <p:sp>
        <p:nvSpPr>
          <p:cNvPr id="10" name="data/kc_house_data.csv cercle"/>
          <p:cNvSpPr/>
          <p:nvPr/>
        </p:nvSpPr>
        <p:spPr>
          <a:xfrm>
            <a:off x="6391656" y="1691640"/>
            <a:ext cx="640080" cy="640080"/>
          </a:xfrm>
          <a:prstGeom prst="ellipse">
            <a:avLst/>
          </a:prstGeom>
          <a:solidFill>
            <a:schemeClr val="accent6"/>
          </a:solidFill>
          <a:ln w="12700">
            <a:solidFill>
              <a:schemeClr val="accent5"/>
            </a:solidFill>
            <a:prstDash val="solid"/>
          </a:ln>
        </p:spPr>
      </p:sp>
      <p:pic>
        <p:nvPicPr>
          <p:cNvPr id="11" name="data/kc_house_data.csv icône" descr="data/kc_house_data.csv">    </p:cNvPr>
          <p:cNvPicPr>
            <a:picLocks noChangeAspect="1"/>
          </p:cNvPicPr>
          <p:nvPr/>
        </p:nvPicPr>
        <p:blipFill>
          <a:blip r:embed="rId2"/>
          <a:stretch>
            <a:fillRect/>
          </a:stretch>
        </p:blipFill>
        <p:spPr>
          <a:xfrm>
            <a:off x="6558077" y="1858061"/>
            <a:ext cx="307238" cy="307238"/>
          </a:xfrm>
          <a:prstGeom prst="rect">
            <a:avLst/>
          </a:prstGeom>
        </p:spPr>
      </p:pic>
      <p:sp>
        <p:nvSpPr>
          <p:cNvPr id="12" name="Text 8"/>
          <p:cNvSpPr txBox="1"/>
          <p:nvPr/>
        </p:nvSpPr>
        <p:spPr>
          <a:xfrm>
            <a:off x="7214616" y="1618488"/>
            <a:ext cx="4297680" cy="384048"/>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data/kc_house_data.csv</a:t>
            </a:r>
            <a:endParaRPr lang="en-US" sz="1500" dirty="0"/>
          </a:p>
        </p:txBody>
      </p:sp>
      <p:sp>
        <p:nvSpPr>
          <p:cNvPr id="13" name="Text 9"/>
          <p:cNvSpPr txBox="1"/>
          <p:nvPr/>
        </p:nvSpPr>
        <p:spPr>
          <a:xfrm>
            <a:off x="7214616" y="2011680"/>
            <a:ext cx="4297680" cy="384048"/>
          </a:xfrm>
          <a:prstGeom prst="rect">
            <a:avLst/>
          </a:prstGeom>
          <a:noFill/>
          <a:ln/>
        </p:spPr>
        <p:txBody>
          <a:bodyPr wrap="square" lIns="0" tIns="0" rIns="0" bIns="0" rtlCol="0" anchor="ctr"/>
          <a:lstStyle/>
          <a:p>
            <a:pPr indent="0" marL="0">
              <a:buNone/>
            </a:pPr>
            <a:r>
              <a:rPr lang="en-US" sz="1400" dirty="0">
                <a:solidFill>
                  <a:schemeClr val="bg1"/>
                </a:solidFill>
              </a:rPr>
              <a:t>les données brutes : 21 613 ventes</a:t>
            </a:r>
            <a:endParaRPr lang="en-US" sz="1400" dirty="0"/>
          </a:p>
        </p:txBody>
      </p:sp>
      <p:sp>
        <p:nvSpPr>
          <p:cNvPr id="14" name="fichier model.pkl"/>
          <p:cNvSpPr/>
          <p:nvPr/>
        </p:nvSpPr>
        <p:spPr>
          <a:xfrm>
            <a:off x="548640" y="2670048"/>
            <a:ext cx="5431536" cy="1005840"/>
          </a:xfrm>
          <a:prstGeom prst="roundRect">
            <a:avLst>
              <a:gd name="adj" fmla="val 7273"/>
            </a:avLst>
          </a:prstGeom>
          <a:solidFill>
            <a:schemeClr val="tx2"/>
          </a:solidFill>
          <a:ln w="12700">
            <a:solidFill>
              <a:schemeClr val="accent5"/>
            </a:solidFill>
            <a:prstDash val="solid"/>
          </a:ln>
        </p:spPr>
      </p:sp>
      <p:sp>
        <p:nvSpPr>
          <p:cNvPr id="15" name="model.pkl cercle"/>
          <p:cNvSpPr/>
          <p:nvPr/>
        </p:nvSpPr>
        <p:spPr>
          <a:xfrm>
            <a:off x="731520" y="2852928"/>
            <a:ext cx="640080" cy="640080"/>
          </a:xfrm>
          <a:prstGeom prst="ellipse">
            <a:avLst/>
          </a:prstGeom>
          <a:solidFill>
            <a:schemeClr val="accent6"/>
          </a:solidFill>
          <a:ln w="12700">
            <a:solidFill>
              <a:schemeClr val="accent5"/>
            </a:solidFill>
            <a:prstDash val="solid"/>
          </a:ln>
        </p:spPr>
      </p:sp>
      <p:pic>
        <p:nvPicPr>
          <p:cNvPr id="16" name="model.pkl icône" descr="model.pkl">    </p:cNvPr>
          <p:cNvPicPr>
            <a:picLocks noChangeAspect="1"/>
          </p:cNvPicPr>
          <p:nvPr/>
        </p:nvPicPr>
        <p:blipFill>
          <a:blip r:embed="rId3"/>
          <a:stretch>
            <a:fillRect/>
          </a:stretch>
        </p:blipFill>
        <p:spPr>
          <a:xfrm>
            <a:off x="897941" y="3019349"/>
            <a:ext cx="307238" cy="307238"/>
          </a:xfrm>
          <a:prstGeom prst="rect">
            <a:avLst/>
          </a:prstGeom>
        </p:spPr>
      </p:pic>
      <p:sp>
        <p:nvSpPr>
          <p:cNvPr id="17" name="Text 12"/>
          <p:cNvSpPr txBox="1"/>
          <p:nvPr/>
        </p:nvSpPr>
        <p:spPr>
          <a:xfrm>
            <a:off x="1554480" y="2779776"/>
            <a:ext cx="4297680" cy="384048"/>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model.pkl</a:t>
            </a:r>
            <a:endParaRPr lang="en-US" sz="1500" dirty="0"/>
          </a:p>
        </p:txBody>
      </p:sp>
      <p:sp>
        <p:nvSpPr>
          <p:cNvPr id="18" name="Text 13"/>
          <p:cNvSpPr txBox="1"/>
          <p:nvPr/>
        </p:nvSpPr>
        <p:spPr>
          <a:xfrm>
            <a:off x="1554480" y="3172968"/>
            <a:ext cx="4297680" cy="384048"/>
          </a:xfrm>
          <a:prstGeom prst="rect">
            <a:avLst/>
          </a:prstGeom>
          <a:noFill/>
          <a:ln/>
        </p:spPr>
        <p:txBody>
          <a:bodyPr wrap="square" lIns="0" tIns="0" rIns="0" bIns="0" rtlCol="0" anchor="ctr"/>
          <a:lstStyle/>
          <a:p>
            <a:pPr indent="0" marL="0">
              <a:buNone/>
            </a:pPr>
            <a:r>
              <a:rPr lang="en-US" sz="1400" dirty="0">
                <a:solidFill>
                  <a:schemeClr val="bg1"/>
                </a:solidFill>
              </a:rPr>
              <a:t>la Random Forest entraînée (joblib, 26,3 Mo)</a:t>
            </a:r>
            <a:endParaRPr lang="en-US" sz="1400" dirty="0"/>
          </a:p>
        </p:txBody>
      </p:sp>
      <p:sp>
        <p:nvSpPr>
          <p:cNvPr id="19" name="fichier app.py"/>
          <p:cNvSpPr/>
          <p:nvPr/>
        </p:nvSpPr>
        <p:spPr>
          <a:xfrm>
            <a:off x="6208776" y="2670048"/>
            <a:ext cx="5431536" cy="1005840"/>
          </a:xfrm>
          <a:prstGeom prst="roundRect">
            <a:avLst>
              <a:gd name="adj" fmla="val 7273"/>
            </a:avLst>
          </a:prstGeom>
          <a:solidFill>
            <a:schemeClr val="tx2"/>
          </a:solidFill>
          <a:ln w="12700">
            <a:solidFill>
              <a:schemeClr val="accent5"/>
            </a:solidFill>
            <a:prstDash val="solid"/>
          </a:ln>
        </p:spPr>
      </p:sp>
      <p:sp>
        <p:nvSpPr>
          <p:cNvPr id="20" name="app.py cercle"/>
          <p:cNvSpPr/>
          <p:nvPr/>
        </p:nvSpPr>
        <p:spPr>
          <a:xfrm>
            <a:off x="6391656" y="2852928"/>
            <a:ext cx="640080" cy="640080"/>
          </a:xfrm>
          <a:prstGeom prst="ellipse">
            <a:avLst/>
          </a:prstGeom>
          <a:solidFill>
            <a:schemeClr val="accent6"/>
          </a:solidFill>
          <a:ln w="12700">
            <a:solidFill>
              <a:schemeClr val="accent5"/>
            </a:solidFill>
            <a:prstDash val="solid"/>
          </a:ln>
        </p:spPr>
      </p:sp>
      <p:pic>
        <p:nvPicPr>
          <p:cNvPr id="21" name="app.py icône" descr="app.py">    </p:cNvPr>
          <p:cNvPicPr>
            <a:picLocks noChangeAspect="1"/>
          </p:cNvPicPr>
          <p:nvPr/>
        </p:nvPicPr>
        <p:blipFill>
          <a:blip r:embed="rId4"/>
          <a:stretch>
            <a:fillRect/>
          </a:stretch>
        </p:blipFill>
        <p:spPr>
          <a:xfrm>
            <a:off x="6558077" y="3019349"/>
            <a:ext cx="307238" cy="307238"/>
          </a:xfrm>
          <a:prstGeom prst="rect">
            <a:avLst/>
          </a:prstGeom>
        </p:spPr>
      </p:pic>
      <p:sp>
        <p:nvSpPr>
          <p:cNvPr id="22" name="Text 16"/>
          <p:cNvSpPr txBox="1"/>
          <p:nvPr/>
        </p:nvSpPr>
        <p:spPr>
          <a:xfrm>
            <a:off x="7214616" y="2779776"/>
            <a:ext cx="4297680" cy="384048"/>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app.py</a:t>
            </a:r>
            <a:endParaRPr lang="en-US" sz="1500" dirty="0"/>
          </a:p>
        </p:txBody>
      </p:sp>
      <p:sp>
        <p:nvSpPr>
          <p:cNvPr id="23" name="Text 17"/>
          <p:cNvSpPr txBox="1"/>
          <p:nvPr/>
        </p:nvSpPr>
        <p:spPr>
          <a:xfrm>
            <a:off x="7214616" y="3172968"/>
            <a:ext cx="4297680" cy="384048"/>
          </a:xfrm>
          <a:prstGeom prst="rect">
            <a:avLst/>
          </a:prstGeom>
          <a:noFill/>
          <a:ln/>
        </p:spPr>
        <p:txBody>
          <a:bodyPr wrap="square" lIns="0" tIns="0" rIns="0" bIns="0" rtlCol="0" anchor="ctr"/>
          <a:lstStyle/>
          <a:p>
            <a:pPr indent="0" marL="0">
              <a:buNone/>
            </a:pPr>
            <a:r>
              <a:rPr lang="en-US" sz="1400" dirty="0">
                <a:solidFill>
                  <a:schemeClr val="bg1"/>
                </a:solidFill>
              </a:rPr>
              <a:t>l'application Flask : formulaire → prédiction</a:t>
            </a:r>
            <a:endParaRPr lang="en-US" sz="1400" dirty="0"/>
          </a:p>
        </p:txBody>
      </p:sp>
      <p:sp>
        <p:nvSpPr>
          <p:cNvPr id="24" name="fichier templates/index.html"/>
          <p:cNvSpPr/>
          <p:nvPr/>
        </p:nvSpPr>
        <p:spPr>
          <a:xfrm>
            <a:off x="548640" y="3831336"/>
            <a:ext cx="5431536" cy="1005840"/>
          </a:xfrm>
          <a:prstGeom prst="roundRect">
            <a:avLst>
              <a:gd name="adj" fmla="val 7273"/>
            </a:avLst>
          </a:prstGeom>
          <a:solidFill>
            <a:schemeClr val="tx2"/>
          </a:solidFill>
          <a:ln w="12700">
            <a:solidFill>
              <a:schemeClr val="accent5"/>
            </a:solidFill>
            <a:prstDash val="solid"/>
          </a:ln>
        </p:spPr>
      </p:sp>
      <p:sp>
        <p:nvSpPr>
          <p:cNvPr id="25" name="templates/index.html cercle"/>
          <p:cNvSpPr/>
          <p:nvPr/>
        </p:nvSpPr>
        <p:spPr>
          <a:xfrm>
            <a:off x="731520" y="4014216"/>
            <a:ext cx="640080" cy="640080"/>
          </a:xfrm>
          <a:prstGeom prst="ellipse">
            <a:avLst/>
          </a:prstGeom>
          <a:solidFill>
            <a:schemeClr val="accent6"/>
          </a:solidFill>
          <a:ln w="12700">
            <a:solidFill>
              <a:schemeClr val="accent5"/>
            </a:solidFill>
            <a:prstDash val="solid"/>
          </a:ln>
        </p:spPr>
      </p:sp>
      <p:pic>
        <p:nvPicPr>
          <p:cNvPr id="26" name="templates/index.html icône" descr="templates/index.html">    </p:cNvPr>
          <p:cNvPicPr>
            <a:picLocks noChangeAspect="1"/>
          </p:cNvPicPr>
          <p:nvPr/>
        </p:nvPicPr>
        <p:blipFill>
          <a:blip r:embed="rId5"/>
          <a:stretch>
            <a:fillRect/>
          </a:stretch>
        </p:blipFill>
        <p:spPr>
          <a:xfrm>
            <a:off x="897941" y="4180637"/>
            <a:ext cx="307238" cy="307238"/>
          </a:xfrm>
          <a:prstGeom prst="rect">
            <a:avLst/>
          </a:prstGeom>
        </p:spPr>
      </p:pic>
      <p:sp>
        <p:nvSpPr>
          <p:cNvPr id="27" name="Text 20"/>
          <p:cNvSpPr txBox="1"/>
          <p:nvPr/>
        </p:nvSpPr>
        <p:spPr>
          <a:xfrm>
            <a:off x="1554480" y="3941064"/>
            <a:ext cx="4297680" cy="384048"/>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templates/index.html</a:t>
            </a:r>
            <a:endParaRPr lang="en-US" sz="1500" dirty="0"/>
          </a:p>
        </p:txBody>
      </p:sp>
      <p:sp>
        <p:nvSpPr>
          <p:cNvPr id="28" name="Text 21"/>
          <p:cNvSpPr txBox="1"/>
          <p:nvPr/>
        </p:nvSpPr>
        <p:spPr>
          <a:xfrm>
            <a:off x="1554480" y="4334256"/>
            <a:ext cx="4297680" cy="384048"/>
          </a:xfrm>
          <a:prstGeom prst="rect">
            <a:avLst/>
          </a:prstGeom>
          <a:noFill/>
          <a:ln/>
        </p:spPr>
        <p:txBody>
          <a:bodyPr wrap="square" lIns="0" tIns="0" rIns="0" bIns="0" rtlCol="0" anchor="ctr"/>
          <a:lstStyle/>
          <a:p>
            <a:pPr indent="0" marL="0">
              <a:buNone/>
            </a:pPr>
            <a:r>
              <a:rPr lang="en-US" sz="1400" dirty="0">
                <a:solidFill>
                  <a:schemeClr val="bg1"/>
                </a:solidFill>
              </a:rPr>
              <a:t>la page visible par l'utilisateur</a:t>
            </a:r>
            <a:endParaRPr lang="en-US" sz="1400" dirty="0"/>
          </a:p>
        </p:txBody>
      </p:sp>
      <p:sp>
        <p:nvSpPr>
          <p:cNvPr id="29" name="fichier static/style.css"/>
          <p:cNvSpPr/>
          <p:nvPr/>
        </p:nvSpPr>
        <p:spPr>
          <a:xfrm>
            <a:off x="6208776" y="3831336"/>
            <a:ext cx="5431536" cy="1005840"/>
          </a:xfrm>
          <a:prstGeom prst="roundRect">
            <a:avLst>
              <a:gd name="adj" fmla="val 7273"/>
            </a:avLst>
          </a:prstGeom>
          <a:solidFill>
            <a:schemeClr val="tx2"/>
          </a:solidFill>
          <a:ln w="12700">
            <a:solidFill>
              <a:schemeClr val="accent5"/>
            </a:solidFill>
            <a:prstDash val="solid"/>
          </a:ln>
        </p:spPr>
      </p:sp>
      <p:sp>
        <p:nvSpPr>
          <p:cNvPr id="30" name="static/style.css cercle"/>
          <p:cNvSpPr/>
          <p:nvPr/>
        </p:nvSpPr>
        <p:spPr>
          <a:xfrm>
            <a:off x="6391656" y="4014216"/>
            <a:ext cx="640080" cy="640080"/>
          </a:xfrm>
          <a:prstGeom prst="ellipse">
            <a:avLst/>
          </a:prstGeom>
          <a:solidFill>
            <a:schemeClr val="accent6"/>
          </a:solidFill>
          <a:ln w="12700">
            <a:solidFill>
              <a:schemeClr val="accent5"/>
            </a:solidFill>
            <a:prstDash val="solid"/>
          </a:ln>
        </p:spPr>
      </p:sp>
      <p:pic>
        <p:nvPicPr>
          <p:cNvPr id="31" name="static/style.css icône" descr="static/style.css">    </p:cNvPr>
          <p:cNvPicPr>
            <a:picLocks noChangeAspect="1"/>
          </p:cNvPicPr>
          <p:nvPr/>
        </p:nvPicPr>
        <p:blipFill>
          <a:blip r:embed="rId6"/>
          <a:stretch>
            <a:fillRect/>
          </a:stretch>
        </p:blipFill>
        <p:spPr>
          <a:xfrm>
            <a:off x="6558077" y="4180637"/>
            <a:ext cx="307238" cy="307238"/>
          </a:xfrm>
          <a:prstGeom prst="rect">
            <a:avLst/>
          </a:prstGeom>
        </p:spPr>
      </p:pic>
      <p:sp>
        <p:nvSpPr>
          <p:cNvPr id="32" name="Text 24"/>
          <p:cNvSpPr txBox="1"/>
          <p:nvPr/>
        </p:nvSpPr>
        <p:spPr>
          <a:xfrm>
            <a:off x="7214616" y="3941064"/>
            <a:ext cx="4297680" cy="384048"/>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static/style.css</a:t>
            </a:r>
            <a:endParaRPr lang="en-US" sz="1500" dirty="0"/>
          </a:p>
        </p:txBody>
      </p:sp>
      <p:sp>
        <p:nvSpPr>
          <p:cNvPr id="33" name="Text 25"/>
          <p:cNvSpPr txBox="1"/>
          <p:nvPr/>
        </p:nvSpPr>
        <p:spPr>
          <a:xfrm>
            <a:off x="7214616" y="4334256"/>
            <a:ext cx="4297680" cy="384048"/>
          </a:xfrm>
          <a:prstGeom prst="rect">
            <a:avLst/>
          </a:prstGeom>
          <a:noFill/>
          <a:ln/>
        </p:spPr>
        <p:txBody>
          <a:bodyPr wrap="square" lIns="0" tIns="0" rIns="0" bIns="0" rtlCol="0" anchor="ctr"/>
          <a:lstStyle/>
          <a:p>
            <a:pPr indent="0" marL="0">
              <a:buNone/>
            </a:pPr>
            <a:r>
              <a:rPr lang="en-US" sz="1400" dirty="0">
                <a:solidFill>
                  <a:schemeClr val="bg1"/>
                </a:solidFill>
              </a:rPr>
              <a:t>la mise en forme de la page</a:t>
            </a:r>
            <a:endParaRPr lang="en-US" sz="1400" dirty="0"/>
          </a:p>
        </p:txBody>
      </p:sp>
      <p:sp>
        <p:nvSpPr>
          <p:cNvPr id="34" name="fichier requirements.txt"/>
          <p:cNvSpPr/>
          <p:nvPr/>
        </p:nvSpPr>
        <p:spPr>
          <a:xfrm>
            <a:off x="548640" y="4992624"/>
            <a:ext cx="5431536" cy="1005840"/>
          </a:xfrm>
          <a:prstGeom prst="roundRect">
            <a:avLst>
              <a:gd name="adj" fmla="val 7273"/>
            </a:avLst>
          </a:prstGeom>
          <a:solidFill>
            <a:schemeClr val="tx2"/>
          </a:solidFill>
          <a:ln w="12700">
            <a:solidFill>
              <a:schemeClr val="accent5"/>
            </a:solidFill>
            <a:prstDash val="solid"/>
          </a:ln>
        </p:spPr>
      </p:sp>
      <p:sp>
        <p:nvSpPr>
          <p:cNvPr id="35" name="requirements.txt cercle"/>
          <p:cNvSpPr/>
          <p:nvPr/>
        </p:nvSpPr>
        <p:spPr>
          <a:xfrm>
            <a:off x="731520" y="5175504"/>
            <a:ext cx="640080" cy="640080"/>
          </a:xfrm>
          <a:prstGeom prst="ellipse">
            <a:avLst/>
          </a:prstGeom>
          <a:solidFill>
            <a:schemeClr val="accent6"/>
          </a:solidFill>
          <a:ln w="12700">
            <a:solidFill>
              <a:schemeClr val="accent5"/>
            </a:solidFill>
            <a:prstDash val="solid"/>
          </a:ln>
        </p:spPr>
      </p:sp>
      <p:pic>
        <p:nvPicPr>
          <p:cNvPr id="36" name="requirements.txt icône" descr="requirements.txt">    </p:cNvPr>
          <p:cNvPicPr>
            <a:picLocks noChangeAspect="1"/>
          </p:cNvPicPr>
          <p:nvPr/>
        </p:nvPicPr>
        <p:blipFill>
          <a:blip r:embed="rId7"/>
          <a:stretch>
            <a:fillRect/>
          </a:stretch>
        </p:blipFill>
        <p:spPr>
          <a:xfrm>
            <a:off x="897941" y="5341925"/>
            <a:ext cx="307238" cy="307238"/>
          </a:xfrm>
          <a:prstGeom prst="rect">
            <a:avLst/>
          </a:prstGeom>
        </p:spPr>
      </p:pic>
      <p:sp>
        <p:nvSpPr>
          <p:cNvPr id="37" name="Text 28"/>
          <p:cNvSpPr txBox="1"/>
          <p:nvPr/>
        </p:nvSpPr>
        <p:spPr>
          <a:xfrm>
            <a:off x="1554480" y="5102352"/>
            <a:ext cx="4297680" cy="384048"/>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requirements.txt</a:t>
            </a:r>
            <a:endParaRPr lang="en-US" sz="1500" dirty="0"/>
          </a:p>
        </p:txBody>
      </p:sp>
      <p:sp>
        <p:nvSpPr>
          <p:cNvPr id="38" name="Text 29"/>
          <p:cNvSpPr txBox="1"/>
          <p:nvPr/>
        </p:nvSpPr>
        <p:spPr>
          <a:xfrm>
            <a:off x="1554480" y="5495544"/>
            <a:ext cx="4297680" cy="384048"/>
          </a:xfrm>
          <a:prstGeom prst="rect">
            <a:avLst/>
          </a:prstGeom>
          <a:noFill/>
          <a:ln/>
        </p:spPr>
        <p:txBody>
          <a:bodyPr wrap="square" lIns="0" tIns="0" rIns="0" bIns="0" rtlCol="0" anchor="ctr"/>
          <a:lstStyle/>
          <a:p>
            <a:pPr indent="0" marL="0">
              <a:buNone/>
            </a:pPr>
            <a:r>
              <a:rPr lang="en-US" sz="1400" dirty="0">
                <a:solidFill>
                  <a:schemeClr val="bg1"/>
                </a:solidFill>
              </a:rPr>
              <a:t>les librairies et leurs versions</a:t>
            </a:r>
            <a:endParaRPr lang="en-US" sz="1400" dirty="0"/>
          </a:p>
        </p:txBody>
      </p:sp>
      <p:sp>
        <p:nvSpPr>
          <p:cNvPr id="39" name="fichier Dockerfile"/>
          <p:cNvSpPr/>
          <p:nvPr/>
        </p:nvSpPr>
        <p:spPr>
          <a:xfrm>
            <a:off x="6208776" y="4992624"/>
            <a:ext cx="5431536" cy="1005840"/>
          </a:xfrm>
          <a:prstGeom prst="roundRect">
            <a:avLst>
              <a:gd name="adj" fmla="val 7273"/>
            </a:avLst>
          </a:prstGeom>
          <a:solidFill>
            <a:schemeClr val="tx2"/>
          </a:solidFill>
          <a:ln w="12700">
            <a:solidFill>
              <a:schemeClr val="accent5"/>
            </a:solidFill>
            <a:prstDash val="solid"/>
          </a:ln>
        </p:spPr>
      </p:sp>
      <p:sp>
        <p:nvSpPr>
          <p:cNvPr id="40" name="Dockerfile cercle"/>
          <p:cNvSpPr/>
          <p:nvPr/>
        </p:nvSpPr>
        <p:spPr>
          <a:xfrm>
            <a:off x="6391656" y="5175504"/>
            <a:ext cx="640080" cy="640080"/>
          </a:xfrm>
          <a:prstGeom prst="ellipse">
            <a:avLst/>
          </a:prstGeom>
          <a:solidFill>
            <a:schemeClr val="accent6"/>
          </a:solidFill>
          <a:ln w="12700">
            <a:solidFill>
              <a:schemeClr val="accent5"/>
            </a:solidFill>
            <a:prstDash val="solid"/>
          </a:ln>
        </p:spPr>
      </p:sp>
      <p:pic>
        <p:nvPicPr>
          <p:cNvPr id="41" name="Dockerfile icône" descr="Dockerfile">    </p:cNvPr>
          <p:cNvPicPr>
            <a:picLocks noChangeAspect="1"/>
          </p:cNvPicPr>
          <p:nvPr/>
        </p:nvPicPr>
        <p:blipFill>
          <a:blip r:embed="rId8"/>
          <a:stretch>
            <a:fillRect/>
          </a:stretch>
        </p:blipFill>
        <p:spPr>
          <a:xfrm>
            <a:off x="6558077" y="5341925"/>
            <a:ext cx="307238" cy="307238"/>
          </a:xfrm>
          <a:prstGeom prst="rect">
            <a:avLst/>
          </a:prstGeom>
        </p:spPr>
      </p:pic>
      <p:sp>
        <p:nvSpPr>
          <p:cNvPr id="42" name="Text 32"/>
          <p:cNvSpPr txBox="1"/>
          <p:nvPr/>
        </p:nvSpPr>
        <p:spPr>
          <a:xfrm>
            <a:off x="7214616" y="5102352"/>
            <a:ext cx="4297680" cy="384048"/>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Dockerfile</a:t>
            </a:r>
            <a:endParaRPr lang="en-US" sz="1500" dirty="0"/>
          </a:p>
        </p:txBody>
      </p:sp>
      <p:sp>
        <p:nvSpPr>
          <p:cNvPr id="43" name="Text 33"/>
          <p:cNvSpPr txBox="1"/>
          <p:nvPr/>
        </p:nvSpPr>
        <p:spPr>
          <a:xfrm>
            <a:off x="7214616" y="5495544"/>
            <a:ext cx="4297680" cy="384048"/>
          </a:xfrm>
          <a:prstGeom prst="rect">
            <a:avLst/>
          </a:prstGeom>
          <a:noFill/>
          <a:ln/>
        </p:spPr>
        <p:txBody>
          <a:bodyPr wrap="square" lIns="0" tIns="0" rIns="0" bIns="0" rtlCol="0" anchor="ctr"/>
          <a:lstStyle/>
          <a:p>
            <a:pPr indent="0" marL="0">
              <a:buNone/>
            </a:pPr>
            <a:r>
              <a:rPr lang="en-US" sz="1400" dirty="0">
                <a:solidFill>
                  <a:schemeClr val="bg1"/>
                </a:solidFill>
              </a:rPr>
              <a:t>la recette du conteneur Docker</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ANNEXE B</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Les 8 variables du modèle</a:t>
            </a:r>
            <a:endParaRPr lang="en-US" sz="3400" dirty="0"/>
          </a:p>
        </p:txBody>
      </p:sp>
      <p:sp>
        <p:nvSpPr>
          <p:cNvPr id="4" name="Text 2"/>
          <p:cNvSpPr txBox="1"/>
          <p:nvPr/>
        </p:nvSpPr>
        <p:spPr>
          <a:xfrm>
            <a:off x="777240" y="1463040"/>
            <a:ext cx="2377440" cy="274320"/>
          </a:xfrm>
          <a:prstGeom prst="rect">
            <a:avLst/>
          </a:prstGeom>
          <a:noFill/>
          <a:ln/>
        </p:spPr>
        <p:txBody>
          <a:bodyPr wrap="square" lIns="0" tIns="0" rIns="0" bIns="0" rtlCol="0" anchor="t"/>
          <a:lstStyle/>
          <a:p>
            <a:pPr indent="0" marL="0">
              <a:buNone/>
            </a:pPr>
            <a:r>
              <a:rPr lang="en-US" sz="1100" b="1" spc="200" kern="0" dirty="0">
                <a:solidFill>
                  <a:schemeClr val="bg2"/>
                </a:solidFill>
              </a:rPr>
              <a:t>VARIABLE</a:t>
            </a:r>
            <a:endParaRPr lang="en-US" sz="1100" dirty="0"/>
          </a:p>
        </p:txBody>
      </p:sp>
      <p:sp>
        <p:nvSpPr>
          <p:cNvPr id="5" name="Text 3"/>
          <p:cNvSpPr txBox="1"/>
          <p:nvPr/>
        </p:nvSpPr>
        <p:spPr>
          <a:xfrm>
            <a:off x="3154680" y="1463040"/>
            <a:ext cx="4114800" cy="274320"/>
          </a:xfrm>
          <a:prstGeom prst="rect">
            <a:avLst/>
          </a:prstGeom>
          <a:noFill/>
          <a:ln/>
        </p:spPr>
        <p:txBody>
          <a:bodyPr wrap="square" lIns="0" tIns="0" rIns="0" bIns="0" rtlCol="0" anchor="t"/>
          <a:lstStyle/>
          <a:p>
            <a:pPr indent="0" marL="0">
              <a:buNone/>
            </a:pPr>
            <a:r>
              <a:rPr lang="en-US" sz="1100" b="1" spc="200" kern="0" dirty="0">
                <a:solidFill>
                  <a:schemeClr val="bg2"/>
                </a:solidFill>
              </a:rPr>
              <a:t>EN FRANÇAIS</a:t>
            </a:r>
            <a:endParaRPr lang="en-US" sz="1100" dirty="0"/>
          </a:p>
        </p:txBody>
      </p:sp>
      <p:sp>
        <p:nvSpPr>
          <p:cNvPr id="6" name="Text 4"/>
          <p:cNvSpPr txBox="1"/>
          <p:nvPr/>
        </p:nvSpPr>
        <p:spPr>
          <a:xfrm>
            <a:off x="7498080" y="1463040"/>
            <a:ext cx="4114800" cy="274320"/>
          </a:xfrm>
          <a:prstGeom prst="rect">
            <a:avLst/>
          </a:prstGeom>
          <a:noFill/>
          <a:ln/>
        </p:spPr>
        <p:txBody>
          <a:bodyPr wrap="square" lIns="0" tIns="0" rIns="0" bIns="0" rtlCol="0" anchor="t"/>
          <a:lstStyle/>
          <a:p>
            <a:pPr indent="0" marL="0">
              <a:buNone/>
            </a:pPr>
            <a:r>
              <a:rPr lang="en-US" sz="1100" b="1" spc="200" kern="0" dirty="0">
                <a:solidFill>
                  <a:schemeClr val="bg2"/>
                </a:solidFill>
              </a:rPr>
              <a:t>IMPORTANCE DANS LE MODÈLE</a:t>
            </a:r>
            <a:endParaRPr lang="en-US" sz="1100" dirty="0"/>
          </a:p>
        </p:txBody>
      </p:sp>
      <p:sp>
        <p:nvSpPr>
          <p:cNvPr id="7" name="ligne sqft_living"/>
          <p:cNvSpPr/>
          <p:nvPr/>
        </p:nvSpPr>
        <p:spPr>
          <a:xfrm>
            <a:off x="548640" y="1810512"/>
            <a:ext cx="11091672" cy="475488"/>
          </a:xfrm>
          <a:prstGeom prst="roundRect">
            <a:avLst>
              <a:gd name="adj" fmla="val 15385"/>
            </a:avLst>
          </a:prstGeom>
          <a:solidFill>
            <a:schemeClr val="tx2"/>
          </a:solidFill>
          <a:ln/>
        </p:spPr>
      </p:sp>
      <p:sp>
        <p:nvSpPr>
          <p:cNvPr id="8" name="Text 6"/>
          <p:cNvSpPr txBox="1"/>
          <p:nvPr/>
        </p:nvSpPr>
        <p:spPr>
          <a:xfrm>
            <a:off x="777240" y="1810512"/>
            <a:ext cx="2286000" cy="47548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sqft_living</a:t>
            </a:r>
            <a:endParaRPr lang="en-US" sz="1400" dirty="0"/>
          </a:p>
        </p:txBody>
      </p:sp>
      <p:sp>
        <p:nvSpPr>
          <p:cNvPr id="9" name="Text 7"/>
          <p:cNvSpPr txBox="1"/>
          <p:nvPr/>
        </p:nvSpPr>
        <p:spPr>
          <a:xfrm>
            <a:off x="3154680" y="1810512"/>
            <a:ext cx="4206240" cy="475488"/>
          </a:xfrm>
          <a:prstGeom prst="rect">
            <a:avLst/>
          </a:prstGeom>
          <a:noFill/>
          <a:ln/>
        </p:spPr>
        <p:txBody>
          <a:bodyPr wrap="square" lIns="0" tIns="0" rIns="0" bIns="0" rtlCol="0" anchor="ctr"/>
          <a:lstStyle/>
          <a:p>
            <a:pPr indent="0" marL="0">
              <a:buNone/>
            </a:pPr>
            <a:r>
              <a:rPr lang="en-US" sz="1400" dirty="0">
                <a:solidFill>
                  <a:schemeClr val="bg1"/>
                </a:solidFill>
              </a:rPr>
              <a:t>surface habitable (pieds²)</a:t>
            </a:r>
            <a:endParaRPr lang="en-US" sz="1400" dirty="0"/>
          </a:p>
        </p:txBody>
      </p:sp>
      <p:sp>
        <p:nvSpPr>
          <p:cNvPr id="10" name="barre sqft_living"/>
          <p:cNvSpPr/>
          <p:nvPr/>
        </p:nvSpPr>
        <p:spPr>
          <a:xfrm>
            <a:off x="7498080" y="1947672"/>
            <a:ext cx="3108960" cy="201168"/>
          </a:xfrm>
          <a:prstGeom prst="roundRect">
            <a:avLst>
              <a:gd name="adj" fmla="val 18182"/>
            </a:avLst>
          </a:prstGeom>
          <a:solidFill>
            <a:schemeClr val="accent3"/>
          </a:solidFill>
          <a:ln/>
        </p:spPr>
      </p:sp>
      <p:sp>
        <p:nvSpPr>
          <p:cNvPr id="11" name="Text 9"/>
          <p:cNvSpPr txBox="1"/>
          <p:nvPr/>
        </p:nvSpPr>
        <p:spPr>
          <a:xfrm>
            <a:off x="10744200" y="1810512"/>
            <a:ext cx="822960" cy="475488"/>
          </a:xfrm>
          <a:prstGeom prst="rect">
            <a:avLst/>
          </a:prstGeom>
          <a:noFill/>
          <a:ln/>
        </p:spPr>
        <p:txBody>
          <a:bodyPr wrap="square" lIns="0" tIns="0" rIns="0" bIns="0" rtlCol="0" anchor="ctr"/>
          <a:lstStyle/>
          <a:p>
            <a:pPr algn="r" indent="0" marL="0">
              <a:buNone/>
            </a:pPr>
            <a:r>
              <a:rPr lang="en-US" sz="1300" dirty="0">
                <a:solidFill>
                  <a:schemeClr val="bg2"/>
                </a:solidFill>
              </a:rPr>
              <a:t>0,319</a:t>
            </a:r>
            <a:endParaRPr lang="en-US" sz="1300" dirty="0"/>
          </a:p>
        </p:txBody>
      </p:sp>
      <p:sp>
        <p:nvSpPr>
          <p:cNvPr id="12" name="ligne grade"/>
          <p:cNvSpPr/>
          <p:nvPr/>
        </p:nvSpPr>
        <p:spPr>
          <a:xfrm>
            <a:off x="548640" y="2331720"/>
            <a:ext cx="11091672" cy="475488"/>
          </a:xfrm>
          <a:prstGeom prst="roundRect">
            <a:avLst>
              <a:gd name="adj" fmla="val 15385"/>
            </a:avLst>
          </a:prstGeom>
          <a:solidFill>
            <a:schemeClr val="accent6"/>
          </a:solidFill>
          <a:ln/>
        </p:spPr>
      </p:sp>
      <p:sp>
        <p:nvSpPr>
          <p:cNvPr id="13" name="Text 11"/>
          <p:cNvSpPr txBox="1"/>
          <p:nvPr/>
        </p:nvSpPr>
        <p:spPr>
          <a:xfrm>
            <a:off x="777240" y="2331720"/>
            <a:ext cx="2286000" cy="47548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grade</a:t>
            </a:r>
            <a:endParaRPr lang="en-US" sz="1400" dirty="0"/>
          </a:p>
        </p:txBody>
      </p:sp>
      <p:sp>
        <p:nvSpPr>
          <p:cNvPr id="14" name="Text 12"/>
          <p:cNvSpPr txBox="1"/>
          <p:nvPr/>
        </p:nvSpPr>
        <p:spPr>
          <a:xfrm>
            <a:off x="3154680" y="2331720"/>
            <a:ext cx="4206240" cy="475488"/>
          </a:xfrm>
          <a:prstGeom prst="rect">
            <a:avLst/>
          </a:prstGeom>
          <a:noFill/>
          <a:ln/>
        </p:spPr>
        <p:txBody>
          <a:bodyPr wrap="square" lIns="0" tIns="0" rIns="0" bIns="0" rtlCol="0" anchor="ctr"/>
          <a:lstStyle/>
          <a:p>
            <a:pPr indent="0" marL="0">
              <a:buNone/>
            </a:pPr>
            <a:r>
              <a:rPr lang="en-US" sz="1400" dirty="0">
                <a:solidFill>
                  <a:schemeClr val="bg1"/>
                </a:solidFill>
              </a:rPr>
              <a:t>qualité de construction, 1 à 13 (7 = moyen)</a:t>
            </a:r>
            <a:endParaRPr lang="en-US" sz="1400" dirty="0"/>
          </a:p>
        </p:txBody>
      </p:sp>
      <p:sp>
        <p:nvSpPr>
          <p:cNvPr id="15" name="barre grade"/>
          <p:cNvSpPr/>
          <p:nvPr/>
        </p:nvSpPr>
        <p:spPr>
          <a:xfrm>
            <a:off x="7498080" y="2468880"/>
            <a:ext cx="3030992" cy="201168"/>
          </a:xfrm>
          <a:prstGeom prst="roundRect">
            <a:avLst>
              <a:gd name="adj" fmla="val 18182"/>
            </a:avLst>
          </a:prstGeom>
          <a:solidFill>
            <a:schemeClr val="accent3"/>
          </a:solidFill>
          <a:ln/>
        </p:spPr>
      </p:sp>
      <p:sp>
        <p:nvSpPr>
          <p:cNvPr id="16" name="Text 14"/>
          <p:cNvSpPr txBox="1"/>
          <p:nvPr/>
        </p:nvSpPr>
        <p:spPr>
          <a:xfrm>
            <a:off x="10744200" y="2331720"/>
            <a:ext cx="822960" cy="475488"/>
          </a:xfrm>
          <a:prstGeom prst="rect">
            <a:avLst/>
          </a:prstGeom>
          <a:noFill/>
          <a:ln/>
        </p:spPr>
        <p:txBody>
          <a:bodyPr wrap="square" lIns="0" tIns="0" rIns="0" bIns="0" rtlCol="0" anchor="ctr"/>
          <a:lstStyle/>
          <a:p>
            <a:pPr algn="r" indent="0" marL="0">
              <a:buNone/>
            </a:pPr>
            <a:r>
              <a:rPr lang="en-US" sz="1300" dirty="0">
                <a:solidFill>
                  <a:schemeClr val="bg2"/>
                </a:solidFill>
              </a:rPr>
              <a:t>0,311</a:t>
            </a:r>
            <a:endParaRPr lang="en-US" sz="1300" dirty="0"/>
          </a:p>
        </p:txBody>
      </p:sp>
      <p:sp>
        <p:nvSpPr>
          <p:cNvPr id="17" name="ligne lat"/>
          <p:cNvSpPr/>
          <p:nvPr/>
        </p:nvSpPr>
        <p:spPr>
          <a:xfrm>
            <a:off x="548640" y="2852928"/>
            <a:ext cx="11091672" cy="475488"/>
          </a:xfrm>
          <a:prstGeom prst="roundRect">
            <a:avLst>
              <a:gd name="adj" fmla="val 15385"/>
            </a:avLst>
          </a:prstGeom>
          <a:solidFill>
            <a:schemeClr val="tx2"/>
          </a:solidFill>
          <a:ln/>
        </p:spPr>
      </p:sp>
      <p:sp>
        <p:nvSpPr>
          <p:cNvPr id="18" name="Text 16"/>
          <p:cNvSpPr txBox="1"/>
          <p:nvPr/>
        </p:nvSpPr>
        <p:spPr>
          <a:xfrm>
            <a:off x="777240" y="2852928"/>
            <a:ext cx="2286000" cy="47548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lat</a:t>
            </a:r>
            <a:endParaRPr lang="en-US" sz="1400" dirty="0"/>
          </a:p>
        </p:txBody>
      </p:sp>
      <p:sp>
        <p:nvSpPr>
          <p:cNvPr id="19" name="Text 17"/>
          <p:cNvSpPr txBox="1"/>
          <p:nvPr/>
        </p:nvSpPr>
        <p:spPr>
          <a:xfrm>
            <a:off x="3154680" y="2852928"/>
            <a:ext cx="4206240" cy="475488"/>
          </a:xfrm>
          <a:prstGeom prst="rect">
            <a:avLst/>
          </a:prstGeom>
          <a:noFill/>
          <a:ln/>
        </p:spPr>
        <p:txBody>
          <a:bodyPr wrap="square" lIns="0" tIns="0" rIns="0" bIns="0" rtlCol="0" anchor="ctr"/>
          <a:lstStyle/>
          <a:p>
            <a:pPr indent="0" marL="0">
              <a:buNone/>
            </a:pPr>
            <a:r>
              <a:rPr lang="en-US" sz="1400" dirty="0">
                <a:solidFill>
                  <a:schemeClr val="bg1"/>
                </a:solidFill>
              </a:rPr>
              <a:t>latitude : position nord-sud</a:t>
            </a:r>
            <a:endParaRPr lang="en-US" sz="1400" dirty="0"/>
          </a:p>
        </p:txBody>
      </p:sp>
      <p:sp>
        <p:nvSpPr>
          <p:cNvPr id="20" name="barre lat"/>
          <p:cNvSpPr/>
          <p:nvPr/>
        </p:nvSpPr>
        <p:spPr>
          <a:xfrm>
            <a:off x="7498080" y="2990088"/>
            <a:ext cx="1832240" cy="201168"/>
          </a:xfrm>
          <a:prstGeom prst="roundRect">
            <a:avLst>
              <a:gd name="adj" fmla="val 18182"/>
            </a:avLst>
          </a:prstGeom>
          <a:solidFill>
            <a:schemeClr val="accent1"/>
          </a:solidFill>
          <a:ln/>
        </p:spPr>
      </p:sp>
      <p:sp>
        <p:nvSpPr>
          <p:cNvPr id="21" name="Text 19"/>
          <p:cNvSpPr txBox="1"/>
          <p:nvPr/>
        </p:nvSpPr>
        <p:spPr>
          <a:xfrm>
            <a:off x="10744200" y="2852928"/>
            <a:ext cx="822960" cy="475488"/>
          </a:xfrm>
          <a:prstGeom prst="rect">
            <a:avLst/>
          </a:prstGeom>
          <a:noFill/>
          <a:ln/>
        </p:spPr>
        <p:txBody>
          <a:bodyPr wrap="square" lIns="0" tIns="0" rIns="0" bIns="0" rtlCol="0" anchor="ctr"/>
          <a:lstStyle/>
          <a:p>
            <a:pPr algn="r" indent="0" marL="0">
              <a:buNone/>
            </a:pPr>
            <a:r>
              <a:rPr lang="en-US" sz="1300" dirty="0">
                <a:solidFill>
                  <a:schemeClr val="bg2"/>
                </a:solidFill>
              </a:rPr>
              <a:t>0,188</a:t>
            </a:r>
            <a:endParaRPr lang="en-US" sz="1300" dirty="0"/>
          </a:p>
        </p:txBody>
      </p:sp>
      <p:sp>
        <p:nvSpPr>
          <p:cNvPr id="22" name="ligne long"/>
          <p:cNvSpPr/>
          <p:nvPr/>
        </p:nvSpPr>
        <p:spPr>
          <a:xfrm>
            <a:off x="548640" y="3374136"/>
            <a:ext cx="11091672" cy="475488"/>
          </a:xfrm>
          <a:prstGeom prst="roundRect">
            <a:avLst>
              <a:gd name="adj" fmla="val 15385"/>
            </a:avLst>
          </a:prstGeom>
          <a:solidFill>
            <a:schemeClr val="accent6"/>
          </a:solidFill>
          <a:ln/>
        </p:spPr>
      </p:sp>
      <p:sp>
        <p:nvSpPr>
          <p:cNvPr id="23" name="Text 21"/>
          <p:cNvSpPr txBox="1"/>
          <p:nvPr/>
        </p:nvSpPr>
        <p:spPr>
          <a:xfrm>
            <a:off x="777240" y="3374136"/>
            <a:ext cx="2286000" cy="47548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long</a:t>
            </a:r>
            <a:endParaRPr lang="en-US" sz="1400" dirty="0"/>
          </a:p>
        </p:txBody>
      </p:sp>
      <p:sp>
        <p:nvSpPr>
          <p:cNvPr id="24" name="Text 22"/>
          <p:cNvSpPr txBox="1"/>
          <p:nvPr/>
        </p:nvSpPr>
        <p:spPr>
          <a:xfrm>
            <a:off x="3154680" y="3374136"/>
            <a:ext cx="4206240" cy="475488"/>
          </a:xfrm>
          <a:prstGeom prst="rect">
            <a:avLst/>
          </a:prstGeom>
          <a:noFill/>
          <a:ln/>
        </p:spPr>
        <p:txBody>
          <a:bodyPr wrap="square" lIns="0" tIns="0" rIns="0" bIns="0" rtlCol="0" anchor="ctr"/>
          <a:lstStyle/>
          <a:p>
            <a:pPr indent="0" marL="0">
              <a:buNone/>
            </a:pPr>
            <a:r>
              <a:rPr lang="en-US" sz="1400" dirty="0">
                <a:solidFill>
                  <a:schemeClr val="bg1"/>
                </a:solidFill>
              </a:rPr>
              <a:t>longitude : position est-ouest</a:t>
            </a:r>
            <a:endParaRPr lang="en-US" sz="1400" dirty="0"/>
          </a:p>
        </p:txBody>
      </p:sp>
      <p:sp>
        <p:nvSpPr>
          <p:cNvPr id="25" name="barre long"/>
          <p:cNvSpPr/>
          <p:nvPr/>
        </p:nvSpPr>
        <p:spPr>
          <a:xfrm>
            <a:off x="7498080" y="3511296"/>
            <a:ext cx="906374" cy="201168"/>
          </a:xfrm>
          <a:prstGeom prst="roundRect">
            <a:avLst>
              <a:gd name="adj" fmla="val 18182"/>
            </a:avLst>
          </a:prstGeom>
          <a:solidFill>
            <a:schemeClr val="accent1"/>
          </a:solidFill>
          <a:ln/>
        </p:spPr>
      </p:sp>
      <p:sp>
        <p:nvSpPr>
          <p:cNvPr id="26" name="Text 24"/>
          <p:cNvSpPr txBox="1"/>
          <p:nvPr/>
        </p:nvSpPr>
        <p:spPr>
          <a:xfrm>
            <a:off x="10744200" y="3374136"/>
            <a:ext cx="822960" cy="475488"/>
          </a:xfrm>
          <a:prstGeom prst="rect">
            <a:avLst/>
          </a:prstGeom>
          <a:noFill/>
          <a:ln/>
        </p:spPr>
        <p:txBody>
          <a:bodyPr wrap="square" lIns="0" tIns="0" rIns="0" bIns="0" rtlCol="0" anchor="ctr"/>
          <a:lstStyle/>
          <a:p>
            <a:pPr algn="r" indent="0" marL="0">
              <a:buNone/>
            </a:pPr>
            <a:r>
              <a:rPr lang="en-US" sz="1300" dirty="0">
                <a:solidFill>
                  <a:schemeClr val="bg2"/>
                </a:solidFill>
              </a:rPr>
              <a:t>0,093</a:t>
            </a:r>
            <a:endParaRPr lang="en-US" sz="1300" dirty="0"/>
          </a:p>
        </p:txBody>
      </p:sp>
      <p:sp>
        <p:nvSpPr>
          <p:cNvPr id="27" name="ligne waterfront"/>
          <p:cNvSpPr/>
          <p:nvPr/>
        </p:nvSpPr>
        <p:spPr>
          <a:xfrm>
            <a:off x="548640" y="3895344"/>
            <a:ext cx="11091672" cy="475488"/>
          </a:xfrm>
          <a:prstGeom prst="roundRect">
            <a:avLst>
              <a:gd name="adj" fmla="val 15385"/>
            </a:avLst>
          </a:prstGeom>
          <a:solidFill>
            <a:schemeClr val="tx2"/>
          </a:solidFill>
          <a:ln/>
        </p:spPr>
      </p:sp>
      <p:sp>
        <p:nvSpPr>
          <p:cNvPr id="28" name="Text 26"/>
          <p:cNvSpPr txBox="1"/>
          <p:nvPr/>
        </p:nvSpPr>
        <p:spPr>
          <a:xfrm>
            <a:off x="777240" y="3895344"/>
            <a:ext cx="2286000" cy="47548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waterfront</a:t>
            </a:r>
            <a:endParaRPr lang="en-US" sz="1400" dirty="0"/>
          </a:p>
        </p:txBody>
      </p:sp>
      <p:sp>
        <p:nvSpPr>
          <p:cNvPr id="29" name="Text 27"/>
          <p:cNvSpPr txBox="1"/>
          <p:nvPr/>
        </p:nvSpPr>
        <p:spPr>
          <a:xfrm>
            <a:off x="3154680" y="3895344"/>
            <a:ext cx="4206240" cy="475488"/>
          </a:xfrm>
          <a:prstGeom prst="rect">
            <a:avLst/>
          </a:prstGeom>
          <a:noFill/>
          <a:ln/>
        </p:spPr>
        <p:txBody>
          <a:bodyPr wrap="square" lIns="0" tIns="0" rIns="0" bIns="0" rtlCol="0" anchor="ctr"/>
          <a:lstStyle/>
          <a:p>
            <a:pPr indent="0" marL="0">
              <a:buNone/>
            </a:pPr>
            <a:r>
              <a:rPr lang="en-US" sz="1400" dirty="0">
                <a:solidFill>
                  <a:schemeClr val="bg1"/>
                </a:solidFill>
              </a:rPr>
              <a:t>vue sur l'eau (0 = non, 1 = oui)</a:t>
            </a:r>
            <a:endParaRPr lang="en-US" sz="1400" dirty="0"/>
          </a:p>
        </p:txBody>
      </p:sp>
      <p:sp>
        <p:nvSpPr>
          <p:cNvPr id="30" name="barre waterfront"/>
          <p:cNvSpPr/>
          <p:nvPr/>
        </p:nvSpPr>
        <p:spPr>
          <a:xfrm>
            <a:off x="7498080" y="4032504"/>
            <a:ext cx="399584" cy="201168"/>
          </a:xfrm>
          <a:prstGeom prst="roundRect">
            <a:avLst>
              <a:gd name="adj" fmla="val 18182"/>
            </a:avLst>
          </a:prstGeom>
          <a:solidFill>
            <a:schemeClr val="accent1"/>
          </a:solidFill>
          <a:ln/>
        </p:spPr>
      </p:sp>
      <p:sp>
        <p:nvSpPr>
          <p:cNvPr id="31" name="Text 29"/>
          <p:cNvSpPr txBox="1"/>
          <p:nvPr/>
        </p:nvSpPr>
        <p:spPr>
          <a:xfrm>
            <a:off x="10744200" y="3895344"/>
            <a:ext cx="822960" cy="475488"/>
          </a:xfrm>
          <a:prstGeom prst="rect">
            <a:avLst/>
          </a:prstGeom>
          <a:noFill/>
          <a:ln/>
        </p:spPr>
        <p:txBody>
          <a:bodyPr wrap="square" lIns="0" tIns="0" rIns="0" bIns="0" rtlCol="0" anchor="ctr"/>
          <a:lstStyle/>
          <a:p>
            <a:pPr algn="r" indent="0" marL="0">
              <a:buNone/>
            </a:pPr>
            <a:r>
              <a:rPr lang="en-US" sz="1300" dirty="0">
                <a:solidFill>
                  <a:schemeClr val="bg2"/>
                </a:solidFill>
              </a:rPr>
              <a:t>0,041</a:t>
            </a:r>
            <a:endParaRPr lang="en-US" sz="1300" dirty="0"/>
          </a:p>
        </p:txBody>
      </p:sp>
      <p:sp>
        <p:nvSpPr>
          <p:cNvPr id="32" name="ligne sqft_lot"/>
          <p:cNvSpPr/>
          <p:nvPr/>
        </p:nvSpPr>
        <p:spPr>
          <a:xfrm>
            <a:off x="548640" y="4416552"/>
            <a:ext cx="11091672" cy="475488"/>
          </a:xfrm>
          <a:prstGeom prst="roundRect">
            <a:avLst>
              <a:gd name="adj" fmla="val 15385"/>
            </a:avLst>
          </a:prstGeom>
          <a:solidFill>
            <a:schemeClr val="accent6"/>
          </a:solidFill>
          <a:ln/>
        </p:spPr>
      </p:sp>
      <p:sp>
        <p:nvSpPr>
          <p:cNvPr id="33" name="Text 31"/>
          <p:cNvSpPr txBox="1"/>
          <p:nvPr/>
        </p:nvSpPr>
        <p:spPr>
          <a:xfrm>
            <a:off x="777240" y="4416552"/>
            <a:ext cx="2286000" cy="47548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sqft_lot</a:t>
            </a:r>
            <a:endParaRPr lang="en-US" sz="1400" dirty="0"/>
          </a:p>
        </p:txBody>
      </p:sp>
      <p:sp>
        <p:nvSpPr>
          <p:cNvPr id="34" name="Text 32"/>
          <p:cNvSpPr txBox="1"/>
          <p:nvPr/>
        </p:nvSpPr>
        <p:spPr>
          <a:xfrm>
            <a:off x="3154680" y="4416552"/>
            <a:ext cx="4206240" cy="475488"/>
          </a:xfrm>
          <a:prstGeom prst="rect">
            <a:avLst/>
          </a:prstGeom>
          <a:noFill/>
          <a:ln/>
        </p:spPr>
        <p:txBody>
          <a:bodyPr wrap="square" lIns="0" tIns="0" rIns="0" bIns="0" rtlCol="0" anchor="ctr"/>
          <a:lstStyle/>
          <a:p>
            <a:pPr indent="0" marL="0">
              <a:buNone/>
            </a:pPr>
            <a:r>
              <a:rPr lang="en-US" sz="1400" dirty="0">
                <a:solidFill>
                  <a:schemeClr val="bg1"/>
                </a:solidFill>
              </a:rPr>
              <a:t>surface du terrain (pieds²)</a:t>
            </a:r>
            <a:endParaRPr lang="en-US" sz="1400" dirty="0"/>
          </a:p>
        </p:txBody>
      </p:sp>
      <p:sp>
        <p:nvSpPr>
          <p:cNvPr id="35" name="barre sqft_lot"/>
          <p:cNvSpPr/>
          <p:nvPr/>
        </p:nvSpPr>
        <p:spPr>
          <a:xfrm>
            <a:off x="7498080" y="4553712"/>
            <a:ext cx="370346" cy="201168"/>
          </a:xfrm>
          <a:prstGeom prst="roundRect">
            <a:avLst>
              <a:gd name="adj" fmla="val 18182"/>
            </a:avLst>
          </a:prstGeom>
          <a:solidFill>
            <a:schemeClr val="accent1"/>
          </a:solidFill>
          <a:ln/>
        </p:spPr>
      </p:sp>
      <p:sp>
        <p:nvSpPr>
          <p:cNvPr id="36" name="Text 34"/>
          <p:cNvSpPr txBox="1"/>
          <p:nvPr/>
        </p:nvSpPr>
        <p:spPr>
          <a:xfrm>
            <a:off x="10744200" y="4416552"/>
            <a:ext cx="822960" cy="475488"/>
          </a:xfrm>
          <a:prstGeom prst="rect">
            <a:avLst/>
          </a:prstGeom>
          <a:noFill/>
          <a:ln/>
        </p:spPr>
        <p:txBody>
          <a:bodyPr wrap="square" lIns="0" tIns="0" rIns="0" bIns="0" rtlCol="0" anchor="ctr"/>
          <a:lstStyle/>
          <a:p>
            <a:pPr algn="r" indent="0" marL="0">
              <a:buNone/>
            </a:pPr>
            <a:r>
              <a:rPr lang="en-US" sz="1300" dirty="0">
                <a:solidFill>
                  <a:schemeClr val="bg2"/>
                </a:solidFill>
              </a:rPr>
              <a:t>0,038</a:t>
            </a:r>
            <a:endParaRPr lang="en-US" sz="1300" dirty="0"/>
          </a:p>
        </p:txBody>
      </p:sp>
      <p:sp>
        <p:nvSpPr>
          <p:cNvPr id="37" name="ligne bedrooms"/>
          <p:cNvSpPr/>
          <p:nvPr/>
        </p:nvSpPr>
        <p:spPr>
          <a:xfrm>
            <a:off x="548640" y="4937760"/>
            <a:ext cx="11091672" cy="475488"/>
          </a:xfrm>
          <a:prstGeom prst="roundRect">
            <a:avLst>
              <a:gd name="adj" fmla="val 15385"/>
            </a:avLst>
          </a:prstGeom>
          <a:solidFill>
            <a:schemeClr val="tx2"/>
          </a:solidFill>
          <a:ln/>
        </p:spPr>
      </p:sp>
      <p:sp>
        <p:nvSpPr>
          <p:cNvPr id="38" name="Text 36"/>
          <p:cNvSpPr txBox="1"/>
          <p:nvPr/>
        </p:nvSpPr>
        <p:spPr>
          <a:xfrm>
            <a:off x="777240" y="4937760"/>
            <a:ext cx="2286000" cy="47548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bedrooms</a:t>
            </a:r>
            <a:endParaRPr lang="en-US" sz="1400" dirty="0"/>
          </a:p>
        </p:txBody>
      </p:sp>
      <p:sp>
        <p:nvSpPr>
          <p:cNvPr id="39" name="Text 37"/>
          <p:cNvSpPr txBox="1"/>
          <p:nvPr/>
        </p:nvSpPr>
        <p:spPr>
          <a:xfrm>
            <a:off x="3154680" y="4937760"/>
            <a:ext cx="4206240" cy="475488"/>
          </a:xfrm>
          <a:prstGeom prst="rect">
            <a:avLst/>
          </a:prstGeom>
          <a:noFill/>
          <a:ln/>
        </p:spPr>
        <p:txBody>
          <a:bodyPr wrap="square" lIns="0" tIns="0" rIns="0" bIns="0" rtlCol="0" anchor="ctr"/>
          <a:lstStyle/>
          <a:p>
            <a:pPr indent="0" marL="0">
              <a:buNone/>
            </a:pPr>
            <a:r>
              <a:rPr lang="en-US" sz="1400" dirty="0">
                <a:solidFill>
                  <a:schemeClr val="bg1"/>
                </a:solidFill>
              </a:rPr>
              <a:t>nombre de chambres</a:t>
            </a:r>
            <a:endParaRPr lang="en-US" sz="1400" dirty="0"/>
          </a:p>
        </p:txBody>
      </p:sp>
      <p:sp>
        <p:nvSpPr>
          <p:cNvPr id="40" name="barre bedrooms"/>
          <p:cNvSpPr/>
          <p:nvPr/>
        </p:nvSpPr>
        <p:spPr>
          <a:xfrm>
            <a:off x="7498080" y="5074920"/>
            <a:ext cx="58476" cy="201168"/>
          </a:xfrm>
          <a:prstGeom prst="roundRect">
            <a:avLst>
              <a:gd name="adj" fmla="val 62549"/>
            </a:avLst>
          </a:prstGeom>
          <a:solidFill>
            <a:schemeClr val="accent1"/>
          </a:solidFill>
          <a:ln/>
        </p:spPr>
      </p:sp>
      <p:sp>
        <p:nvSpPr>
          <p:cNvPr id="41" name="Text 39"/>
          <p:cNvSpPr txBox="1"/>
          <p:nvPr/>
        </p:nvSpPr>
        <p:spPr>
          <a:xfrm>
            <a:off x="10744200" y="4937760"/>
            <a:ext cx="822960" cy="475488"/>
          </a:xfrm>
          <a:prstGeom prst="rect">
            <a:avLst/>
          </a:prstGeom>
          <a:noFill/>
          <a:ln/>
        </p:spPr>
        <p:txBody>
          <a:bodyPr wrap="square" lIns="0" tIns="0" rIns="0" bIns="0" rtlCol="0" anchor="ctr"/>
          <a:lstStyle/>
          <a:p>
            <a:pPr algn="r" indent="0" marL="0">
              <a:buNone/>
            </a:pPr>
            <a:r>
              <a:rPr lang="en-US" sz="1300" dirty="0">
                <a:solidFill>
                  <a:schemeClr val="bg2"/>
                </a:solidFill>
              </a:rPr>
              <a:t>0,006</a:t>
            </a:r>
            <a:endParaRPr lang="en-US" sz="1300" dirty="0"/>
          </a:p>
        </p:txBody>
      </p:sp>
      <p:sp>
        <p:nvSpPr>
          <p:cNvPr id="42" name="ligne yr_renovated"/>
          <p:cNvSpPr/>
          <p:nvPr/>
        </p:nvSpPr>
        <p:spPr>
          <a:xfrm>
            <a:off x="548640" y="5458968"/>
            <a:ext cx="11091672" cy="475488"/>
          </a:xfrm>
          <a:prstGeom prst="roundRect">
            <a:avLst>
              <a:gd name="adj" fmla="val 15385"/>
            </a:avLst>
          </a:prstGeom>
          <a:solidFill>
            <a:schemeClr val="accent6"/>
          </a:solidFill>
          <a:ln/>
        </p:spPr>
      </p:sp>
      <p:sp>
        <p:nvSpPr>
          <p:cNvPr id="43" name="Text 41"/>
          <p:cNvSpPr txBox="1"/>
          <p:nvPr/>
        </p:nvSpPr>
        <p:spPr>
          <a:xfrm>
            <a:off x="777240" y="5458968"/>
            <a:ext cx="2286000" cy="47548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yr_renovated</a:t>
            </a:r>
            <a:endParaRPr lang="en-US" sz="1400" dirty="0"/>
          </a:p>
        </p:txBody>
      </p:sp>
      <p:sp>
        <p:nvSpPr>
          <p:cNvPr id="44" name="Text 42"/>
          <p:cNvSpPr txBox="1"/>
          <p:nvPr/>
        </p:nvSpPr>
        <p:spPr>
          <a:xfrm>
            <a:off x="3154680" y="5458968"/>
            <a:ext cx="4206240" cy="475488"/>
          </a:xfrm>
          <a:prstGeom prst="rect">
            <a:avLst/>
          </a:prstGeom>
          <a:noFill/>
          <a:ln/>
        </p:spPr>
        <p:txBody>
          <a:bodyPr wrap="square" lIns="0" tIns="0" rIns="0" bIns="0" rtlCol="0" anchor="ctr"/>
          <a:lstStyle/>
          <a:p>
            <a:pPr indent="0" marL="0">
              <a:buNone/>
            </a:pPr>
            <a:r>
              <a:rPr lang="en-US" sz="1400" dirty="0">
                <a:solidFill>
                  <a:schemeClr val="bg1"/>
                </a:solidFill>
              </a:rPr>
              <a:t>année de rénovation (0 = jamais)</a:t>
            </a:r>
            <a:endParaRPr lang="en-US" sz="1400" dirty="0"/>
          </a:p>
        </p:txBody>
      </p:sp>
      <p:sp>
        <p:nvSpPr>
          <p:cNvPr id="45" name="barre yr_renovated"/>
          <p:cNvSpPr/>
          <p:nvPr/>
        </p:nvSpPr>
        <p:spPr>
          <a:xfrm>
            <a:off x="7498080" y="5596128"/>
            <a:ext cx="54864" cy="201168"/>
          </a:xfrm>
          <a:prstGeom prst="roundRect">
            <a:avLst>
              <a:gd name="adj" fmla="val 66667"/>
            </a:avLst>
          </a:prstGeom>
          <a:solidFill>
            <a:schemeClr val="accent1"/>
          </a:solidFill>
          <a:ln/>
        </p:spPr>
      </p:sp>
      <p:sp>
        <p:nvSpPr>
          <p:cNvPr id="46" name="Text 44"/>
          <p:cNvSpPr txBox="1"/>
          <p:nvPr/>
        </p:nvSpPr>
        <p:spPr>
          <a:xfrm>
            <a:off x="10744200" y="5458968"/>
            <a:ext cx="822960" cy="475488"/>
          </a:xfrm>
          <a:prstGeom prst="rect">
            <a:avLst/>
          </a:prstGeom>
          <a:noFill/>
          <a:ln/>
        </p:spPr>
        <p:txBody>
          <a:bodyPr wrap="square" lIns="0" tIns="0" rIns="0" bIns="0" rtlCol="0" anchor="ctr"/>
          <a:lstStyle/>
          <a:p>
            <a:pPr algn="r" indent="0" marL="0">
              <a:buNone/>
            </a:pPr>
            <a:r>
              <a:rPr lang="en-US" sz="1300" dirty="0">
                <a:solidFill>
                  <a:schemeClr val="bg2"/>
                </a:solidFill>
              </a:rPr>
              <a:t>0,003</a:t>
            </a:r>
            <a:endParaRPr lang="en-US" sz="1300" dirty="0"/>
          </a:p>
        </p:txBody>
      </p:sp>
      <p:sp>
        <p:nvSpPr>
          <p:cNvPr id="47" name="Text 45"/>
          <p:cNvSpPr txBox="1"/>
          <p:nvPr/>
        </p:nvSpPr>
        <p:spPr>
          <a:xfrm>
            <a:off x="548640" y="6035040"/>
            <a:ext cx="11091672" cy="274320"/>
          </a:xfrm>
          <a:prstGeom prst="rect">
            <a:avLst/>
          </a:prstGeom>
          <a:noFill/>
          <a:ln/>
        </p:spPr>
        <p:txBody>
          <a:bodyPr wrap="square" lIns="0" tIns="0" rIns="0" bIns="0" rtlCol="0" anchor="t"/>
          <a:lstStyle/>
          <a:p>
            <a:pPr indent="0" marL="0">
              <a:buNone/>
            </a:pPr>
            <a:r>
              <a:rPr lang="en-US" sz="1200" i="1" dirty="0">
                <a:solidFill>
                  <a:schemeClr val="bg2"/>
                </a:solidFill>
              </a:rPr>
              <a:t>Surface + qualité ≈ 2/3 de l'importance, puis l'emplacement (lat + long ≈ 0,28).</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ANNEXE C</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Questions fréquentes</a:t>
            </a:r>
            <a:endParaRPr lang="en-US" sz="3400" dirty="0"/>
          </a:p>
        </p:txBody>
      </p:sp>
      <p:sp>
        <p:nvSpPr>
          <p:cNvPr id="4" name="question 1"/>
          <p:cNvSpPr/>
          <p:nvPr/>
        </p:nvSpPr>
        <p:spPr>
          <a:xfrm>
            <a:off x="548640" y="1463040"/>
            <a:ext cx="5431536" cy="1051560"/>
          </a:xfrm>
          <a:prstGeom prst="roundRect">
            <a:avLst>
              <a:gd name="adj" fmla="val 6957"/>
            </a:avLst>
          </a:prstGeom>
          <a:solidFill>
            <a:schemeClr val="tx2"/>
          </a:solidFill>
          <a:ln w="12700">
            <a:solidFill>
              <a:schemeClr val="accent5"/>
            </a:solidFill>
            <a:prstDash val="solid"/>
          </a:ln>
        </p:spPr>
      </p:sp>
      <p:sp>
        <p:nvSpPr>
          <p:cNvPr id="5" name="pastille Q"/>
          <p:cNvSpPr/>
          <p:nvPr/>
        </p:nvSpPr>
        <p:spPr>
          <a:xfrm>
            <a:off x="731520" y="1645920"/>
            <a:ext cx="411480" cy="411480"/>
          </a:xfrm>
          <a:prstGeom prst="roundRect">
            <a:avLst>
              <a:gd name="adj" fmla="val 44444"/>
            </a:avLst>
          </a:prstGeom>
          <a:solidFill>
            <a:schemeClr val="accent6"/>
          </a:solidFill>
          <a:ln w="1270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Q</a:t>
            </a:r>
            <a:endParaRPr lang="en-US" sz="1400" dirty="0"/>
          </a:p>
        </p:txBody>
      </p:sp>
      <p:sp>
        <p:nvSpPr>
          <p:cNvPr id="6" name="Text 4"/>
          <p:cNvSpPr txBox="1"/>
          <p:nvPr/>
        </p:nvSpPr>
        <p:spPr>
          <a:xfrm>
            <a:off x="1325880" y="1572768"/>
            <a:ext cx="4526280" cy="384048"/>
          </a:xfrm>
          <a:prstGeom prst="rect">
            <a:avLst/>
          </a:prstGeom>
          <a:noFill/>
          <a:ln/>
        </p:spPr>
        <p:txBody>
          <a:bodyPr wrap="square" lIns="0" tIns="0" rIns="0" bIns="0" rtlCol="0" anchor="ctr"/>
          <a:lstStyle/>
          <a:p>
            <a:pPr indent="0" marL="0">
              <a:buNone/>
            </a:pPr>
            <a:r>
              <a:rPr lang="en-US" sz="1500" b="1" dirty="0">
                <a:solidFill>
                  <a:schemeClr val="bg1"/>
                </a:solidFill>
              </a:rPr>
              <a:t>Pourquoi supprimer id et date ?</a:t>
            </a:r>
            <a:endParaRPr lang="en-US" sz="1500" dirty="0"/>
          </a:p>
        </p:txBody>
      </p:sp>
      <p:sp>
        <p:nvSpPr>
          <p:cNvPr id="7" name="Text 5"/>
          <p:cNvSpPr txBox="1"/>
          <p:nvPr/>
        </p:nvSpPr>
        <p:spPr>
          <a:xfrm>
            <a:off x="1325880" y="1965960"/>
            <a:ext cx="4526280" cy="457200"/>
          </a:xfrm>
          <a:prstGeom prst="rect">
            <a:avLst/>
          </a:prstGeom>
          <a:noFill/>
          <a:ln/>
        </p:spPr>
        <p:txBody>
          <a:bodyPr wrap="square" lIns="0" tIns="0" rIns="0" bIns="0" rtlCol="0" anchor="t"/>
          <a:lstStyle/>
          <a:p>
            <a:pPr indent="0" marL="0">
              <a:buNone/>
            </a:pPr>
            <a:r>
              <a:rPr lang="en-US" sz="1300" dirty="0">
                <a:solidFill>
                  <a:schemeClr val="bg2"/>
                </a:solidFill>
              </a:rPr>
              <a:t>id est un identifiant ; la date ne couvre que 13 mois et on a gardé le projet simple.</a:t>
            </a:r>
            <a:endParaRPr lang="en-US" sz="1300" dirty="0"/>
          </a:p>
        </p:txBody>
      </p:sp>
      <p:sp>
        <p:nvSpPr>
          <p:cNvPr id="8" name="question 2"/>
          <p:cNvSpPr/>
          <p:nvPr/>
        </p:nvSpPr>
        <p:spPr>
          <a:xfrm>
            <a:off x="6208776" y="1463040"/>
            <a:ext cx="5431536" cy="1051560"/>
          </a:xfrm>
          <a:prstGeom prst="roundRect">
            <a:avLst>
              <a:gd name="adj" fmla="val 6957"/>
            </a:avLst>
          </a:prstGeom>
          <a:solidFill>
            <a:schemeClr val="tx2"/>
          </a:solidFill>
          <a:ln w="12700">
            <a:solidFill>
              <a:schemeClr val="accent5"/>
            </a:solidFill>
            <a:prstDash val="solid"/>
          </a:ln>
        </p:spPr>
      </p:sp>
      <p:sp>
        <p:nvSpPr>
          <p:cNvPr id="9" name="pastille Q"/>
          <p:cNvSpPr/>
          <p:nvPr/>
        </p:nvSpPr>
        <p:spPr>
          <a:xfrm>
            <a:off x="6391656" y="1645920"/>
            <a:ext cx="411480" cy="411480"/>
          </a:xfrm>
          <a:prstGeom prst="roundRect">
            <a:avLst>
              <a:gd name="adj" fmla="val 44444"/>
            </a:avLst>
          </a:prstGeom>
          <a:solidFill>
            <a:schemeClr val="accent6"/>
          </a:solidFill>
          <a:ln w="1270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Q</a:t>
            </a:r>
            <a:endParaRPr lang="en-US" sz="1400" dirty="0"/>
          </a:p>
        </p:txBody>
      </p:sp>
      <p:sp>
        <p:nvSpPr>
          <p:cNvPr id="10" name="Text 8"/>
          <p:cNvSpPr txBox="1"/>
          <p:nvPr/>
        </p:nvSpPr>
        <p:spPr>
          <a:xfrm>
            <a:off x="6986016" y="1572768"/>
            <a:ext cx="4526280" cy="384048"/>
          </a:xfrm>
          <a:prstGeom prst="rect">
            <a:avLst/>
          </a:prstGeom>
          <a:noFill/>
          <a:ln/>
        </p:spPr>
        <p:txBody>
          <a:bodyPr wrap="square" lIns="0" tIns="0" rIns="0" bIns="0" rtlCol="0" anchor="ctr"/>
          <a:lstStyle/>
          <a:p>
            <a:pPr indent="0" marL="0">
              <a:buNone/>
            </a:pPr>
            <a:r>
              <a:rPr lang="en-US" sz="1500" b="1" dirty="0">
                <a:solidFill>
                  <a:schemeClr val="bg1"/>
                </a:solidFill>
              </a:rPr>
              <a:t>Pourquoi garder les maisons chères ?</a:t>
            </a:r>
            <a:endParaRPr lang="en-US" sz="1500" dirty="0"/>
          </a:p>
        </p:txBody>
      </p:sp>
      <p:sp>
        <p:nvSpPr>
          <p:cNvPr id="11" name="Text 9"/>
          <p:cNvSpPr txBox="1"/>
          <p:nvPr/>
        </p:nvSpPr>
        <p:spPr>
          <a:xfrm>
            <a:off x="6986016" y="1965960"/>
            <a:ext cx="4526280" cy="457200"/>
          </a:xfrm>
          <a:prstGeom prst="rect">
            <a:avLst/>
          </a:prstGeom>
          <a:noFill/>
          <a:ln/>
        </p:spPr>
        <p:txBody>
          <a:bodyPr wrap="square" lIns="0" tIns="0" rIns="0" bIns="0" rtlCol="0" anchor="t"/>
          <a:lstStyle/>
          <a:p>
            <a:pPr indent="0" marL="0">
              <a:buNone/>
            </a:pPr>
            <a:r>
              <a:rPr lang="en-US" sz="1300" dirty="0">
                <a:solidFill>
                  <a:schemeClr val="bg2"/>
                </a:solidFill>
              </a:rPr>
              <a:t>Ce sont des maisons de luxe réelles, pas des erreurs.</a:t>
            </a:r>
            <a:endParaRPr lang="en-US" sz="1300" dirty="0"/>
          </a:p>
        </p:txBody>
      </p:sp>
      <p:sp>
        <p:nvSpPr>
          <p:cNvPr id="12" name="question 3"/>
          <p:cNvSpPr/>
          <p:nvPr/>
        </p:nvSpPr>
        <p:spPr>
          <a:xfrm>
            <a:off x="548640" y="2651760"/>
            <a:ext cx="5431536" cy="1051560"/>
          </a:xfrm>
          <a:prstGeom prst="roundRect">
            <a:avLst>
              <a:gd name="adj" fmla="val 6957"/>
            </a:avLst>
          </a:prstGeom>
          <a:solidFill>
            <a:schemeClr val="tx2"/>
          </a:solidFill>
          <a:ln w="12700">
            <a:solidFill>
              <a:schemeClr val="accent5"/>
            </a:solidFill>
            <a:prstDash val="solid"/>
          </a:ln>
        </p:spPr>
      </p:sp>
      <p:sp>
        <p:nvSpPr>
          <p:cNvPr id="13" name="pastille Q"/>
          <p:cNvSpPr/>
          <p:nvPr/>
        </p:nvSpPr>
        <p:spPr>
          <a:xfrm>
            <a:off x="731520" y="2834640"/>
            <a:ext cx="411480" cy="411480"/>
          </a:xfrm>
          <a:prstGeom prst="roundRect">
            <a:avLst>
              <a:gd name="adj" fmla="val 44444"/>
            </a:avLst>
          </a:prstGeom>
          <a:solidFill>
            <a:schemeClr val="accent6"/>
          </a:solidFill>
          <a:ln w="1270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Q</a:t>
            </a:r>
            <a:endParaRPr lang="en-US" sz="1400" dirty="0"/>
          </a:p>
        </p:txBody>
      </p:sp>
      <p:sp>
        <p:nvSpPr>
          <p:cNvPr id="14" name="Text 12"/>
          <p:cNvSpPr txBox="1"/>
          <p:nvPr/>
        </p:nvSpPr>
        <p:spPr>
          <a:xfrm>
            <a:off x="1325880" y="2761488"/>
            <a:ext cx="4526280" cy="384048"/>
          </a:xfrm>
          <a:prstGeom prst="rect">
            <a:avLst/>
          </a:prstGeom>
          <a:noFill/>
          <a:ln/>
        </p:spPr>
        <p:txBody>
          <a:bodyPr wrap="square" lIns="0" tIns="0" rIns="0" bIns="0" rtlCol="0" anchor="ctr"/>
          <a:lstStyle/>
          <a:p>
            <a:pPr indent="0" marL="0">
              <a:buNone/>
            </a:pPr>
            <a:r>
              <a:rPr lang="en-US" sz="1500" b="1" dirty="0">
                <a:solidFill>
                  <a:schemeClr val="bg1"/>
                </a:solidFill>
              </a:rPr>
              <a:t>Pourquoi 8 variables ?</a:t>
            </a:r>
            <a:endParaRPr lang="en-US" sz="1500" dirty="0"/>
          </a:p>
        </p:txBody>
      </p:sp>
      <p:sp>
        <p:nvSpPr>
          <p:cNvPr id="15" name="Text 13"/>
          <p:cNvSpPr txBox="1"/>
          <p:nvPr/>
        </p:nvSpPr>
        <p:spPr>
          <a:xfrm>
            <a:off x="1325880" y="3154680"/>
            <a:ext cx="4526280" cy="457200"/>
          </a:xfrm>
          <a:prstGeom prst="rect">
            <a:avLst/>
          </a:prstGeom>
          <a:noFill/>
          <a:ln/>
        </p:spPr>
        <p:txBody>
          <a:bodyPr wrap="square" lIns="0" tIns="0" rIns="0" bIns="0" rtlCol="0" anchor="t"/>
          <a:lstStyle/>
          <a:p>
            <a:pPr indent="0" marL="0">
              <a:buNone/>
            </a:pPr>
            <a:r>
              <a:rPr lang="en-US" sz="1300" dirty="0">
                <a:solidFill>
                  <a:schemeClr val="bg2"/>
                </a:solidFill>
              </a:rPr>
              <a:t>Même précision qu'avec 15 (0,855 contre 0,856), formulaire plus court.</a:t>
            </a:r>
            <a:endParaRPr lang="en-US" sz="1300" dirty="0"/>
          </a:p>
        </p:txBody>
      </p:sp>
      <p:sp>
        <p:nvSpPr>
          <p:cNvPr id="16" name="question 4"/>
          <p:cNvSpPr/>
          <p:nvPr/>
        </p:nvSpPr>
        <p:spPr>
          <a:xfrm>
            <a:off x="6208776" y="2651760"/>
            <a:ext cx="5431536" cy="1051560"/>
          </a:xfrm>
          <a:prstGeom prst="roundRect">
            <a:avLst>
              <a:gd name="adj" fmla="val 6957"/>
            </a:avLst>
          </a:prstGeom>
          <a:solidFill>
            <a:schemeClr val="tx2"/>
          </a:solidFill>
          <a:ln w="12700">
            <a:solidFill>
              <a:schemeClr val="accent5"/>
            </a:solidFill>
            <a:prstDash val="solid"/>
          </a:ln>
        </p:spPr>
      </p:sp>
      <p:sp>
        <p:nvSpPr>
          <p:cNvPr id="17" name="pastille Q"/>
          <p:cNvSpPr/>
          <p:nvPr/>
        </p:nvSpPr>
        <p:spPr>
          <a:xfrm>
            <a:off x="6391656" y="2834640"/>
            <a:ext cx="411480" cy="411480"/>
          </a:xfrm>
          <a:prstGeom prst="roundRect">
            <a:avLst>
              <a:gd name="adj" fmla="val 44444"/>
            </a:avLst>
          </a:prstGeom>
          <a:solidFill>
            <a:schemeClr val="accent6"/>
          </a:solidFill>
          <a:ln w="1270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Q</a:t>
            </a:r>
            <a:endParaRPr lang="en-US" sz="1400" dirty="0"/>
          </a:p>
        </p:txBody>
      </p:sp>
      <p:sp>
        <p:nvSpPr>
          <p:cNvPr id="18" name="Text 16"/>
          <p:cNvSpPr txBox="1"/>
          <p:nvPr/>
        </p:nvSpPr>
        <p:spPr>
          <a:xfrm>
            <a:off x="6986016" y="2761488"/>
            <a:ext cx="4526280" cy="384048"/>
          </a:xfrm>
          <a:prstGeom prst="rect">
            <a:avLst/>
          </a:prstGeom>
          <a:noFill/>
          <a:ln/>
        </p:spPr>
        <p:txBody>
          <a:bodyPr wrap="square" lIns="0" tIns="0" rIns="0" bIns="0" rtlCol="0" anchor="ctr"/>
          <a:lstStyle/>
          <a:p>
            <a:pPr indent="0" marL="0">
              <a:buNone/>
            </a:pPr>
            <a:r>
              <a:rPr lang="en-US" sz="1500" b="1" dirty="0">
                <a:solidFill>
                  <a:schemeClr val="bg1"/>
                </a:solidFill>
              </a:rPr>
              <a:t>Pourquoi la Random Forest ?</a:t>
            </a:r>
            <a:endParaRPr lang="en-US" sz="1500" dirty="0"/>
          </a:p>
        </p:txBody>
      </p:sp>
      <p:sp>
        <p:nvSpPr>
          <p:cNvPr id="19" name="Text 17"/>
          <p:cNvSpPr txBox="1"/>
          <p:nvPr/>
        </p:nvSpPr>
        <p:spPr>
          <a:xfrm>
            <a:off x="6986016" y="3154680"/>
            <a:ext cx="4526280" cy="457200"/>
          </a:xfrm>
          <a:prstGeom prst="rect">
            <a:avLst/>
          </a:prstGeom>
          <a:noFill/>
          <a:ln/>
        </p:spPr>
        <p:txBody>
          <a:bodyPr wrap="square" lIns="0" tIns="0" rIns="0" bIns="0" rtlCol="0" anchor="t"/>
          <a:lstStyle/>
          <a:p>
            <a:pPr indent="0" marL="0">
              <a:buNone/>
            </a:pPr>
            <a:r>
              <a:rPr lang="en-US" sz="1300" dirty="0">
                <a:solidFill>
                  <a:schemeClr val="bg2"/>
                </a:solidFill>
              </a:rPr>
              <a:t>Meilleure en validation croisée et moins de surapprentissage qu'un arbre seul.</a:t>
            </a:r>
            <a:endParaRPr lang="en-US" sz="1300" dirty="0"/>
          </a:p>
        </p:txBody>
      </p:sp>
      <p:sp>
        <p:nvSpPr>
          <p:cNvPr id="20" name="question 5"/>
          <p:cNvSpPr/>
          <p:nvPr/>
        </p:nvSpPr>
        <p:spPr>
          <a:xfrm>
            <a:off x="548640" y="3840480"/>
            <a:ext cx="5431536" cy="1051560"/>
          </a:xfrm>
          <a:prstGeom prst="roundRect">
            <a:avLst>
              <a:gd name="adj" fmla="val 6957"/>
            </a:avLst>
          </a:prstGeom>
          <a:solidFill>
            <a:schemeClr val="tx2"/>
          </a:solidFill>
          <a:ln w="12700">
            <a:solidFill>
              <a:schemeClr val="accent5"/>
            </a:solidFill>
            <a:prstDash val="solid"/>
          </a:ln>
        </p:spPr>
      </p:sp>
      <p:sp>
        <p:nvSpPr>
          <p:cNvPr id="21" name="pastille Q"/>
          <p:cNvSpPr/>
          <p:nvPr/>
        </p:nvSpPr>
        <p:spPr>
          <a:xfrm>
            <a:off x="731520" y="4023360"/>
            <a:ext cx="411480" cy="411480"/>
          </a:xfrm>
          <a:prstGeom prst="roundRect">
            <a:avLst>
              <a:gd name="adj" fmla="val 44444"/>
            </a:avLst>
          </a:prstGeom>
          <a:solidFill>
            <a:schemeClr val="accent6"/>
          </a:solidFill>
          <a:ln w="1270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Q</a:t>
            </a:r>
            <a:endParaRPr lang="en-US" sz="1400" dirty="0"/>
          </a:p>
        </p:txBody>
      </p:sp>
      <p:sp>
        <p:nvSpPr>
          <p:cNvPr id="22" name="Text 20"/>
          <p:cNvSpPr txBox="1"/>
          <p:nvPr/>
        </p:nvSpPr>
        <p:spPr>
          <a:xfrm>
            <a:off x="1325880" y="3950208"/>
            <a:ext cx="4526280" cy="384048"/>
          </a:xfrm>
          <a:prstGeom prst="rect">
            <a:avLst/>
          </a:prstGeom>
          <a:noFill/>
          <a:ln/>
        </p:spPr>
        <p:txBody>
          <a:bodyPr wrap="square" lIns="0" tIns="0" rIns="0" bIns="0" rtlCol="0" anchor="ctr"/>
          <a:lstStyle/>
          <a:p>
            <a:pPr indent="0" marL="0">
              <a:buNone/>
            </a:pPr>
            <a:r>
              <a:rPr lang="en-US" sz="1500" b="1" dirty="0">
                <a:solidFill>
                  <a:schemeClr val="bg1"/>
                </a:solidFill>
              </a:rPr>
              <a:t>Que veut dire R² = 0,877 ?</a:t>
            </a:r>
            <a:endParaRPr lang="en-US" sz="1500" dirty="0"/>
          </a:p>
        </p:txBody>
      </p:sp>
      <p:sp>
        <p:nvSpPr>
          <p:cNvPr id="23" name="Text 21"/>
          <p:cNvSpPr txBox="1"/>
          <p:nvPr/>
        </p:nvSpPr>
        <p:spPr>
          <a:xfrm>
            <a:off x="1325880" y="4343400"/>
            <a:ext cx="4526280" cy="457200"/>
          </a:xfrm>
          <a:prstGeom prst="rect">
            <a:avLst/>
          </a:prstGeom>
          <a:noFill/>
          <a:ln/>
        </p:spPr>
        <p:txBody>
          <a:bodyPr wrap="square" lIns="0" tIns="0" rIns="0" bIns="0" rtlCol="0" anchor="t"/>
          <a:lstStyle/>
          <a:p>
            <a:pPr indent="0" marL="0">
              <a:buNone/>
            </a:pPr>
            <a:r>
              <a:rPr lang="en-US" sz="1300" dirty="0">
                <a:solidFill>
                  <a:schemeClr val="bg2"/>
                </a:solidFill>
              </a:rPr>
              <a:t>Le modèle explique 87,7 % de la variation des prix du test.</a:t>
            </a:r>
            <a:endParaRPr lang="en-US" sz="1300" dirty="0"/>
          </a:p>
        </p:txBody>
      </p:sp>
      <p:sp>
        <p:nvSpPr>
          <p:cNvPr id="24" name="question 6"/>
          <p:cNvSpPr/>
          <p:nvPr/>
        </p:nvSpPr>
        <p:spPr>
          <a:xfrm>
            <a:off x="6208776" y="3840480"/>
            <a:ext cx="5431536" cy="1051560"/>
          </a:xfrm>
          <a:prstGeom prst="roundRect">
            <a:avLst>
              <a:gd name="adj" fmla="val 6957"/>
            </a:avLst>
          </a:prstGeom>
          <a:solidFill>
            <a:schemeClr val="tx2"/>
          </a:solidFill>
          <a:ln w="12700">
            <a:solidFill>
              <a:schemeClr val="accent5"/>
            </a:solidFill>
            <a:prstDash val="solid"/>
          </a:ln>
        </p:spPr>
      </p:sp>
      <p:sp>
        <p:nvSpPr>
          <p:cNvPr id="25" name="pastille Q"/>
          <p:cNvSpPr/>
          <p:nvPr/>
        </p:nvSpPr>
        <p:spPr>
          <a:xfrm>
            <a:off x="6391656" y="4023360"/>
            <a:ext cx="411480" cy="411480"/>
          </a:xfrm>
          <a:prstGeom prst="roundRect">
            <a:avLst>
              <a:gd name="adj" fmla="val 44444"/>
            </a:avLst>
          </a:prstGeom>
          <a:solidFill>
            <a:schemeClr val="accent6"/>
          </a:solidFill>
          <a:ln w="1270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Q</a:t>
            </a:r>
            <a:endParaRPr lang="en-US" sz="1400" dirty="0"/>
          </a:p>
        </p:txBody>
      </p:sp>
      <p:sp>
        <p:nvSpPr>
          <p:cNvPr id="26" name="Text 24"/>
          <p:cNvSpPr txBox="1"/>
          <p:nvPr/>
        </p:nvSpPr>
        <p:spPr>
          <a:xfrm>
            <a:off x="6986016" y="3950208"/>
            <a:ext cx="4526280" cy="384048"/>
          </a:xfrm>
          <a:prstGeom prst="rect">
            <a:avLst/>
          </a:prstGeom>
          <a:noFill/>
          <a:ln/>
        </p:spPr>
        <p:txBody>
          <a:bodyPr wrap="square" lIns="0" tIns="0" rIns="0" bIns="0" rtlCol="0" anchor="ctr"/>
          <a:lstStyle/>
          <a:p>
            <a:pPr indent="0" marL="0">
              <a:buNone/>
            </a:pPr>
            <a:r>
              <a:rPr lang="en-US" sz="1500" b="1" dirty="0">
                <a:solidFill>
                  <a:schemeClr val="bg1"/>
                </a:solidFill>
              </a:rPr>
              <a:t>Le test a servi à choisir ?</a:t>
            </a:r>
            <a:endParaRPr lang="en-US" sz="1500" dirty="0"/>
          </a:p>
        </p:txBody>
      </p:sp>
      <p:sp>
        <p:nvSpPr>
          <p:cNvPr id="27" name="Text 25"/>
          <p:cNvSpPr txBox="1"/>
          <p:nvPr/>
        </p:nvSpPr>
        <p:spPr>
          <a:xfrm>
            <a:off x="6986016" y="4343400"/>
            <a:ext cx="4526280" cy="457200"/>
          </a:xfrm>
          <a:prstGeom prst="rect">
            <a:avLst/>
          </a:prstGeom>
          <a:noFill/>
          <a:ln/>
        </p:spPr>
        <p:txBody>
          <a:bodyPr wrap="square" lIns="0" tIns="0" rIns="0" bIns="0" rtlCol="0" anchor="t"/>
          <a:lstStyle/>
          <a:p>
            <a:pPr indent="0" marL="0">
              <a:buNone/>
            </a:pPr>
            <a:r>
              <a:rPr lang="en-US" sz="1300" dirty="0">
                <a:solidFill>
                  <a:schemeClr val="bg2"/>
                </a:solidFill>
              </a:rPr>
              <a:t>Non : choix par validation croisée, test utilisé une seule fois à la fin.</a:t>
            </a:r>
            <a:endParaRPr lang="en-US" sz="1300" dirty="0"/>
          </a:p>
        </p:txBody>
      </p:sp>
      <p:sp>
        <p:nvSpPr>
          <p:cNvPr id="28" name="question 7"/>
          <p:cNvSpPr/>
          <p:nvPr/>
        </p:nvSpPr>
        <p:spPr>
          <a:xfrm>
            <a:off x="548640" y="5029200"/>
            <a:ext cx="5431536" cy="1051560"/>
          </a:xfrm>
          <a:prstGeom prst="roundRect">
            <a:avLst>
              <a:gd name="adj" fmla="val 6957"/>
            </a:avLst>
          </a:prstGeom>
          <a:solidFill>
            <a:schemeClr val="tx2"/>
          </a:solidFill>
          <a:ln w="12700">
            <a:solidFill>
              <a:schemeClr val="accent5"/>
            </a:solidFill>
            <a:prstDash val="solid"/>
          </a:ln>
        </p:spPr>
      </p:sp>
      <p:sp>
        <p:nvSpPr>
          <p:cNvPr id="29" name="pastille Q"/>
          <p:cNvSpPr/>
          <p:nvPr/>
        </p:nvSpPr>
        <p:spPr>
          <a:xfrm>
            <a:off x="731520" y="5212080"/>
            <a:ext cx="411480" cy="411480"/>
          </a:xfrm>
          <a:prstGeom prst="roundRect">
            <a:avLst>
              <a:gd name="adj" fmla="val 44444"/>
            </a:avLst>
          </a:prstGeom>
          <a:solidFill>
            <a:schemeClr val="accent6"/>
          </a:solidFill>
          <a:ln w="1270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Q</a:t>
            </a:r>
            <a:endParaRPr lang="en-US" sz="1400" dirty="0"/>
          </a:p>
        </p:txBody>
      </p:sp>
      <p:sp>
        <p:nvSpPr>
          <p:cNvPr id="30" name="Text 28"/>
          <p:cNvSpPr txBox="1"/>
          <p:nvPr/>
        </p:nvSpPr>
        <p:spPr>
          <a:xfrm>
            <a:off x="1325880" y="5138928"/>
            <a:ext cx="4526280" cy="384048"/>
          </a:xfrm>
          <a:prstGeom prst="rect">
            <a:avLst/>
          </a:prstGeom>
          <a:noFill/>
          <a:ln/>
        </p:spPr>
        <p:txBody>
          <a:bodyPr wrap="square" lIns="0" tIns="0" rIns="0" bIns="0" rtlCol="0" anchor="ctr"/>
          <a:lstStyle/>
          <a:p>
            <a:pPr indent="0" marL="0">
              <a:buNone/>
            </a:pPr>
            <a:r>
              <a:rPr lang="en-US" sz="1500" b="1" dirty="0">
                <a:solidFill>
                  <a:schemeClr val="bg1"/>
                </a:solidFill>
              </a:rPr>
              <a:t>Pourquoi model.pkl ?</a:t>
            </a:r>
            <a:endParaRPr lang="en-US" sz="1500" dirty="0"/>
          </a:p>
        </p:txBody>
      </p:sp>
      <p:sp>
        <p:nvSpPr>
          <p:cNvPr id="31" name="Text 29"/>
          <p:cNvSpPr txBox="1"/>
          <p:nvPr/>
        </p:nvSpPr>
        <p:spPr>
          <a:xfrm>
            <a:off x="1325880" y="5532120"/>
            <a:ext cx="4526280" cy="457200"/>
          </a:xfrm>
          <a:prstGeom prst="rect">
            <a:avLst/>
          </a:prstGeom>
          <a:noFill/>
          <a:ln/>
        </p:spPr>
        <p:txBody>
          <a:bodyPr wrap="square" lIns="0" tIns="0" rIns="0" bIns="0" rtlCol="0" anchor="t"/>
          <a:lstStyle/>
          <a:p>
            <a:pPr indent="0" marL="0">
              <a:buNone/>
            </a:pPr>
            <a:r>
              <a:rPr lang="en-US" sz="1300" dirty="0">
                <a:solidFill>
                  <a:schemeClr val="bg2"/>
                </a:solidFill>
              </a:rPr>
              <a:t>Pour réutiliser le modèle entraîné sans relancer le notebook.</a:t>
            </a:r>
            <a:endParaRPr lang="en-US" sz="1300" dirty="0"/>
          </a:p>
        </p:txBody>
      </p:sp>
      <p:sp>
        <p:nvSpPr>
          <p:cNvPr id="32" name="question 8"/>
          <p:cNvSpPr/>
          <p:nvPr/>
        </p:nvSpPr>
        <p:spPr>
          <a:xfrm>
            <a:off x="6208776" y="5029200"/>
            <a:ext cx="5431536" cy="1051560"/>
          </a:xfrm>
          <a:prstGeom prst="roundRect">
            <a:avLst>
              <a:gd name="adj" fmla="val 6957"/>
            </a:avLst>
          </a:prstGeom>
          <a:solidFill>
            <a:schemeClr val="tx2"/>
          </a:solidFill>
          <a:ln w="12700">
            <a:solidFill>
              <a:schemeClr val="accent5"/>
            </a:solidFill>
            <a:prstDash val="solid"/>
          </a:ln>
        </p:spPr>
      </p:sp>
      <p:sp>
        <p:nvSpPr>
          <p:cNvPr id="33" name="pastille Q"/>
          <p:cNvSpPr/>
          <p:nvPr/>
        </p:nvSpPr>
        <p:spPr>
          <a:xfrm>
            <a:off x="6391656" y="5212080"/>
            <a:ext cx="411480" cy="411480"/>
          </a:xfrm>
          <a:prstGeom prst="roundRect">
            <a:avLst>
              <a:gd name="adj" fmla="val 44444"/>
            </a:avLst>
          </a:prstGeom>
          <a:solidFill>
            <a:schemeClr val="accent6"/>
          </a:solidFill>
          <a:ln w="12700">
            <a:solidFill>
              <a:schemeClr val="accent1"/>
            </a:solidFill>
            <a:prstDash val="solid"/>
          </a:ln>
        </p:spPr>
        <p:txBody>
          <a:bodyPr wrap="square" lIns="0" tIns="0" rIns="0" bIns="0" rtlCol="0" anchor="ctr"/>
          <a:lstStyle/>
          <a:p>
            <a:pPr algn="ctr" indent="0" marL="0">
              <a:buNone/>
            </a:pPr>
            <a:r>
              <a:rPr lang="en-US" sz="1400" b="1" dirty="0">
                <a:solidFill>
                  <a:schemeClr val="accent1"/>
                </a:solidFill>
              </a:rPr>
              <a:t>Q</a:t>
            </a:r>
            <a:endParaRPr lang="en-US" sz="1400" dirty="0"/>
          </a:p>
        </p:txBody>
      </p:sp>
      <p:sp>
        <p:nvSpPr>
          <p:cNvPr id="34" name="Text 32"/>
          <p:cNvSpPr txBox="1"/>
          <p:nvPr/>
        </p:nvSpPr>
        <p:spPr>
          <a:xfrm>
            <a:off x="6986016" y="5138928"/>
            <a:ext cx="4526280" cy="384048"/>
          </a:xfrm>
          <a:prstGeom prst="rect">
            <a:avLst/>
          </a:prstGeom>
          <a:noFill/>
          <a:ln/>
        </p:spPr>
        <p:txBody>
          <a:bodyPr wrap="square" lIns="0" tIns="0" rIns="0" bIns="0" rtlCol="0" anchor="ctr"/>
          <a:lstStyle/>
          <a:p>
            <a:pPr indent="0" marL="0">
              <a:buNone/>
            </a:pPr>
            <a:r>
              <a:rPr lang="en-US" sz="1500" b="1" dirty="0">
                <a:solidFill>
                  <a:schemeClr val="bg1"/>
                </a:solidFill>
              </a:rPr>
              <a:t>Flask ou Docker ?</a:t>
            </a:r>
            <a:endParaRPr lang="en-US" sz="1500" dirty="0"/>
          </a:p>
        </p:txBody>
      </p:sp>
      <p:sp>
        <p:nvSpPr>
          <p:cNvPr id="35" name="Text 33"/>
          <p:cNvSpPr txBox="1"/>
          <p:nvPr/>
        </p:nvSpPr>
        <p:spPr>
          <a:xfrm>
            <a:off x="6986016" y="5532120"/>
            <a:ext cx="4526280" cy="457200"/>
          </a:xfrm>
          <a:prstGeom prst="rect">
            <a:avLst/>
          </a:prstGeom>
          <a:noFill/>
          <a:ln/>
        </p:spPr>
        <p:txBody>
          <a:bodyPr wrap="square" lIns="0" tIns="0" rIns="0" bIns="0" rtlCol="0" anchor="t"/>
          <a:lstStyle/>
          <a:p>
            <a:pPr indent="0" marL="0">
              <a:buNone/>
            </a:pPr>
            <a:r>
              <a:rPr lang="en-US" sz="1300" dirty="0">
                <a:solidFill>
                  <a:schemeClr val="bg2"/>
                </a:solidFill>
              </a:rPr>
              <a:t>Flask = l'application ; Docker = la boîte qui la contient avec son environnement.</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01752"/>
            <a:ext cx="8686800" cy="274320"/>
          </a:xfrm>
          <a:prstGeom prst="rect">
            <a:avLst/>
          </a:prstGeom>
          <a:noFill/>
          <a:ln/>
        </p:spPr>
        <p:txBody>
          <a:bodyPr wrap="square" lIns="0" tIns="0" rIns="0" bIns="0" rtlCol="0" anchor="ctr"/>
          <a:lstStyle/>
          <a:p>
            <a:pPr algn="l" indent="0" marL="0">
              <a:buNone/>
            </a:pPr>
            <a:r>
              <a:rPr lang="en-US" sz="1200" b="1" spc="300" kern="0" dirty="0">
                <a:solidFill>
                  <a:schemeClr val="accent1"/>
                </a:solidFill>
              </a:rPr>
              <a:t>ANNEXE D</a:t>
            </a:r>
            <a:endParaRPr lang="en-US" sz="1200" dirty="0"/>
          </a:p>
        </p:txBody>
      </p:sp>
      <p:sp>
        <p:nvSpPr>
          <p:cNvPr id="3" name="Text 0"/>
          <p:cNvSpPr/>
          <p:nvPr>
            <p:ph idx="101" type="title" hasCustomPrompt="1"/>
          </p:nvPr>
        </p:nvSpPr>
        <p:spPr>
          <a:xfrm>
            <a:off x="548640" y="566928"/>
            <a:ext cx="9509760" cy="713232"/>
          </a:xfrm>
          <a:prstGeom prst="rect">
            <a:avLst/>
          </a:prstGeom>
          <a:noFill/>
          <a:ln/>
        </p:spPr>
        <p:txBody>
          <a:bodyPr wrap="square" lIns="0" tIns="0" rIns="0" bIns="0" rtlCol="0" anchor="ctr"/>
          <a:lstStyle/>
          <a:p>
            <a:pPr algn="l" indent="0" marL="0">
              <a:buNone/>
            </a:pPr>
            <a:r>
              <a:rPr lang="en-US" sz="3400" b="1" dirty="0">
                <a:solidFill>
                  <a:schemeClr val="bg1"/>
                </a:solidFill>
              </a:rPr>
              <a:t>Commandes de lancement</a:t>
            </a:r>
            <a:endParaRPr lang="en-US" sz="3400" dirty="0"/>
          </a:p>
        </p:txBody>
      </p:sp>
      <p:sp>
        <p:nvSpPr>
          <p:cNvPr id="4" name="carte FLASK EN LOCAL"/>
          <p:cNvSpPr/>
          <p:nvPr/>
        </p:nvSpPr>
        <p:spPr>
          <a:xfrm>
            <a:off x="548640" y="1463040"/>
            <a:ext cx="11091672" cy="1298448"/>
          </a:xfrm>
          <a:prstGeom prst="roundRect">
            <a:avLst>
              <a:gd name="adj" fmla="val 5634"/>
            </a:avLst>
          </a:prstGeom>
          <a:solidFill>
            <a:schemeClr val="tx2"/>
          </a:solidFill>
          <a:ln w="12700">
            <a:solidFill>
              <a:schemeClr val="accent2"/>
            </a:solidFill>
            <a:prstDash val="solid"/>
          </a:ln>
        </p:spPr>
      </p:sp>
      <p:sp>
        <p:nvSpPr>
          <p:cNvPr id="5" name="Text 3"/>
          <p:cNvSpPr txBox="1"/>
          <p:nvPr/>
        </p:nvSpPr>
        <p:spPr>
          <a:xfrm>
            <a:off x="777240" y="1572768"/>
            <a:ext cx="2743200"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FLASK EN LOCAL</a:t>
            </a:r>
            <a:endParaRPr lang="en-US" sz="1300" dirty="0"/>
          </a:p>
        </p:txBody>
      </p:sp>
      <p:sp>
        <p:nvSpPr>
          <p:cNvPr id="6" name="Text 4"/>
          <p:cNvSpPr txBox="1"/>
          <p:nvPr/>
        </p:nvSpPr>
        <p:spPr>
          <a:xfrm>
            <a:off x="777240" y="1965960"/>
            <a:ext cx="2926080" cy="685800"/>
          </a:xfrm>
          <a:prstGeom prst="rect">
            <a:avLst/>
          </a:prstGeom>
          <a:noFill/>
          <a:ln/>
        </p:spPr>
        <p:txBody>
          <a:bodyPr wrap="square" lIns="0" tIns="0" rIns="0" bIns="0" rtlCol="0" anchor="t"/>
          <a:lstStyle/>
          <a:p>
            <a:pPr indent="0" marL="0">
              <a:buNone/>
            </a:pPr>
            <a:r>
              <a:rPr lang="en-US" sz="1300" dirty="0">
                <a:solidFill>
                  <a:schemeClr val="bg2"/>
                </a:solidFill>
              </a:rPr>
              <a:t>installe les librairies, puis lance l'application sur le port 5000</a:t>
            </a:r>
            <a:endParaRPr lang="en-US" sz="1300" dirty="0"/>
          </a:p>
        </p:txBody>
      </p:sp>
      <p:sp>
        <p:nvSpPr>
          <p:cNvPr id="7" name="terminal FLASK EN LOCAL"/>
          <p:cNvSpPr/>
          <p:nvPr/>
        </p:nvSpPr>
        <p:spPr>
          <a:xfrm>
            <a:off x="3886200" y="1600200"/>
            <a:ext cx="7589520" cy="1024128"/>
          </a:xfrm>
          <a:prstGeom prst="roundRect">
            <a:avLst>
              <a:gd name="adj" fmla="val 7143"/>
            </a:avLst>
          </a:prstGeom>
          <a:solidFill>
            <a:srgbClr val="0A0F17"/>
          </a:solidFill>
          <a:ln w="12700">
            <a:solidFill>
              <a:schemeClr val="accent5"/>
            </a:solidFill>
            <a:prstDash val="solid"/>
          </a:ln>
        </p:spPr>
      </p:sp>
      <p:sp>
        <p:nvSpPr>
          <p:cNvPr id="8" name="Text 6"/>
          <p:cNvSpPr txBox="1"/>
          <p:nvPr/>
        </p:nvSpPr>
        <p:spPr>
          <a:xfrm>
            <a:off x="4069080" y="1645920"/>
            <a:ext cx="7315200" cy="932688"/>
          </a:xfrm>
          <a:prstGeom prst="rect">
            <a:avLst/>
          </a:prstGeom>
          <a:noFill/>
          <a:ln/>
        </p:spPr>
        <p:txBody>
          <a:bodyPr wrap="square" lIns="0" tIns="0" rIns="0" bIns="0" rtlCol="0" anchor="ctr"/>
          <a:lstStyle/>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pip install -r requirements.txt</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python app.py</a:t>
            </a:r>
            <a:endParaRPr lang="en-US" sz="1500" dirty="0"/>
          </a:p>
        </p:txBody>
      </p:sp>
      <p:sp>
        <p:nvSpPr>
          <p:cNvPr id="9" name="carte DOCKER"/>
          <p:cNvSpPr/>
          <p:nvPr/>
        </p:nvSpPr>
        <p:spPr>
          <a:xfrm>
            <a:off x="548640" y="2926080"/>
            <a:ext cx="11091672" cy="1298448"/>
          </a:xfrm>
          <a:prstGeom prst="roundRect">
            <a:avLst>
              <a:gd name="adj" fmla="val 5634"/>
            </a:avLst>
          </a:prstGeom>
          <a:solidFill>
            <a:schemeClr val="tx2"/>
          </a:solidFill>
          <a:ln w="12700">
            <a:solidFill>
              <a:schemeClr val="accent3"/>
            </a:solidFill>
            <a:prstDash val="solid"/>
          </a:ln>
        </p:spPr>
      </p:sp>
      <p:sp>
        <p:nvSpPr>
          <p:cNvPr id="10" name="Text 8"/>
          <p:cNvSpPr txBox="1"/>
          <p:nvPr/>
        </p:nvSpPr>
        <p:spPr>
          <a:xfrm>
            <a:off x="777240" y="3035808"/>
            <a:ext cx="2743200" cy="320040"/>
          </a:xfrm>
          <a:prstGeom prst="rect">
            <a:avLst/>
          </a:prstGeom>
          <a:noFill/>
          <a:ln/>
        </p:spPr>
        <p:txBody>
          <a:bodyPr wrap="square" lIns="0" tIns="0" rIns="0" bIns="0" rtlCol="0" anchor="t"/>
          <a:lstStyle/>
          <a:p>
            <a:pPr indent="0" marL="0">
              <a:buNone/>
            </a:pPr>
            <a:r>
              <a:rPr lang="en-US" sz="1300" b="1" spc="200" kern="0" dirty="0">
                <a:solidFill>
                  <a:schemeClr val="accent3"/>
                </a:solidFill>
              </a:rPr>
              <a:t>DOCKER</a:t>
            </a:r>
            <a:endParaRPr lang="en-US" sz="1300" dirty="0"/>
          </a:p>
        </p:txBody>
      </p:sp>
      <p:sp>
        <p:nvSpPr>
          <p:cNvPr id="11" name="Text 9"/>
          <p:cNvSpPr txBox="1"/>
          <p:nvPr/>
        </p:nvSpPr>
        <p:spPr>
          <a:xfrm>
            <a:off x="777240" y="3429000"/>
            <a:ext cx="2926080" cy="685800"/>
          </a:xfrm>
          <a:prstGeom prst="rect">
            <a:avLst/>
          </a:prstGeom>
          <a:noFill/>
          <a:ln/>
        </p:spPr>
        <p:txBody>
          <a:bodyPr wrap="square" lIns="0" tIns="0" rIns="0" bIns="0" rtlCol="0" anchor="t"/>
          <a:lstStyle/>
          <a:p>
            <a:pPr indent="0" marL="0">
              <a:buNone/>
            </a:pPr>
            <a:r>
              <a:rPr lang="en-US" sz="1300" dirty="0">
                <a:solidFill>
                  <a:schemeClr val="bg2"/>
                </a:solidFill>
              </a:rPr>
              <a:t>construit l'image depuis le Dockerfile, puis lance le conteneur</a:t>
            </a:r>
            <a:endParaRPr lang="en-US" sz="1300" dirty="0"/>
          </a:p>
        </p:txBody>
      </p:sp>
      <p:sp>
        <p:nvSpPr>
          <p:cNvPr id="12" name="terminal DOCKER"/>
          <p:cNvSpPr/>
          <p:nvPr/>
        </p:nvSpPr>
        <p:spPr>
          <a:xfrm>
            <a:off x="3886200" y="3063240"/>
            <a:ext cx="7589520" cy="1024128"/>
          </a:xfrm>
          <a:prstGeom prst="roundRect">
            <a:avLst>
              <a:gd name="adj" fmla="val 7143"/>
            </a:avLst>
          </a:prstGeom>
          <a:solidFill>
            <a:srgbClr val="0A0F17"/>
          </a:solidFill>
          <a:ln w="12700">
            <a:solidFill>
              <a:schemeClr val="accent5"/>
            </a:solidFill>
            <a:prstDash val="solid"/>
          </a:ln>
        </p:spPr>
      </p:sp>
      <p:sp>
        <p:nvSpPr>
          <p:cNvPr id="13" name="Text 11"/>
          <p:cNvSpPr txBox="1"/>
          <p:nvPr/>
        </p:nvSpPr>
        <p:spPr>
          <a:xfrm>
            <a:off x="4069080" y="3108960"/>
            <a:ext cx="7315200" cy="932688"/>
          </a:xfrm>
          <a:prstGeom prst="rect">
            <a:avLst/>
          </a:prstGeom>
          <a:noFill/>
          <a:ln/>
        </p:spPr>
        <p:txBody>
          <a:bodyPr wrap="square" lIns="0" tIns="0" rIns="0" bIns="0" rtlCol="0" anchor="ctr"/>
          <a:lstStyle/>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docker build -t apartment-hunter .</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docker run --rm -p 5000:5000 apartment-hunter</a:t>
            </a:r>
            <a:endParaRPr lang="en-US" sz="1500" dirty="0"/>
          </a:p>
        </p:txBody>
      </p:sp>
      <p:sp>
        <p:nvSpPr>
          <p:cNvPr id="14" name="carte NOTEBOOK"/>
          <p:cNvSpPr/>
          <p:nvPr/>
        </p:nvSpPr>
        <p:spPr>
          <a:xfrm>
            <a:off x="548640" y="4389120"/>
            <a:ext cx="11091672" cy="1298448"/>
          </a:xfrm>
          <a:prstGeom prst="roundRect">
            <a:avLst>
              <a:gd name="adj" fmla="val 5634"/>
            </a:avLst>
          </a:prstGeom>
          <a:solidFill>
            <a:schemeClr val="tx2"/>
          </a:solidFill>
          <a:ln w="12700">
            <a:solidFill>
              <a:schemeClr val="accent1"/>
            </a:solidFill>
            <a:prstDash val="solid"/>
          </a:ln>
        </p:spPr>
      </p:sp>
      <p:sp>
        <p:nvSpPr>
          <p:cNvPr id="15" name="Text 13"/>
          <p:cNvSpPr txBox="1"/>
          <p:nvPr/>
        </p:nvSpPr>
        <p:spPr>
          <a:xfrm>
            <a:off x="777240" y="4498848"/>
            <a:ext cx="27432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NOTEBOOK</a:t>
            </a:r>
            <a:endParaRPr lang="en-US" sz="1300" dirty="0"/>
          </a:p>
        </p:txBody>
      </p:sp>
      <p:sp>
        <p:nvSpPr>
          <p:cNvPr id="16" name="Text 14"/>
          <p:cNvSpPr txBox="1"/>
          <p:nvPr/>
        </p:nvSpPr>
        <p:spPr>
          <a:xfrm>
            <a:off x="777240" y="4892040"/>
            <a:ext cx="2926080" cy="685800"/>
          </a:xfrm>
          <a:prstGeom prst="rect">
            <a:avLst/>
          </a:prstGeom>
          <a:noFill/>
          <a:ln/>
        </p:spPr>
        <p:txBody>
          <a:bodyPr wrap="square" lIns="0" tIns="0" rIns="0" bIns="0" rtlCol="0" anchor="t"/>
          <a:lstStyle/>
          <a:p>
            <a:pPr indent="0" marL="0">
              <a:buNone/>
            </a:pPr>
            <a:r>
              <a:rPr lang="en-US" sz="1300" dirty="0">
                <a:solidFill>
                  <a:schemeClr val="bg2"/>
                </a:solidFill>
              </a:rPr>
              <a:t>refait tout le travail et recrée model.pkl et les images</a:t>
            </a:r>
            <a:endParaRPr lang="en-US" sz="1300" dirty="0"/>
          </a:p>
        </p:txBody>
      </p:sp>
      <p:sp>
        <p:nvSpPr>
          <p:cNvPr id="17" name="terminal NOTEBOOK"/>
          <p:cNvSpPr/>
          <p:nvPr/>
        </p:nvSpPr>
        <p:spPr>
          <a:xfrm>
            <a:off x="3886200" y="4526280"/>
            <a:ext cx="7589520" cy="1024128"/>
          </a:xfrm>
          <a:prstGeom prst="roundRect">
            <a:avLst>
              <a:gd name="adj" fmla="val 7143"/>
            </a:avLst>
          </a:prstGeom>
          <a:solidFill>
            <a:srgbClr val="0A0F17"/>
          </a:solidFill>
          <a:ln w="12700">
            <a:solidFill>
              <a:schemeClr val="accent5"/>
            </a:solidFill>
            <a:prstDash val="solid"/>
          </a:ln>
        </p:spPr>
      </p:sp>
      <p:sp>
        <p:nvSpPr>
          <p:cNvPr id="18" name="Text 16"/>
          <p:cNvSpPr txBox="1"/>
          <p:nvPr/>
        </p:nvSpPr>
        <p:spPr>
          <a:xfrm>
            <a:off x="4069080" y="4572000"/>
            <a:ext cx="7315200" cy="932688"/>
          </a:xfrm>
          <a:prstGeom prst="rect">
            <a:avLst/>
          </a:prstGeom>
          <a:noFill/>
          <a:ln/>
        </p:spPr>
        <p:txBody>
          <a:bodyPr wrap="square" lIns="0" tIns="0" rIns="0" bIns="0" rtlCol="0" anchor="ctr"/>
          <a:lstStyle/>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Google Colab : dossier data/ + kc_house_data.csv</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Exécution → Tout exécuter</a:t>
            </a:r>
            <a:endParaRPr lang="en-US" sz="1500" dirty="0"/>
          </a:p>
        </p:txBody>
      </p:sp>
      <p:sp>
        <p:nvSpPr>
          <p:cNvPr id="19" name="Text 17"/>
          <p:cNvSpPr txBox="1"/>
          <p:nvPr/>
        </p:nvSpPr>
        <p:spPr>
          <a:xfrm>
            <a:off x="548640" y="5897880"/>
            <a:ext cx="11091672" cy="320040"/>
          </a:xfrm>
          <a:prstGeom prst="rect">
            <a:avLst/>
          </a:prstGeom>
          <a:noFill/>
          <a:ln/>
        </p:spPr>
        <p:txBody>
          <a:bodyPr wrap="square" lIns="0" tIns="0" rIns="0" bIns="0" rtlCol="0" anchor="t"/>
          <a:lstStyle/>
          <a:p>
            <a:pPr algn="ctr" indent="0" marL="0">
              <a:buNone/>
            </a:pPr>
            <a:r>
              <a:rPr lang="en-US" sz="1500" b="1" dirty="0">
                <a:solidFill>
                  <a:schemeClr val="accent3"/>
                </a:solidFill>
              </a:rPr>
              <a:t>Flask ou Docker : ouvrir ensuite  http://localhost:5000</a:t>
            </a:r>
            <a:endParaRPr lang="en-US" sz="15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partment Hunter">
  <a:themeElements>
    <a:clrScheme name="Apartment Hunter">
      <a:dk1>
        <a:srgbClr val="0E1621"/>
      </a:dk1>
      <a:lt1>
        <a:srgbClr val="F2F5F8"/>
      </a:lt1>
      <a:dk2>
        <a:srgbClr val="17243A"/>
      </a:dk2>
      <a:lt2>
        <a:srgbClr val="9AA8BA"/>
      </a:lt2>
      <a:accent1>
        <a:srgbClr val="22B8CF"/>
      </a:accent1>
      <a:accent2>
        <a:srgbClr val="3D8BFD"/>
      </a:accent2>
      <a:accent3>
        <a:srgbClr val="2FBF71"/>
      </a:accent3>
      <a:accent4>
        <a:srgbClr val="F28C28"/>
      </a:accent4>
      <a:accent5>
        <a:srgbClr val="2A3B55"/>
      </a:accent5>
      <a:accent6>
        <a:srgbClr val="1C2B42"/>
      </a:accent6>
      <a:hlink>
        <a:srgbClr val="22B8CF"/>
      </a:hlink>
      <a:folHlink>
        <a:srgbClr val="9AA8BA"/>
      </a:folHlink>
    </a:clrScheme>
    <a:fontScheme name="Apartment Hunt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Apartment Hunter - Soutenance</dc:title>
  <dc:subject>PptxGenJS Presentation</dc:subject>
  <dc:creator>Romain, Yannis, Lisa</dc:creator>
  <cp:lastModifiedBy>Romain, Yannis, Lisa</cp:lastModifiedBy>
  <cp:revision>1</cp:revision>
  <dcterms:created xsi:type="dcterms:W3CDTF">2026-10-26T12:17:50Z</dcterms:created>
  <dcterms:modified xsi:type="dcterms:W3CDTF">2026-10-26T12:17:50Z</dcterms:modified>
</cp:coreProperties>
</file>